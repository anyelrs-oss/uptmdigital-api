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vo" charset="1" panose="02020502070400060406"/>
      <p:regular r:id="rId14"/>
    </p:embeddedFont>
    <p:embeddedFont>
      <p:font typeface="Open Sauce Light" charset="1" panose="00000400000000000000"/>
      <p:regular r:id="rId15"/>
    </p:embeddedFont>
    <p:embeddedFont>
      <p:font typeface="Open Sauce Bold" charset="1" panose="00000800000000000000"/>
      <p:regular r:id="rId16"/>
    </p:embeddedFont>
    <p:embeddedFont>
      <p:font typeface="Open Sauce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23953" y="665307"/>
            <a:ext cx="7493040" cy="7919785"/>
            <a:chOff x="0" y="0"/>
            <a:chExt cx="9990720" cy="105597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9990720" cy="7119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88"/>
                </a:lnSpc>
              </a:pPr>
              <a:r>
                <a:rPr lang="en-US" sz="10288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Uso responsable de las redes sociales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086206"/>
              <a:ext cx="9990720" cy="2473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01"/>
                </a:lnSpc>
                <a:spcBef>
                  <a:spcPct val="0"/>
                </a:spcBef>
              </a:pPr>
              <a:r>
                <a:rPr lang="en-US" sz="3572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V</a:t>
              </a:r>
              <a:r>
                <a:rPr lang="en-US" sz="3572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erificación de documentos de nacionalidad en plataformas digitales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54169" y="7374611"/>
            <a:ext cx="4579661" cy="163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36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Ang</a:t>
            </a:r>
            <a:r>
              <a:rPr lang="en-US" sz="236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Peña 24.349.651</a:t>
            </a:r>
          </a:p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36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Gladys Vielma 15.174.323</a:t>
            </a:r>
          </a:p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36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Maria Victoria Meza 15.031.343</a:t>
            </a:r>
          </a:p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36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Ruben Ramirez 16.020.185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7269" y="-91127"/>
            <a:ext cx="8555432" cy="9897192"/>
            <a:chOff x="0" y="0"/>
            <a:chExt cx="4857277" cy="56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7277" cy="5619050"/>
            </a:xfrm>
            <a:custGeom>
              <a:avLst/>
              <a:gdLst/>
              <a:ahLst/>
              <a:cxnLst/>
              <a:rect r="r" b="b" t="t" l="l"/>
              <a:pathLst>
                <a:path h="5619050" w="4857277">
                  <a:moveTo>
                    <a:pt x="0" y="0"/>
                  </a:moveTo>
                  <a:lnTo>
                    <a:pt x="0" y="3512473"/>
                  </a:lnTo>
                  <a:lnTo>
                    <a:pt x="1004767" y="3512473"/>
                  </a:lnTo>
                  <a:lnTo>
                    <a:pt x="1004767" y="5619050"/>
                  </a:lnTo>
                  <a:lnTo>
                    <a:pt x="4354352" y="5619050"/>
                  </a:lnTo>
                  <a:lnTo>
                    <a:pt x="4354352" y="2106577"/>
                  </a:lnTo>
                  <a:lnTo>
                    <a:pt x="4857277" y="2106577"/>
                  </a:lnTo>
                  <a:lnTo>
                    <a:pt x="4857277" y="0"/>
                  </a:lnTo>
                  <a:close/>
                </a:path>
              </a:pathLst>
            </a:custGeom>
            <a:blipFill>
              <a:blip r:embed="rId2"/>
              <a:stretch>
                <a:fillRect l="-108272" t="0" r="-1082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7403" y="0"/>
            <a:ext cx="6839866" cy="10535289"/>
            <a:chOff x="0" y="0"/>
            <a:chExt cx="9119822" cy="140470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9119822" cy="3605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00"/>
                </a:lnSpc>
              </a:pPr>
              <a:r>
                <a:rPr lang="en-US" sz="5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¿Por qué se </a:t>
              </a:r>
              <a:r>
                <a:rPr lang="en-US" sz="5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solicitan documentos de nacionalidad en plataformas digitales?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366054"/>
              <a:ext cx="9119822" cy="9680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2" indent="-280671" lvl="1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v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enci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ón de fr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udes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y su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lant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ac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ión de iden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dad: garantiz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ar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qu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detrás de una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cuenta no hay un impostor.</a:t>
              </a:r>
            </a:p>
            <a:p>
              <a:pPr algn="l" marL="561342" indent="-280671" lvl="1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Cumplimiento de normas legales: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 muchos países,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las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platafo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mas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ben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verifi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 id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ntidad de cierto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usu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ios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(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ejempl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, qui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difunde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p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blicid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p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olít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).</a:t>
              </a:r>
            </a:p>
            <a:p>
              <a:pPr algn="l" marL="561342" indent="-280671" lvl="1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Segur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idad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ansacci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s: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 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pps de co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pras,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b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cos digi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ales o alquileres, 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 p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ide para c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nfirmar que el u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uar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io 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rea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y co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fiabl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e.</a:t>
              </a:r>
            </a:p>
            <a:p>
              <a:pPr algn="l" marL="561342" indent="-280671" lvl="1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ot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cció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: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lgunas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red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eq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u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ie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con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mar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par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 evi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ar que n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ños accedan a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contenido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apto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</a:t>
              </a:r>
              <a:r>
                <a:rPr lang="en-US" sz="2600" strike="noStrike" u="none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.</a:t>
              </a:r>
            </a:p>
            <a:p>
              <a:pPr algn="l" marL="0" indent="0" lvl="0">
                <a:lnSpc>
                  <a:spcPts val="3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14669100" y="-91127"/>
            <a:ext cx="2213932" cy="2213932"/>
          </a:xfrm>
          <a:custGeom>
            <a:avLst/>
            <a:gdLst/>
            <a:ahLst/>
            <a:cxnLst/>
            <a:rect r="r" b="b" t="t" l="l"/>
            <a:pathLst>
              <a:path h="2213932" w="2213932">
                <a:moveTo>
                  <a:pt x="0" y="0"/>
                </a:moveTo>
                <a:lnTo>
                  <a:pt x="2213932" y="0"/>
                </a:lnTo>
                <a:lnTo>
                  <a:pt x="2213932" y="2213932"/>
                </a:lnTo>
                <a:lnTo>
                  <a:pt x="0" y="2213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92831" y="9482229"/>
            <a:ext cx="2966469" cy="2966469"/>
          </a:xfrm>
          <a:custGeom>
            <a:avLst/>
            <a:gdLst/>
            <a:ahLst/>
            <a:cxnLst/>
            <a:rect r="r" b="b" t="t" l="l"/>
            <a:pathLst>
              <a:path h="2966469" w="2966469">
                <a:moveTo>
                  <a:pt x="0" y="0"/>
                </a:moveTo>
                <a:lnTo>
                  <a:pt x="2966469" y="0"/>
                </a:lnTo>
                <a:lnTo>
                  <a:pt x="2966469" y="2966468"/>
                </a:lnTo>
                <a:lnTo>
                  <a:pt x="0" y="29664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22468" y="2712375"/>
            <a:ext cx="3307196" cy="3289156"/>
          </a:xfrm>
          <a:custGeom>
            <a:avLst/>
            <a:gdLst/>
            <a:ahLst/>
            <a:cxnLst/>
            <a:rect r="r" b="b" t="t" l="l"/>
            <a:pathLst>
              <a:path h="3289156" w="3307196">
                <a:moveTo>
                  <a:pt x="0" y="0"/>
                </a:moveTo>
                <a:lnTo>
                  <a:pt x="3307196" y="0"/>
                </a:lnTo>
                <a:lnTo>
                  <a:pt x="3307196" y="3289156"/>
                </a:lnTo>
                <a:lnTo>
                  <a:pt x="0" y="3289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5638" y="6496831"/>
            <a:ext cx="2440856" cy="2440856"/>
          </a:xfrm>
          <a:custGeom>
            <a:avLst/>
            <a:gdLst/>
            <a:ahLst/>
            <a:cxnLst/>
            <a:rect r="r" b="b" t="t" l="l"/>
            <a:pathLst>
              <a:path h="2440856" w="2440856">
                <a:moveTo>
                  <a:pt x="0" y="0"/>
                </a:moveTo>
                <a:lnTo>
                  <a:pt x="2440856" y="0"/>
                </a:lnTo>
                <a:lnTo>
                  <a:pt x="2440856" y="2440857"/>
                </a:lnTo>
                <a:lnTo>
                  <a:pt x="0" y="2440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427876" y="3436454"/>
            <a:ext cx="713951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27876" y="7402778"/>
            <a:ext cx="713951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427876" y="5471349"/>
            <a:ext cx="713951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868086"/>
            <a:ext cx="6475629" cy="491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as p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tafo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r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no pide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 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doc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u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mento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p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o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rque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qui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ran com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licar al usuari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o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, si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o por vario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motivos leg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ale</a:t>
            </a:r>
            <a:r>
              <a:rPr lang="en-US" sz="5500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 y de seguridad: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7876" y="1570496"/>
            <a:ext cx="7139516" cy="1841792"/>
            <a:chOff x="0" y="0"/>
            <a:chExt cx="9519354" cy="245572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519354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Cumplimiento legal (KYC: Know Your Customer)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481334"/>
              <a:ext cx="9519354" cy="974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5"/>
                </a:lnSpc>
              </a:pP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Mucha</a:t>
              </a: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 leyes de comercio digital y servicios financieros obligan a las empresas a verificar la identidad de sus usuarios. Ejemplo: el Reglamento General de Protección de Datos (GDPR) en la Unión Europea.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27876" y="3749142"/>
            <a:ext cx="7139516" cy="1356017"/>
            <a:chOff x="0" y="0"/>
            <a:chExt cx="9519354" cy="180802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519354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Publicidad política y desinformación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33634"/>
              <a:ext cx="9519354" cy="974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5"/>
                </a:lnSpc>
              </a:pP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</a:t>
              </a: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espués de escándalos como Cambridge Analytica (2018), redes como Facebook comenzaron a pedir documentos a quienes pagan anuncios políticos.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7876" y="5808726"/>
            <a:ext cx="7139516" cy="1108367"/>
            <a:chOff x="0" y="0"/>
            <a:chExt cx="9519354" cy="147782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9519354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3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eguridad en transacciones digitales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33634"/>
              <a:ext cx="9519354" cy="644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5"/>
                </a:lnSpc>
              </a:pP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Pla</a:t>
              </a: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taformas como Airbnb o Amazon piden documentos para confirmar que las personas que alquilan o venden son reales y confiables.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27876" y="7501598"/>
            <a:ext cx="7139516" cy="1594142"/>
            <a:chOff x="0" y="0"/>
            <a:chExt cx="9519354" cy="212552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9519354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Prot</a:t>
              </a:r>
              <a:r>
                <a:rPr lang="en-US" sz="32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ección de menores y control de edad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481334"/>
              <a:ext cx="9519354" cy="644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5"/>
                </a:lnSpc>
              </a:pP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Algunos serv</a:t>
              </a:r>
              <a:r>
                <a:rPr lang="en-US" sz="1519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icios (ej. TikTok, OnlyFans, videojuegos) piden documentos para verificar que los usuarios no sean menores de edad.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879084" y="8399084"/>
            <a:ext cx="999031" cy="999031"/>
          </a:xfrm>
          <a:custGeom>
            <a:avLst/>
            <a:gdLst/>
            <a:ahLst/>
            <a:cxnLst/>
            <a:rect r="r" b="b" t="t" l="l"/>
            <a:pathLst>
              <a:path h="999031" w="999031">
                <a:moveTo>
                  <a:pt x="0" y="0"/>
                </a:moveTo>
                <a:lnTo>
                  <a:pt x="999032" y="0"/>
                </a:lnTo>
                <a:lnTo>
                  <a:pt x="999032" y="999032"/>
                </a:lnTo>
                <a:lnTo>
                  <a:pt x="0" y="99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79084" y="1154540"/>
            <a:ext cx="999031" cy="999031"/>
          </a:xfrm>
          <a:custGeom>
            <a:avLst/>
            <a:gdLst/>
            <a:ahLst/>
            <a:cxnLst/>
            <a:rect r="r" b="b" t="t" l="l"/>
            <a:pathLst>
              <a:path h="999031" w="999031">
                <a:moveTo>
                  <a:pt x="0" y="0"/>
                </a:moveTo>
                <a:lnTo>
                  <a:pt x="999032" y="0"/>
                </a:lnTo>
                <a:lnTo>
                  <a:pt x="999032" y="999031"/>
                </a:lnTo>
                <a:lnTo>
                  <a:pt x="0" y="999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978295" y="8276655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978295" y="1032111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5189030" y="8276655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5189030" y="1032111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2641943" y="8437060"/>
            <a:ext cx="923080" cy="923080"/>
          </a:xfrm>
          <a:custGeom>
            <a:avLst/>
            <a:gdLst/>
            <a:ahLst/>
            <a:cxnLst/>
            <a:rect r="r" b="b" t="t" l="l"/>
            <a:pathLst>
              <a:path h="923080" w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2641943" y="1192516"/>
            <a:ext cx="923080" cy="923080"/>
          </a:xfrm>
          <a:custGeom>
            <a:avLst/>
            <a:gdLst/>
            <a:ahLst/>
            <a:cxnLst/>
            <a:rect r="r" b="b" t="t" l="l"/>
            <a:pathLst>
              <a:path h="923080" w="923080">
                <a:moveTo>
                  <a:pt x="0" y="0"/>
                </a:moveTo>
                <a:lnTo>
                  <a:pt x="923080" y="0"/>
                </a:lnTo>
                <a:lnTo>
                  <a:pt x="923080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4571" y="6468996"/>
            <a:ext cx="2555809" cy="2555809"/>
          </a:xfrm>
          <a:custGeom>
            <a:avLst/>
            <a:gdLst/>
            <a:ahLst/>
            <a:cxnLst/>
            <a:rect r="r" b="b" t="t" l="l"/>
            <a:pathLst>
              <a:path h="2555809" w="2555809">
                <a:moveTo>
                  <a:pt x="0" y="0"/>
                </a:moveTo>
                <a:lnTo>
                  <a:pt x="2555809" y="0"/>
                </a:lnTo>
                <a:lnTo>
                  <a:pt x="2555809" y="2555809"/>
                </a:lnTo>
                <a:lnTo>
                  <a:pt x="0" y="2555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99456" y="228491"/>
            <a:ext cx="3106665" cy="3106665"/>
          </a:xfrm>
          <a:custGeom>
            <a:avLst/>
            <a:gdLst/>
            <a:ahLst/>
            <a:cxnLst/>
            <a:rect r="r" b="b" t="t" l="l"/>
            <a:pathLst>
              <a:path h="3106665" w="3106665">
                <a:moveTo>
                  <a:pt x="0" y="0"/>
                </a:moveTo>
                <a:lnTo>
                  <a:pt x="3106665" y="0"/>
                </a:lnTo>
                <a:lnTo>
                  <a:pt x="3106665" y="3106664"/>
                </a:lnTo>
                <a:lnTo>
                  <a:pt x="0" y="310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54571" y="9024805"/>
            <a:ext cx="2554410" cy="2554410"/>
          </a:xfrm>
          <a:custGeom>
            <a:avLst/>
            <a:gdLst/>
            <a:ahLst/>
            <a:cxnLst/>
            <a:rect r="r" b="b" t="t" l="l"/>
            <a:pathLst>
              <a:path h="2554410" w="2554410">
                <a:moveTo>
                  <a:pt x="0" y="0"/>
                </a:moveTo>
                <a:lnTo>
                  <a:pt x="2554410" y="0"/>
                </a:lnTo>
                <a:lnTo>
                  <a:pt x="2554410" y="2554410"/>
                </a:lnTo>
                <a:lnTo>
                  <a:pt x="0" y="255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9456" y="3305180"/>
            <a:ext cx="5719625" cy="5719625"/>
          </a:xfrm>
          <a:custGeom>
            <a:avLst/>
            <a:gdLst/>
            <a:ahLst/>
            <a:cxnLst/>
            <a:rect r="r" b="b" t="t" l="l"/>
            <a:pathLst>
              <a:path h="5719625" w="5719625">
                <a:moveTo>
                  <a:pt x="0" y="0"/>
                </a:moveTo>
                <a:lnTo>
                  <a:pt x="5719625" y="0"/>
                </a:lnTo>
                <a:lnTo>
                  <a:pt x="5719625" y="5719625"/>
                </a:lnTo>
                <a:lnTo>
                  <a:pt x="0" y="5719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4584" y="45729"/>
            <a:ext cx="15040703" cy="3472189"/>
            <a:chOff x="0" y="0"/>
            <a:chExt cx="20054270" cy="462958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20054270" cy="3193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</a:pPr>
              <a:r>
                <a:rPr lang="en-US" sz="76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¿Qué rie</a:t>
              </a:r>
              <a:r>
                <a:rPr lang="en-US" sz="76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sgos existen al entregar estos documentos?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60669"/>
              <a:ext cx="15180792" cy="1068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Au</a:t>
              </a:r>
              <a:r>
                <a:rPr lang="en-US" b="true" sz="25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nque su intención es proteger, los documentos de identidad son información extremadamente sensible. Los principales riesgos son: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763991"/>
            <a:ext cx="11920124" cy="3422836"/>
            <a:chOff x="0" y="0"/>
            <a:chExt cx="15893499" cy="456378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15893499" cy="623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4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Rob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</a:t>
              </a:r>
              <a:r>
                <a:rPr lang="en-US" sz="2964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idad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61423"/>
              <a:ext cx="15893499" cy="3602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9927" indent="-234964" lvl="1">
                <a:lnSpc>
                  <a:spcPts val="3613"/>
                </a:lnSpc>
                <a:buFont typeface="Arial"/>
                <a:buChar char="•"/>
              </a:pPr>
              <a:r>
                <a:rPr lang="en-US" sz="2176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 un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do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ument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cae en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m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anos equivocadas, puede usarse para 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b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 cue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tas falsas, h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er estafas o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nclus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cometer delitos a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ombre d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 afectado. Lo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iberdelincuentes pueden usar f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tos de pasa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p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ortes, cédulas o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nci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as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para abrir cuent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b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ancar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s,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contrata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s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rvi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ios o incl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so com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ete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 delitos a no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m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br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de la perso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 afec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ada. Ej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mpl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: Según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la C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om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isión Feder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 de Come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cio de EE.UU. (FTC, 2022), el robo de iden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id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d digital 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un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de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deli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tos</a:t>
              </a:r>
              <a:r>
                <a:rPr lang="en-US" sz="2176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más frecuentes.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4584" y="7434476"/>
            <a:ext cx="11357287" cy="2711362"/>
            <a:chOff x="0" y="0"/>
            <a:chExt cx="15143050" cy="361514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1514305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ltr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aci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nes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da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tos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en gr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799" strike="noStrike" u="none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ndes empresas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92058"/>
              <a:ext cx="15143050" cy="2723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4150"/>
                </a:lnSpc>
                <a:buFont typeface="Arial"/>
                <a:buChar char="•"/>
              </a:pPr>
              <a:r>
                <a:rPr lang="en-US" sz="2500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Incluso g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gant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tec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ológico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h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an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sufrido br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cha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de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seg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ridad. Ejemp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os: LinkedIn (2012) – 167 m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llones de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uent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filt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adas.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F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b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ook (2019) –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má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d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530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m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illon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d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dato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ex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p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os. Si l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base de dat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in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cluye d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cume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to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,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xposició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es 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ún má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2500" strike="noStrike" u="non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 grave.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9309" y="1028700"/>
            <a:ext cx="8433771" cy="6020897"/>
            <a:chOff x="0" y="0"/>
            <a:chExt cx="5157416" cy="36818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7416" cy="3681897"/>
            </a:xfrm>
            <a:custGeom>
              <a:avLst/>
              <a:gdLst/>
              <a:ahLst/>
              <a:cxnLst/>
              <a:rect r="r" b="b" t="t" l="l"/>
              <a:pathLst>
                <a:path h="3681897" w="5157416">
                  <a:moveTo>
                    <a:pt x="0" y="0"/>
                  </a:moveTo>
                  <a:lnTo>
                    <a:pt x="0" y="2301557"/>
                  </a:lnTo>
                  <a:lnTo>
                    <a:pt x="1066854" y="2301557"/>
                  </a:lnTo>
                  <a:lnTo>
                    <a:pt x="1066854" y="3681897"/>
                  </a:lnTo>
                  <a:lnTo>
                    <a:pt x="4623415" y="3681897"/>
                  </a:lnTo>
                  <a:lnTo>
                    <a:pt x="4623415" y="1380340"/>
                  </a:lnTo>
                  <a:lnTo>
                    <a:pt x="5157416" y="1380340"/>
                  </a:lnTo>
                  <a:lnTo>
                    <a:pt x="5157416" y="0"/>
                  </a:lnTo>
                  <a:close/>
                </a:path>
              </a:pathLst>
            </a:custGeom>
            <a:blipFill>
              <a:blip r:embed="rId2"/>
              <a:stretch>
                <a:fillRect l="-3640" t="0" r="-364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96323" y="1277969"/>
            <a:ext cx="4922054" cy="6020897"/>
            <a:chOff x="0" y="0"/>
            <a:chExt cx="3009933" cy="36818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9933" cy="3681897"/>
            </a:xfrm>
            <a:custGeom>
              <a:avLst/>
              <a:gdLst/>
              <a:ahLst/>
              <a:cxnLst/>
              <a:rect r="r" b="b" t="t" l="l"/>
              <a:pathLst>
                <a:path h="3681897" w="3009933">
                  <a:moveTo>
                    <a:pt x="0" y="0"/>
                  </a:moveTo>
                  <a:lnTo>
                    <a:pt x="0" y="2301557"/>
                  </a:lnTo>
                  <a:lnTo>
                    <a:pt x="622629" y="2301557"/>
                  </a:lnTo>
                  <a:lnTo>
                    <a:pt x="622629" y="3681897"/>
                  </a:lnTo>
                  <a:lnTo>
                    <a:pt x="2698283" y="3681897"/>
                  </a:lnTo>
                  <a:lnTo>
                    <a:pt x="2698283" y="1380340"/>
                  </a:lnTo>
                  <a:lnTo>
                    <a:pt x="3009933" y="1380340"/>
                  </a:lnTo>
                  <a:lnTo>
                    <a:pt x="3009933" y="0"/>
                  </a:lnTo>
                  <a:close/>
                </a:path>
              </a:pathLst>
            </a:custGeom>
            <a:blipFill>
              <a:blip r:embed="rId3"/>
              <a:stretch>
                <a:fillRect l="0" t="-17332" r="0" b="-517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11904" y="7181423"/>
            <a:ext cx="6023393" cy="2751308"/>
            <a:chOff x="0" y="0"/>
            <a:chExt cx="8031191" cy="36684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8031191" cy="58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58"/>
                </a:lnSpc>
                <a:spcBef>
                  <a:spcPct val="0"/>
                </a:spcBef>
              </a:pPr>
              <a:r>
                <a:rPr lang="en-US" sz="2613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Uso indebido por p</a:t>
              </a:r>
              <a:r>
                <a:rPr lang="en-US" sz="2613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arte de las empresas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20868" y="1076818"/>
              <a:ext cx="7589454" cy="2591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07"/>
                </a:lnSpc>
              </a:pPr>
              <a:r>
                <a:rPr lang="en-US" b="true" sz="239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Hay denuncias de que algunas c</a:t>
              </a:r>
              <a:r>
                <a:rPr lang="en-US" b="true" sz="239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ompañías usan los datos para publicidad dirigida o los comparten con terceros sin consentimiento claro.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43080" y="7376686"/>
            <a:ext cx="6023393" cy="2360783"/>
            <a:chOff x="0" y="0"/>
            <a:chExt cx="8031191" cy="314771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8031191" cy="58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58"/>
                </a:lnSpc>
                <a:spcBef>
                  <a:spcPct val="0"/>
                </a:spcBef>
              </a:pPr>
              <a:r>
                <a:rPr lang="en-US" sz="2613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Vigilancia gube</a:t>
              </a:r>
              <a:r>
                <a:rPr lang="en-US" sz="2613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rnamental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20868" y="1076818"/>
              <a:ext cx="7589454" cy="2070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07"/>
                </a:lnSpc>
              </a:pPr>
              <a:r>
                <a:rPr lang="en-US" b="true" sz="239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En países con gobiernos autoritarios, pedir documentos puede facilitar la identificación de opositores o críticos.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765194" y="5526791"/>
            <a:ext cx="1522806" cy="1522806"/>
          </a:xfrm>
          <a:custGeom>
            <a:avLst/>
            <a:gdLst/>
            <a:ahLst/>
            <a:cxnLst/>
            <a:rect r="r" b="b" t="t" l="l"/>
            <a:pathLst>
              <a:path h="1522806" w="1522806">
                <a:moveTo>
                  <a:pt x="0" y="0"/>
                </a:moveTo>
                <a:lnTo>
                  <a:pt x="1522806" y="0"/>
                </a:lnTo>
                <a:lnTo>
                  <a:pt x="1522806" y="1522806"/>
                </a:lnTo>
                <a:lnTo>
                  <a:pt x="0" y="1522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170" y="0"/>
            <a:ext cx="2063739" cy="2063739"/>
          </a:xfrm>
          <a:custGeom>
            <a:avLst/>
            <a:gdLst/>
            <a:ahLst/>
            <a:cxnLst/>
            <a:rect r="r" b="b" t="t" l="l"/>
            <a:pathLst>
              <a:path h="2063739" w="2063739">
                <a:moveTo>
                  <a:pt x="0" y="0"/>
                </a:moveTo>
                <a:lnTo>
                  <a:pt x="2063740" y="0"/>
                </a:lnTo>
                <a:lnTo>
                  <a:pt x="2063740" y="2063739"/>
                </a:lnTo>
                <a:lnTo>
                  <a:pt x="0" y="2063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099056" y="4288417"/>
            <a:ext cx="855083" cy="855083"/>
          </a:xfrm>
          <a:custGeom>
            <a:avLst/>
            <a:gdLst/>
            <a:ahLst/>
            <a:cxnLst/>
            <a:rect r="r" b="b" t="t" l="l"/>
            <a:pathLst>
              <a:path h="855083" w="855083">
                <a:moveTo>
                  <a:pt x="0" y="0"/>
                </a:moveTo>
                <a:lnTo>
                  <a:pt x="855083" y="0"/>
                </a:lnTo>
                <a:lnTo>
                  <a:pt x="855083" y="855083"/>
                </a:lnTo>
                <a:lnTo>
                  <a:pt x="0" y="8550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79" y="4709494"/>
            <a:ext cx="17065603" cy="5577506"/>
            <a:chOff x="0" y="0"/>
            <a:chExt cx="10248542" cy="3349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8542" cy="3349504"/>
            </a:xfrm>
            <a:custGeom>
              <a:avLst/>
              <a:gdLst/>
              <a:ahLst/>
              <a:cxnLst/>
              <a:rect r="r" b="b" t="t" l="l"/>
              <a:pathLst>
                <a:path h="3349504" w="10248542">
                  <a:moveTo>
                    <a:pt x="0" y="0"/>
                  </a:moveTo>
                  <a:lnTo>
                    <a:pt x="0" y="2093778"/>
                  </a:lnTo>
                  <a:lnTo>
                    <a:pt x="2119995" y="2093778"/>
                  </a:lnTo>
                  <a:lnTo>
                    <a:pt x="2119995" y="3349504"/>
                  </a:lnTo>
                  <a:lnTo>
                    <a:pt x="9187404" y="3349504"/>
                  </a:lnTo>
                  <a:lnTo>
                    <a:pt x="9187404" y="1255726"/>
                  </a:lnTo>
                  <a:lnTo>
                    <a:pt x="10248542" y="1255726"/>
                  </a:lnTo>
                  <a:lnTo>
                    <a:pt x="10248542" y="0"/>
                  </a:lnTo>
                  <a:close/>
                </a:path>
              </a:pathLst>
            </a:custGeom>
            <a:blipFill>
              <a:blip r:embed="rId2"/>
              <a:stretch>
                <a:fillRect l="-1822" t="0" r="-711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37085" y="3258579"/>
            <a:ext cx="1450915" cy="1450915"/>
          </a:xfrm>
          <a:custGeom>
            <a:avLst/>
            <a:gdLst/>
            <a:ahLst/>
            <a:cxnLst/>
            <a:rect r="r" b="b" t="t" l="l"/>
            <a:pathLst>
              <a:path h="1450915" w="1450915">
                <a:moveTo>
                  <a:pt x="0" y="0"/>
                </a:moveTo>
                <a:lnTo>
                  <a:pt x="1450915" y="0"/>
                </a:lnTo>
                <a:lnTo>
                  <a:pt x="1450915" y="1450915"/>
                </a:lnTo>
                <a:lnTo>
                  <a:pt x="0" y="14509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174684"/>
            <a:ext cx="2112316" cy="2112316"/>
          </a:xfrm>
          <a:custGeom>
            <a:avLst/>
            <a:gdLst/>
            <a:ahLst/>
            <a:cxnLst/>
            <a:rect r="r" b="b" t="t" l="l"/>
            <a:pathLst>
              <a:path h="2112316" w="2112316">
                <a:moveTo>
                  <a:pt x="0" y="0"/>
                </a:moveTo>
                <a:lnTo>
                  <a:pt x="2112316" y="0"/>
                </a:lnTo>
                <a:lnTo>
                  <a:pt x="2112316" y="2112316"/>
                </a:lnTo>
                <a:lnTo>
                  <a:pt x="0" y="21123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26106"/>
            <a:ext cx="16230600" cy="1862169"/>
            <a:chOff x="0" y="0"/>
            <a:chExt cx="21640800" cy="248289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21640800" cy="153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63"/>
                </a:lnSpc>
              </a:pPr>
              <a:r>
                <a:rPr lang="en-US" sz="7552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Bu</a:t>
              </a:r>
              <a:r>
                <a:rPr lang="en-US" sz="7552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enas prácticas de uso responsable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19192"/>
              <a:ext cx="21640800" cy="463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13"/>
                </a:lnSpc>
              </a:pPr>
              <a:r>
                <a:rPr lang="en-US" sz="2241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Da</a:t>
              </a:r>
              <a:r>
                <a:rPr lang="en-US" sz="2241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do que los riesgos existen, los usuarios deben tomar medidas preventivas: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2434640" y="8464518"/>
            <a:ext cx="1532648" cy="1532648"/>
          </a:xfrm>
          <a:custGeom>
            <a:avLst/>
            <a:gdLst/>
            <a:ahLst/>
            <a:cxnLst/>
            <a:rect r="r" b="b" t="t" l="l"/>
            <a:pathLst>
              <a:path h="1532648" w="1532648">
                <a:moveTo>
                  <a:pt x="0" y="0"/>
                </a:moveTo>
                <a:lnTo>
                  <a:pt x="1532649" y="0"/>
                </a:lnTo>
                <a:lnTo>
                  <a:pt x="1532649" y="1532648"/>
                </a:lnTo>
                <a:lnTo>
                  <a:pt x="0" y="15326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1066" y="2580113"/>
            <a:ext cx="16396019" cy="181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3"/>
              </a:lnSpc>
            </a:pPr>
            <a:r>
              <a:rPr lang="en-US" sz="226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Verificar la autenticidad de la plataforma: Solo entregar documentos en sitios oficiales, evitando enlaces sospechosos. nunca enviar </a:t>
            </a:r>
            <a:r>
              <a:rPr lang="en-US" sz="226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documentos por correos sospechosos o enlaces no oficiales</a:t>
            </a:r>
          </a:p>
          <a:p>
            <a:pPr algn="l" marL="0" indent="0" lvl="0">
              <a:lnSpc>
                <a:spcPts val="2943"/>
              </a:lnSpc>
            </a:pPr>
          </a:p>
          <a:p>
            <a:pPr algn="l" marL="0" indent="0" lvl="0">
              <a:lnSpc>
                <a:spcPts val="2943"/>
              </a:lnSpc>
            </a:pPr>
            <a:r>
              <a:rPr lang="en-US" sz="226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Revisar políticas de privacidad: Ver si cumplen con normas como GDPR (Europa) o COPPA (EE.UU. para menores).</a:t>
            </a:r>
          </a:p>
          <a:p>
            <a:pPr algn="l" marL="0" indent="0" lvl="0">
              <a:lnSpc>
                <a:spcPts val="294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7748" y="2231662"/>
            <a:ext cx="15522071" cy="265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- Preferir</a:t>
            </a:r>
            <a:r>
              <a:rPr lang="en-US" sz="30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métodos alternativos de verificación: Algunas plataformas ofrecen verificar con selfie, video en vivo o autenticación en dos pasos en lugar de subir un documento completo.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- No compartir más de lo necesario: Enviar solo lo estrictamente necesario, incluso versiones recortadas o con datos ocultos.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558214" y="1214853"/>
            <a:ext cx="1250711" cy="1243889"/>
          </a:xfrm>
          <a:custGeom>
            <a:avLst/>
            <a:gdLst/>
            <a:ahLst/>
            <a:cxnLst/>
            <a:rect r="r" b="b" t="t" l="l"/>
            <a:pathLst>
              <a:path h="1243889" w="1250711">
                <a:moveTo>
                  <a:pt x="0" y="0"/>
                </a:moveTo>
                <a:lnTo>
                  <a:pt x="1250711" y="0"/>
                </a:lnTo>
                <a:lnTo>
                  <a:pt x="1250711" y="1243889"/>
                </a:lnTo>
                <a:lnTo>
                  <a:pt x="0" y="12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992826" y="1375258"/>
            <a:ext cx="923080" cy="923080"/>
          </a:xfrm>
          <a:custGeom>
            <a:avLst/>
            <a:gdLst/>
            <a:ahLst/>
            <a:cxnLst/>
            <a:rect r="r" b="b" t="t" l="l"/>
            <a:pathLst>
              <a:path h="923080" w="923080">
                <a:moveTo>
                  <a:pt x="0" y="0"/>
                </a:moveTo>
                <a:lnTo>
                  <a:pt x="923080" y="0"/>
                </a:lnTo>
                <a:lnTo>
                  <a:pt x="923080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72094" y="1337282"/>
            <a:ext cx="999031" cy="999031"/>
          </a:xfrm>
          <a:custGeom>
            <a:avLst/>
            <a:gdLst/>
            <a:ahLst/>
            <a:cxnLst/>
            <a:rect r="r" b="b" t="t" l="l"/>
            <a:pathLst>
              <a:path h="999031" w="999031">
                <a:moveTo>
                  <a:pt x="0" y="0"/>
                </a:moveTo>
                <a:lnTo>
                  <a:pt x="999031" y="0"/>
                </a:lnTo>
                <a:lnTo>
                  <a:pt x="999031" y="999031"/>
                </a:lnTo>
                <a:lnTo>
                  <a:pt x="0" y="9990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09899" y="5137079"/>
            <a:ext cx="14807153" cy="5149921"/>
            <a:chOff x="0" y="0"/>
            <a:chExt cx="11335963" cy="3942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35963" cy="3942643"/>
            </a:xfrm>
            <a:custGeom>
              <a:avLst/>
              <a:gdLst/>
              <a:ahLst/>
              <a:cxnLst/>
              <a:rect r="r" b="b" t="t" l="l"/>
              <a:pathLst>
                <a:path h="3942643" w="11335963">
                  <a:moveTo>
                    <a:pt x="0" y="0"/>
                  </a:moveTo>
                  <a:lnTo>
                    <a:pt x="0" y="2464550"/>
                  </a:lnTo>
                  <a:lnTo>
                    <a:pt x="2344937" y="2464550"/>
                  </a:lnTo>
                  <a:lnTo>
                    <a:pt x="2344937" y="3942643"/>
                  </a:lnTo>
                  <a:lnTo>
                    <a:pt x="10162233" y="3942643"/>
                  </a:lnTo>
                  <a:lnTo>
                    <a:pt x="10162233" y="1478093"/>
                  </a:lnTo>
                  <a:lnTo>
                    <a:pt x="11335963" y="1478093"/>
                  </a:lnTo>
                  <a:lnTo>
                    <a:pt x="11335963" y="0"/>
                  </a:lnTo>
                  <a:close/>
                </a:path>
              </a:pathLst>
            </a:custGeom>
            <a:blipFill>
              <a:blip r:embed="rId8"/>
              <a:stretch>
                <a:fillRect l="0" t="-2538" r="0" b="-253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9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106" y="1416134"/>
            <a:ext cx="7794435" cy="229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¿Qué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ha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r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ías tú 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es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to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r>
              <a:rPr lang="en-US" sz="8799" strike="noStrike" u="non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casos?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71190" y="0"/>
            <a:ext cx="9921573" cy="10287000"/>
            <a:chOff x="0" y="0"/>
            <a:chExt cx="261308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30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13089">
                  <a:moveTo>
                    <a:pt x="0" y="0"/>
                  </a:moveTo>
                  <a:lnTo>
                    <a:pt x="2613089" y="0"/>
                  </a:lnTo>
                  <a:lnTo>
                    <a:pt x="26130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DDC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613089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71190" y="-2480393"/>
            <a:ext cx="4960786" cy="4960786"/>
          </a:xfrm>
          <a:custGeom>
            <a:avLst/>
            <a:gdLst/>
            <a:ahLst/>
            <a:cxnLst/>
            <a:rect r="r" b="b" t="t" l="l"/>
            <a:pathLst>
              <a:path h="4960786" w="4960786">
                <a:moveTo>
                  <a:pt x="0" y="0"/>
                </a:moveTo>
                <a:lnTo>
                  <a:pt x="4960786" y="0"/>
                </a:lnTo>
                <a:lnTo>
                  <a:pt x="4960786" y="4960786"/>
                </a:lnTo>
                <a:lnTo>
                  <a:pt x="0" y="4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31976" y="-2480393"/>
            <a:ext cx="4960786" cy="4960786"/>
          </a:xfrm>
          <a:custGeom>
            <a:avLst/>
            <a:gdLst/>
            <a:ahLst/>
            <a:cxnLst/>
            <a:rect r="r" b="b" t="t" l="l"/>
            <a:pathLst>
              <a:path h="4960786" w="4960786">
                <a:moveTo>
                  <a:pt x="0" y="0"/>
                </a:moveTo>
                <a:lnTo>
                  <a:pt x="4960786" y="0"/>
                </a:lnTo>
                <a:lnTo>
                  <a:pt x="4960786" y="4960786"/>
                </a:lnTo>
                <a:lnTo>
                  <a:pt x="0" y="4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55060" y="3951055"/>
            <a:ext cx="8016129" cy="3300730"/>
            <a:chOff x="0" y="0"/>
            <a:chExt cx="10688172" cy="44009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0688172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Facebook y l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polít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71948"/>
              <a:ext cx="10688172" cy="3629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En 2018 comenzó a p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di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 docum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ntos 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 quienes pub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icaban anuncios po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íticos. P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gunt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: ¿Es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t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o ayuda a la 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t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ranspar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n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c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ia 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 li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m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ita la libertad de expresión?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142063"/>
            <a:ext cx="8016129" cy="2757805"/>
            <a:chOff x="0" y="0"/>
            <a:chExt cx="10688172" cy="367707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0688172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rbnb /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Am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zon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71948"/>
              <a:ext cx="10688172" cy="290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Estas platafo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mas pid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n documentos de identidad para 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al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qui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l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 o vend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r. Pregunt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a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: ¿Te sen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t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irías 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s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eguro env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i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ando tu pasapor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te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 p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o</a:t>
              </a:r>
              <a:r>
                <a:rPr lang="en-US" sz="3599" strike="noStrike" u="none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r internet?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43171" y="6354984"/>
            <a:ext cx="8016129" cy="2214880"/>
            <a:chOff x="0" y="0"/>
            <a:chExt cx="10688172" cy="295317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10688172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Riesg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o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de filtració</a:t>
              </a:r>
              <a:r>
                <a:rPr lang="en-US" sz="2600" strike="noStrike" u="none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71948"/>
              <a:ext cx="10688172" cy="218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Ovo"/>
                  <a:ea typeface="Ovo"/>
                  <a:cs typeface="Ovo"/>
                  <a:sym typeface="Ovo"/>
                </a:rPr>
                <a:t>Imagina que una red social es hackeada y exponen pasaportes. Pregunta: ¿Quién debería ser responsable?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8700" y="7803790"/>
            <a:ext cx="1454510" cy="1454510"/>
          </a:xfrm>
          <a:custGeom>
            <a:avLst/>
            <a:gdLst/>
            <a:ahLst/>
            <a:cxnLst/>
            <a:rect r="r" b="b" t="t" l="l"/>
            <a:pathLst>
              <a:path h="1454510" w="1454510">
                <a:moveTo>
                  <a:pt x="0" y="0"/>
                </a:moveTo>
                <a:lnTo>
                  <a:pt x="1454510" y="0"/>
                </a:lnTo>
                <a:lnTo>
                  <a:pt x="1454510" y="1454510"/>
                </a:lnTo>
                <a:lnTo>
                  <a:pt x="0" y="1454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Uso responsable de las redes sociales</dc:description>
  <dc:identifier>DAG0aOKnxOw</dc:identifier>
  <dcterms:modified xsi:type="dcterms:W3CDTF">2011-08-01T06:04:30Z</dcterms:modified>
  <cp:revision>1</cp:revision>
  <dc:title>Presentation - Uso responsable de las redes sociales</dc:title>
</cp:coreProperties>
</file>