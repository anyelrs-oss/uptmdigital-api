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68" d="100"/>
          <a:sy n="68" d="100"/>
        </p:scale>
        <p:origin x="3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DE67A-FF24-0CB2-6189-323D914D9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5A24ED-DA9E-B964-60FA-8899D038D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2CCDD0-9A03-1F07-0CD6-52E149183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231EA5-4638-487E-88A8-1E84FC0B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95DFB2-85FF-5EB1-2E31-7BFE2B541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4390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8F7B9-48CA-49EF-3C34-0C8F207C3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69A8C8-3411-077C-CAC6-DD5580E9D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2B6276-F4DA-C876-6385-89986925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F0A865-114B-A192-9602-FB414196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8DC0F0-CC5E-082E-168B-1B1D63A2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6090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A983C-1862-B48F-68CE-62D0750F2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681A59-6861-CC2D-B850-8983795AB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9DCF22-1477-56A3-0382-25B40D14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080F77-CDD7-9BCF-BE7B-E3CA61D8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AFD16D-5D9A-02FB-90C3-20422ABE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0718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3DAB7-F1F8-02C3-1E8F-D43E82E0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2AE694-11F4-9F9F-7B72-9F6E1E49E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8B4A5D-69FA-8EB6-2FBC-9DB78F4ED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80B017-9B83-3942-0FC4-829B42E1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65D0B9-EE48-FA58-2E9C-410247553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182333-A8AE-E117-8F6F-A2E39B2B0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1712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D7699-212B-024E-4882-708252058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47458C-BB1F-B7AB-6B3D-E3BD7B17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46093D-67FD-F857-84FF-B676B908D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1B17EC-9787-B9D1-4A2A-B0CBC72CE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D22916-2BB6-3EF1-6E48-0A0867743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CAAB6EA-78C0-8EF2-D01B-6A4BBB34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6969C25-E67C-3944-2FA2-EE2B37BA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9A14B0-F003-30DA-3B21-64A77DD1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15418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843F3-A6F8-2196-F47D-8FA9C5EC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26BBFC-E93E-032F-4D50-D7FC881A9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455473-F9DD-4D80-1696-EC24AEC9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DFB6E9-73E1-7E8B-0EE0-778DA81D3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6315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47EFD6-B80B-FFDC-E2EB-413AFBE4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A3137B-85AE-EBB2-3CA9-E7D3DE3B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B9C927-AEF4-0519-FB31-B6A4727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35225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4984F-DEC5-C615-4796-4AA90BB8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73F140-9B33-ACE9-CAF1-3B0D7B9D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28BE77-25BE-E303-E512-06E98397D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4F32EB-7A05-6F04-F826-7E8896D3A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CEFC11-FD1F-15DB-1FE1-D4562C9A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6DDEFD-B2C2-D39C-7843-BE515277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6821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99ADE-0204-CE08-6F35-95CD60CC5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EEAFED-7166-408E-1C8D-2294671CA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A55815-FA92-9584-B388-EF7CCA225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2A39C9-E0AD-B66F-4246-2533D827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C1DD0F-E97C-9AAD-5C35-DFA4CA8A1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A624DD-B3A7-3719-E25D-924B77A9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1608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3E471-2AA4-9678-5330-909D79C4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E8B3D5-2856-DC4B-08BD-A2C723801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A6C235-FC2C-E09C-A052-07EE3447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08DBA5-AD1E-D548-47F1-EB990122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C8F11D-3C7D-FDD8-1941-60DE680E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49648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1484A4-7760-16BA-C671-663219119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C25280-26E4-CCAA-66C6-A0B3BE961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B5917C-5DDE-90EC-48D7-0E9B74593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C9E40C-2A7F-A25A-2023-AD1E017B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617D14-C120-D2E6-8D85-80EDF806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8561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F2DD4A-0593-8E73-987A-3313E4999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0A00C8-E9E4-1A68-D298-B148D72D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40C67B-6B8D-DCBB-A6F5-7357FA8BA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3E9E8-C6A4-4FBA-A042-B18A5857EA2C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93770-5C7C-6435-F577-A7396C2CA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324223-2953-BC69-7552-9C0F8EAE4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79449-5252-4A33-A9A5-C5CFCADA4A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2909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5F784DA-06FE-BC04-046F-E4494F673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455432"/>
              </p:ext>
            </p:extLst>
          </p:nvPr>
        </p:nvGraphicFramePr>
        <p:xfrm>
          <a:off x="473725" y="363559"/>
          <a:ext cx="11413476" cy="3817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369">
                  <a:extLst>
                    <a:ext uri="{9D8B030D-6E8A-4147-A177-3AD203B41FA5}">
                      <a16:colId xmlns:a16="http://schemas.microsoft.com/office/drawing/2014/main" val="4201181370"/>
                    </a:ext>
                  </a:extLst>
                </a:gridCol>
                <a:gridCol w="2853369">
                  <a:extLst>
                    <a:ext uri="{9D8B030D-6E8A-4147-A177-3AD203B41FA5}">
                      <a16:colId xmlns:a16="http://schemas.microsoft.com/office/drawing/2014/main" val="3205514985"/>
                    </a:ext>
                  </a:extLst>
                </a:gridCol>
                <a:gridCol w="2853369">
                  <a:extLst>
                    <a:ext uri="{9D8B030D-6E8A-4147-A177-3AD203B41FA5}">
                      <a16:colId xmlns:a16="http://schemas.microsoft.com/office/drawing/2014/main" val="2154380991"/>
                    </a:ext>
                  </a:extLst>
                </a:gridCol>
                <a:gridCol w="2853369">
                  <a:extLst>
                    <a:ext uri="{9D8B030D-6E8A-4147-A177-3AD203B41FA5}">
                      <a16:colId xmlns:a16="http://schemas.microsoft.com/office/drawing/2014/main" val="2407782230"/>
                    </a:ext>
                  </a:extLst>
                </a:gridCol>
              </a:tblGrid>
              <a:tr h="394012">
                <a:tc>
                  <a:txBody>
                    <a:bodyPr/>
                    <a:lstStyle/>
                    <a:p>
                      <a:r>
                        <a:rPr lang="es-V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Resumen Narrativo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Indicadores Verificables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V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Medios de Verificación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V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Supuestos/Riesgos</a:t>
                      </a:r>
                      <a:endParaRPr lang="es-V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711174"/>
                  </a:ext>
                </a:extLst>
              </a:tr>
              <a:tr h="1357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12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Fin (Propósito a largo plazo)</a:t>
                      </a:r>
                      <a:endParaRPr lang="es-VE" sz="1200" kern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Contribuir al fortalecimiento de la gestión académica y administrativa de la Universidad Politécnica Territorial del Estado Mérida “</a:t>
                      </a:r>
                      <a:r>
                        <a:rPr lang="es-ES" sz="1200" kern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Kleber</a:t>
                      </a: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Ramírez” (UPTMKR) mediante la implementación de soluciones tecnológicas seguras, participativas y sostenibles. 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s-E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Incremento del 60% en la eficiencia de los procesos administrativos y académicos.</a:t>
                      </a:r>
                    </a:p>
                    <a:p>
                      <a:r>
                        <a:rPr lang="es-E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- Reducción del 50% en los tiempos de atención de solicitudes estudiantiles.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 Informes institucionales del DARE.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Encuestas de satisfacción.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Estadísticas del sistema.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s-E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Apoyo continuo de las autoridades universitarias. </a:t>
                      </a:r>
                    </a:p>
                    <a:p>
                      <a:r>
                        <a:rPr lang="es-E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Mantenimiento y actualización tecnológica del sistema.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663736"/>
                  </a:ext>
                </a:extLst>
              </a:tr>
              <a:tr h="1357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12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Propósito (Objetivo general)</a:t>
                      </a:r>
                      <a:endParaRPr lang="es-VE" sz="1200" kern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Desarrollar e implementar una plataforma socio tecnológica con arquitectura de base de datos mixta que garantice la seguridad de la información y el acceso remoto de estudiantes y profesores a los servicios académicos. 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 Sistema “UPTM Digital” funcional al 100%.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 Al menos 70% de usuarios piloto activos.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Reducción de fallas o duplicidad de datos. </a:t>
                      </a:r>
                      <a:r>
                        <a:rPr lang="es-VE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 Reportes técnicos del sistema.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Registros de uso y monitoreo.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 Encuestas de validación y satisfacción.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-Infraestructura tecnológica estable.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Conectividad adecuada para acceso remoto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s-VE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21726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94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2CADC40-58F9-72D2-C96D-252851D2F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54139"/>
              </p:ext>
            </p:extLst>
          </p:nvPr>
        </p:nvGraphicFramePr>
        <p:xfrm>
          <a:off x="130629" y="578587"/>
          <a:ext cx="11756572" cy="5609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9143">
                  <a:extLst>
                    <a:ext uri="{9D8B030D-6E8A-4147-A177-3AD203B41FA5}">
                      <a16:colId xmlns:a16="http://schemas.microsoft.com/office/drawing/2014/main" val="2947034475"/>
                    </a:ext>
                  </a:extLst>
                </a:gridCol>
                <a:gridCol w="2939143">
                  <a:extLst>
                    <a:ext uri="{9D8B030D-6E8A-4147-A177-3AD203B41FA5}">
                      <a16:colId xmlns:a16="http://schemas.microsoft.com/office/drawing/2014/main" val="2169909043"/>
                    </a:ext>
                  </a:extLst>
                </a:gridCol>
                <a:gridCol w="2939143">
                  <a:extLst>
                    <a:ext uri="{9D8B030D-6E8A-4147-A177-3AD203B41FA5}">
                      <a16:colId xmlns:a16="http://schemas.microsoft.com/office/drawing/2014/main" val="2734375894"/>
                    </a:ext>
                  </a:extLst>
                </a:gridCol>
                <a:gridCol w="2939143">
                  <a:extLst>
                    <a:ext uri="{9D8B030D-6E8A-4147-A177-3AD203B41FA5}">
                      <a16:colId xmlns:a16="http://schemas.microsoft.com/office/drawing/2014/main" val="3650867729"/>
                    </a:ext>
                  </a:extLst>
                </a:gridCol>
              </a:tblGrid>
              <a:tr h="595912">
                <a:tc>
                  <a:txBody>
                    <a:bodyPr/>
                    <a:lstStyle/>
                    <a:p>
                      <a:r>
                        <a:rPr kumimoji="0" lang="es-VE" sz="11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Componentes/ Resultados esperados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Indicadores</a:t>
                      </a:r>
                      <a:endParaRPr lang="es-VE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Medios de Verificación</a:t>
                      </a:r>
                      <a:endParaRPr lang="es-VE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Supuestos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183533"/>
                  </a:ext>
                </a:extLst>
              </a:tr>
              <a:tr h="632268"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Módulo Estudiantes operativo (consultar notas, inscripción, perfil, horarios, constancias, carnet QR).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Módulo implementado y funcional en entorno de pruebas.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Informes técnicos y capturas de interfaz.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Acceso controlado al sistema interno.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7066"/>
                  </a:ext>
                </a:extLst>
              </a:tr>
              <a:tr h="595912">
                <a:tc>
                  <a:txBody>
                    <a:bodyPr/>
                    <a:lstStyle/>
                    <a:p>
                      <a:r>
                        <a:rPr lang="es-ES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Módulo de Profesores con carga de notas, gestión de horarios y mensajería académica.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- 80% de docentes piloto cargan calificaciones en la app.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Bitácora de uso y validación.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Participación docente continua.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317383"/>
                  </a:ext>
                </a:extLst>
              </a:tr>
              <a:tr h="405573">
                <a:tc>
                  <a:txBody>
                    <a:bodyPr/>
                    <a:lstStyle/>
                    <a:p>
                      <a:r>
                        <a:rPr lang="es-ES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Módulo de Seguridad QR integrado al sistema institucional.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Registro digital de accesos activo.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Reportes de validación QR. </a:t>
                      </a:r>
                      <a:b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Pruebas en campus.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11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 Colaboración del personal de seguridad.</a:t>
                      </a:r>
                      <a:endParaRPr lang="es-VE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4314853"/>
                  </a:ext>
                </a:extLst>
              </a:tr>
              <a:tr h="595912">
                <a:tc>
                  <a:txBody>
                    <a:bodyPr/>
                    <a:lstStyle/>
                    <a:p>
                      <a:r>
                        <a:rPr lang="pt-BR" sz="11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Arquitectura</a:t>
                      </a:r>
                      <a:r>
                        <a:rPr lang="pt-BR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de base de </a:t>
                      </a:r>
                      <a:r>
                        <a:rPr lang="pt-BR" sz="11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datos</a:t>
                      </a:r>
                      <a:r>
                        <a:rPr lang="pt-BR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11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mixta</a:t>
                      </a:r>
                      <a:r>
                        <a:rPr lang="pt-BR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implementada.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-Sincronización funcional con el sistema interno del DARE.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Informe técnico de conexión y seguridad.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Protección ante ataques informáticos.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04653"/>
                  </a:ext>
                </a:extLst>
              </a:tr>
              <a:tr h="485507">
                <a:tc>
                  <a:txBody>
                    <a:bodyPr/>
                    <a:lstStyle/>
                    <a:p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Capacitación de usuarios y pruebas piloto realizadas.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Dos jornadas de formación completadas.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Listas de asistencia y material de apoyo.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Disponibilidad de los participantes.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099513"/>
                  </a:ext>
                </a:extLst>
              </a:tr>
              <a:tr h="674713">
                <a:tc>
                  <a:txBody>
                    <a:bodyPr/>
                    <a:lstStyle/>
                    <a:p>
                      <a:r>
                        <a:rPr lang="es-VE" sz="11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Actividades principales</a:t>
                      </a:r>
                    </a:p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participativo y levantamiento de requisitos.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Documento de diagnóstico aprobado.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Actas, entrevistas, listas de cotejo.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Participación efectiva de los actores.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598308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arquitectura, interfaz y base de datos.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Prototipo UI/UX aprobado.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Diagramas y maquetas del sistema.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del tutor y del encargado TI.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59753"/>
                  </a:ext>
                </a:extLst>
              </a:tr>
              <a:tr h="449943"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Desarrollo de los módulos priorizados (estudiantes, profesores y seguridad).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Código funcional y documentación.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Informes técnicos del equipo de desarrollo.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Continuidad del equipo desarrollador.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430043"/>
                  </a:ext>
                </a:extLst>
              </a:tr>
              <a:tr h="290286"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Prueba piloto y validación de resultados.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Resultados analizados y mejoras aplicadas.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Reportes y encuestas.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Disposición de usuarios para participar.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911449"/>
                  </a:ext>
                </a:extLst>
              </a:tr>
              <a:tr h="324910"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Presentación final y entrega del informe.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Informe y demo entregados al tutor y jurado.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Actas de evaluación y constancia de entrega.</a:t>
                      </a:r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V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208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7544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545</Words>
  <Application>Microsoft Office PowerPoint</Application>
  <PresentationFormat>Panorámica</PresentationFormat>
  <Paragraphs>67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Peña</dc:creator>
  <cp:lastModifiedBy>Angel Peña</cp:lastModifiedBy>
  <cp:revision>2</cp:revision>
  <dcterms:created xsi:type="dcterms:W3CDTF">2025-10-15T01:09:31Z</dcterms:created>
  <dcterms:modified xsi:type="dcterms:W3CDTF">2025-10-17T01:56:43Z</dcterms:modified>
</cp:coreProperties>
</file>