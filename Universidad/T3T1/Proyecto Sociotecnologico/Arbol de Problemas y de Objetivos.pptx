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76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7" autoAdjust="0"/>
    <p:restoredTop sz="94660"/>
  </p:normalViewPr>
  <p:slideViewPr>
    <p:cSldViewPr snapToGrid="0">
      <p:cViewPr varScale="1">
        <p:scale>
          <a:sx n="87" d="100"/>
          <a:sy n="87" d="100"/>
        </p:scale>
        <p:origin x="6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7A352-BD03-1E58-12A8-8276B5105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86167C8-B272-0A7D-2D06-FA655A662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DAECDE-62A3-680B-F25C-632750B8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B5638-F13E-87DE-CFCF-053156803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F6B5B7-EBE9-6324-2115-A474F873B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665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4BF08-B08B-BAB4-B6DC-DE77BA5BD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A84560-7A64-8886-8B08-56719A0A5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BF872A-9F49-F177-9978-DAB90E22F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526E0C-721A-B29E-4447-EF9798F1F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14F5FB-D52A-DB08-BEA7-E97765812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0362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9B9D9C-4A85-CF98-C6EB-9B6B0682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DB93C9-3A4F-E1BD-4B0F-76555BD12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F0DC71-5615-D8AE-1FE0-2E9DDD453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7594F8-9DDB-6254-EA78-2C3236E89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594BE2-D09F-839F-C950-AF4461B85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9553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84C2E-779C-D25C-B8CC-AB50E6BB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BCAB3E-5164-55B3-D7CE-FBE928143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268C82-5F4E-AEA8-D8C5-4BA32A4FD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439898-0BDA-5D8B-0FA3-8388B4BD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6F7183-F58A-1FB3-EDFD-FD7C38BA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C37B9A-AEE3-2909-9E52-FE48F4B65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175424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232C42-684F-F379-EB82-1FFC3EB4E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0059D-FE99-B318-AE34-9B7E5A92D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63EA6B1-1F00-4581-706E-58E0E73CD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3A09DAC-47A9-AE58-997F-00EBCE4843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3123A4-115C-16DC-2577-C1F661FB6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2B75D1-AE99-566A-CD75-A77BD9AE5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12BF83-E013-6B22-6F94-F0E45756A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D102A93-14B5-755C-6DD6-1406E5624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53151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D59B7-5C91-5E78-7CDA-E58862B41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102DB2C-40B2-A61C-A493-5AC59F30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113251-433A-EC42-E6C5-F1B997CDD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D5CA748-3B0F-6527-22D6-0828C1B37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62948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1618246-D7D5-C30E-ECC9-7ADF4620F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580232-81A8-DDA5-9910-F87310AD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568934-9349-C94C-0533-2E526A777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72002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B39A02-AD08-93A6-CE8E-2B84F75D7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DF1324-D7BE-3017-29C0-12C7E232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D0A8713-3AA2-3BAA-7316-E997D1490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83EED7F-7B4A-5427-E64A-285DF8A98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9B0183A-490E-8170-9D16-1B5B8721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4F162EF-E6AC-EF76-81C8-AFA45FD8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223435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8D6FD-9260-2010-E515-DD16086EC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2D7D31-F517-EF51-D20B-C46886A0D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V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D74C2C-6370-FC57-B6E5-B569A48E8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16E8FF-6CC3-0E75-5E67-5E0F3523A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45DBA1-0EBF-110A-43F7-0816E46D6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0EC28B-B9ED-B580-354F-ED3350817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50975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D4F706-6E70-C2C0-9666-F13E031D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07575DC-2646-B078-476B-7D610A69A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E172CF-C885-3B73-AC8A-240AED3A5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360260-8ECE-FA5A-67DD-11CA9A573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972EE-1771-A244-CBD0-C40B6D6F1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868390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7F68121-1639-8293-2D98-23E17CE5B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414737-9167-0A31-69F0-74E17AD06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8BE88B-4C81-5D20-FF32-DA301F7A3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A89784-D621-1759-A392-6E85BCDD9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6F5602-62E0-A438-CE8B-67653FEF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1715090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437901-FEA5-FC17-59EC-C6AD868CE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V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F539CAD-39FE-42D1-1869-5C3A7FEA1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74A850-29E0-72AC-5B8C-EEAD9BFFBA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3FD24-86B2-493E-9B2E-195F816BD126}" type="datetimeFigureOut">
              <a:rPr lang="es-VE" smtClean="0"/>
              <a:t>16/10/2025</a:t>
            </a:fld>
            <a:endParaRPr lang="es-V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3D411D-204D-FDBE-7176-3F69FBF34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V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C5551D-63A0-0200-FED6-D15F5912EE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89BF4C-5853-4788-89B5-C18C927E93B3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41957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815B850-5D89-9BE7-434D-07CED17AD2D9}"/>
              </a:ext>
            </a:extLst>
          </p:cNvPr>
          <p:cNvSpPr/>
          <p:nvPr/>
        </p:nvSpPr>
        <p:spPr>
          <a:xfrm>
            <a:off x="2264899" y="4295350"/>
            <a:ext cx="1812730" cy="79715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Gestión manual y dispersa de los procesos académicos.</a:t>
            </a:r>
            <a:endParaRPr lang="es-VE" sz="11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329691-9D25-8C83-47D9-D678FCE122BF}"/>
              </a:ext>
            </a:extLst>
          </p:cNvPr>
          <p:cNvSpPr/>
          <p:nvPr/>
        </p:nvSpPr>
        <p:spPr>
          <a:xfrm>
            <a:off x="4424875" y="4357467"/>
            <a:ext cx="1964788" cy="7350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Falta de comunicación eficiente entre los actores universitarios.</a:t>
            </a:r>
            <a:endParaRPr lang="es-VE" sz="11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849AD6-DAD8-5A39-86D8-6655BB5F387F}"/>
              </a:ext>
            </a:extLst>
          </p:cNvPr>
          <p:cNvSpPr/>
          <p:nvPr/>
        </p:nvSpPr>
        <p:spPr>
          <a:xfrm>
            <a:off x="6876757" y="4357467"/>
            <a:ext cx="1711908" cy="7350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Vulnerabilidad y aislamiento del sistema interno a causa de fallas de seguridad.</a:t>
            </a:r>
            <a:endParaRPr lang="es-VE" sz="11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C11962-E9A7-648A-53C7-4195DB1FD943}"/>
              </a:ext>
            </a:extLst>
          </p:cNvPr>
          <p:cNvSpPr/>
          <p:nvPr/>
        </p:nvSpPr>
        <p:spPr>
          <a:xfrm>
            <a:off x="8942363" y="4357467"/>
            <a:ext cx="1812726" cy="7350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Escasa integración tecnológica entre departamentos.</a:t>
            </a:r>
            <a:endParaRPr lang="es-VE" sz="1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2301F2-99E5-DBA1-43F5-CD218D10C37B}"/>
              </a:ext>
            </a:extLst>
          </p:cNvPr>
          <p:cNvSpPr/>
          <p:nvPr/>
        </p:nvSpPr>
        <p:spPr>
          <a:xfrm>
            <a:off x="4536266" y="2884028"/>
            <a:ext cx="3951015" cy="948646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Desorganización y lentitud en los procesos académicos y administrativos de la UPTMKR debido a la falta de una plataforma digital segura e integrada con el sistema institucional.</a:t>
            </a:r>
            <a:endParaRPr lang="es-VE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9CD7DD-D23C-3A8D-2EC1-C785A9029E43}"/>
              </a:ext>
            </a:extLst>
          </p:cNvPr>
          <p:cNvSpPr/>
          <p:nvPr/>
        </p:nvSpPr>
        <p:spPr>
          <a:xfrm>
            <a:off x="2351650" y="1603709"/>
            <a:ext cx="1812730" cy="86516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Retrasos en trámites y servicios académicos.</a:t>
            </a:r>
            <a:endParaRPr lang="es-VE" sz="11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2B3D5E-4ACB-7697-49E9-AEF0E72819A1}"/>
              </a:ext>
            </a:extLst>
          </p:cNvPr>
          <p:cNvSpPr/>
          <p:nvPr/>
        </p:nvSpPr>
        <p:spPr>
          <a:xfrm>
            <a:off x="4600136" y="1612508"/>
            <a:ext cx="1812728" cy="8563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Duplicación de información y pérdida potencial de datos.</a:t>
            </a:r>
            <a:endParaRPr lang="es-VE" sz="11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920BF2-6AF9-DF5B-01B2-8A034CED9354}"/>
              </a:ext>
            </a:extLst>
          </p:cNvPr>
          <p:cNvSpPr/>
          <p:nvPr/>
        </p:nvSpPr>
        <p:spPr>
          <a:xfrm>
            <a:off x="6876757" y="1624029"/>
            <a:ext cx="1812727" cy="8563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Sobrecarga del personal administrativo y docente.</a:t>
            </a:r>
            <a:endParaRPr lang="es-VE" sz="11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AD68CE-C713-D161-FA0C-B78749FB7F89}"/>
              </a:ext>
            </a:extLst>
          </p:cNvPr>
          <p:cNvSpPr/>
          <p:nvPr/>
        </p:nvSpPr>
        <p:spPr>
          <a:xfrm>
            <a:off x="9129649" y="1612508"/>
            <a:ext cx="1812727" cy="8563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Desconfianza en los procesos institucionales.</a:t>
            </a:r>
            <a:endParaRPr lang="es-VE" sz="11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F293B8B-8FAE-6F29-3EDF-E702135C4759}"/>
              </a:ext>
            </a:extLst>
          </p:cNvPr>
          <p:cNvSpPr/>
          <p:nvPr/>
        </p:nvSpPr>
        <p:spPr>
          <a:xfrm>
            <a:off x="3266293" y="319158"/>
            <a:ext cx="1812730" cy="8880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Disminución de la eficiencia universitaria.</a:t>
            </a:r>
            <a:endParaRPr lang="es-VE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D0F9A5-965D-3CEF-61DE-E60B321C011B}"/>
              </a:ext>
            </a:extLst>
          </p:cNvPr>
          <p:cNvSpPr/>
          <p:nvPr/>
        </p:nvSpPr>
        <p:spPr>
          <a:xfrm>
            <a:off x="5700853" y="334983"/>
            <a:ext cx="1812729" cy="8563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Imagen institucional vulnerable ante la comunidad.</a:t>
            </a:r>
            <a:endParaRPr lang="es-VE" sz="11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8CC23A-D42E-C6C9-06AE-81F3ABEE7064}"/>
              </a:ext>
            </a:extLst>
          </p:cNvPr>
          <p:cNvSpPr/>
          <p:nvPr/>
        </p:nvSpPr>
        <p:spPr>
          <a:xfrm>
            <a:off x="8054565" y="319157"/>
            <a:ext cx="1812728" cy="85637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Dificultad para implementar políticas de digitalización.</a:t>
            </a:r>
            <a:endParaRPr lang="es-VE" sz="11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460885-AE8A-4B7D-6493-91CAF54E4AFD}"/>
              </a:ext>
            </a:extLst>
          </p:cNvPr>
          <p:cNvSpPr/>
          <p:nvPr/>
        </p:nvSpPr>
        <p:spPr>
          <a:xfrm>
            <a:off x="3174659" y="5744056"/>
            <a:ext cx="1805939" cy="73503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Infraestructura tecnológica limitada.</a:t>
            </a:r>
            <a:endParaRPr lang="es-VE" sz="11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670F19-511F-DDC6-1500-09B5A0D43F3B}"/>
              </a:ext>
            </a:extLst>
          </p:cNvPr>
          <p:cNvSpPr/>
          <p:nvPr/>
        </p:nvSpPr>
        <p:spPr>
          <a:xfrm>
            <a:off x="5596596" y="5744055"/>
            <a:ext cx="1711908" cy="73503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Falta de políticas estables de innovación institucional.</a:t>
            </a:r>
            <a:endParaRPr lang="es-VE" sz="11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60C0E4E-EADC-F3ED-4B0F-F39CA62BB7CD}"/>
              </a:ext>
            </a:extLst>
          </p:cNvPr>
          <p:cNvSpPr/>
          <p:nvPr/>
        </p:nvSpPr>
        <p:spPr>
          <a:xfrm>
            <a:off x="7924502" y="5744055"/>
            <a:ext cx="1812726" cy="70338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Escasez de personal especializado en seguridad informática.</a:t>
            </a:r>
            <a:endParaRPr lang="es-VE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3DAC38-9A4E-F4E5-5F7F-5831016CC6CF}"/>
              </a:ext>
            </a:extLst>
          </p:cNvPr>
          <p:cNvSpPr txBox="1"/>
          <p:nvPr/>
        </p:nvSpPr>
        <p:spPr>
          <a:xfrm>
            <a:off x="731958" y="578503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Efectos indirectos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C37431-1685-5452-6C16-03191D62B15A}"/>
              </a:ext>
            </a:extLst>
          </p:cNvPr>
          <p:cNvSpPr txBox="1"/>
          <p:nvPr/>
        </p:nvSpPr>
        <p:spPr>
          <a:xfrm>
            <a:off x="608134" y="5816394"/>
            <a:ext cx="2212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Causas indirectas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FCF142-8E25-2F54-8012-6FCFB8A6CE1B}"/>
              </a:ext>
            </a:extLst>
          </p:cNvPr>
          <p:cNvSpPr txBox="1"/>
          <p:nvPr/>
        </p:nvSpPr>
        <p:spPr>
          <a:xfrm>
            <a:off x="123261" y="1979407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Efectos directos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4FDC621-C9E2-73B1-96B4-C29B4112519C}"/>
              </a:ext>
            </a:extLst>
          </p:cNvPr>
          <p:cNvSpPr txBox="1"/>
          <p:nvPr/>
        </p:nvSpPr>
        <p:spPr>
          <a:xfrm>
            <a:off x="123261" y="4509261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Causas directas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ED5F8D-FA4A-51B0-5B22-8C02CE578275}"/>
              </a:ext>
            </a:extLst>
          </p:cNvPr>
          <p:cNvSpPr txBox="1"/>
          <p:nvPr/>
        </p:nvSpPr>
        <p:spPr>
          <a:xfrm>
            <a:off x="2283898" y="3120429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Problema central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2EBA9E5-37C1-E346-6173-4389E8F8A89C}"/>
              </a:ext>
            </a:extLst>
          </p:cNvPr>
          <p:cNvCxnSpPr>
            <a:stCxn id="14" idx="2"/>
            <a:endCxn id="10" idx="0"/>
          </p:cNvCxnSpPr>
          <p:nvPr/>
        </p:nvCxnSpPr>
        <p:spPr>
          <a:xfrm flipH="1">
            <a:off x="3258015" y="1207180"/>
            <a:ext cx="914643" cy="3965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76655A4-A8FF-F16C-8F30-BC5DD6F33A6E}"/>
              </a:ext>
            </a:extLst>
          </p:cNvPr>
          <p:cNvCxnSpPr>
            <a:stCxn id="14" idx="2"/>
            <a:endCxn id="11" idx="0"/>
          </p:cNvCxnSpPr>
          <p:nvPr/>
        </p:nvCxnSpPr>
        <p:spPr>
          <a:xfrm>
            <a:off x="4172658" y="1207180"/>
            <a:ext cx="1333842" cy="40532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598F416-6C32-52F2-AA0D-8BE1B7BAC0B8}"/>
              </a:ext>
            </a:extLst>
          </p:cNvPr>
          <p:cNvCxnSpPr>
            <a:stCxn id="15" idx="2"/>
            <a:endCxn id="11" idx="0"/>
          </p:cNvCxnSpPr>
          <p:nvPr/>
        </p:nvCxnSpPr>
        <p:spPr>
          <a:xfrm flipH="1">
            <a:off x="5506500" y="1191354"/>
            <a:ext cx="1100718" cy="42115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00FBEA8-C9B5-A182-482C-BBBC34CB9DB5}"/>
              </a:ext>
            </a:extLst>
          </p:cNvPr>
          <p:cNvCxnSpPr>
            <a:stCxn id="15" idx="2"/>
            <a:endCxn id="12" idx="0"/>
          </p:cNvCxnSpPr>
          <p:nvPr/>
        </p:nvCxnSpPr>
        <p:spPr>
          <a:xfrm>
            <a:off x="6607218" y="1191354"/>
            <a:ext cx="1175903" cy="4326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780EDAF-60EE-242B-F0E4-293424AA0242}"/>
              </a:ext>
            </a:extLst>
          </p:cNvPr>
          <p:cNvCxnSpPr>
            <a:stCxn id="16" idx="2"/>
            <a:endCxn id="12" idx="0"/>
          </p:cNvCxnSpPr>
          <p:nvPr/>
        </p:nvCxnSpPr>
        <p:spPr>
          <a:xfrm flipH="1">
            <a:off x="7783121" y="1175528"/>
            <a:ext cx="1177808" cy="44850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0563FA4-6C75-A97F-57BF-EBFBD3E1A12A}"/>
              </a:ext>
            </a:extLst>
          </p:cNvPr>
          <p:cNvCxnSpPr>
            <a:stCxn id="16" idx="2"/>
            <a:endCxn id="13" idx="0"/>
          </p:cNvCxnSpPr>
          <p:nvPr/>
        </p:nvCxnSpPr>
        <p:spPr>
          <a:xfrm>
            <a:off x="8960929" y="1175528"/>
            <a:ext cx="1075084" cy="43698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9806619-9451-7320-F2B7-05DE5B133E44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3258015" y="2468878"/>
            <a:ext cx="3253759" cy="41515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564E4CC5-91F5-8DC8-02F9-3A6C1BEE7B05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5506500" y="2468879"/>
            <a:ext cx="1005274" cy="4151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3D27925-2550-D069-BFBD-0A412A4ACFF7}"/>
              </a:ext>
            </a:extLst>
          </p:cNvPr>
          <p:cNvCxnSpPr>
            <a:stCxn id="12" idx="2"/>
            <a:endCxn id="9" idx="0"/>
          </p:cNvCxnSpPr>
          <p:nvPr/>
        </p:nvCxnSpPr>
        <p:spPr>
          <a:xfrm flipH="1">
            <a:off x="6511774" y="2480399"/>
            <a:ext cx="1271347" cy="4036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860389C-2451-BF6C-31CF-50C056E0658A}"/>
              </a:ext>
            </a:extLst>
          </p:cNvPr>
          <p:cNvCxnSpPr>
            <a:stCxn id="13" idx="2"/>
            <a:endCxn id="9" idx="0"/>
          </p:cNvCxnSpPr>
          <p:nvPr/>
        </p:nvCxnSpPr>
        <p:spPr>
          <a:xfrm flipH="1">
            <a:off x="6511774" y="2468879"/>
            <a:ext cx="3524239" cy="4151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5782AB5-A203-1E87-6473-3B5DCF4B89B5}"/>
              </a:ext>
            </a:extLst>
          </p:cNvPr>
          <p:cNvCxnSpPr>
            <a:stCxn id="9" idx="2"/>
            <a:endCxn id="5" idx="0"/>
          </p:cNvCxnSpPr>
          <p:nvPr/>
        </p:nvCxnSpPr>
        <p:spPr>
          <a:xfrm flipH="1">
            <a:off x="3171264" y="3832674"/>
            <a:ext cx="3340510" cy="46267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1D31DEF6-930B-0B4D-7F5B-507AC5D1F418}"/>
              </a:ext>
            </a:extLst>
          </p:cNvPr>
          <p:cNvCxnSpPr>
            <a:stCxn id="9" idx="2"/>
            <a:endCxn id="6" idx="0"/>
          </p:cNvCxnSpPr>
          <p:nvPr/>
        </p:nvCxnSpPr>
        <p:spPr>
          <a:xfrm flipH="1">
            <a:off x="5407269" y="3832674"/>
            <a:ext cx="1104505" cy="524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B7713C4-0D0A-2994-EB6A-C8A459C6C49A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6511774" y="3832674"/>
            <a:ext cx="1220937" cy="524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0408F12-1223-12A6-1704-DF0910323BE8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6511774" y="3832674"/>
            <a:ext cx="3336952" cy="52479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0DA2F07-30F7-18A5-7D24-1244161C22EB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3171264" y="5092505"/>
            <a:ext cx="906365" cy="651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1E02697B-BBF0-FE8B-F046-226B18923B78}"/>
              </a:ext>
            </a:extLst>
          </p:cNvPr>
          <p:cNvCxnSpPr>
            <a:cxnSpLocks/>
            <a:stCxn id="17" idx="0"/>
            <a:endCxn id="6" idx="2"/>
          </p:cNvCxnSpPr>
          <p:nvPr/>
        </p:nvCxnSpPr>
        <p:spPr>
          <a:xfrm flipV="1">
            <a:off x="4077629" y="5092504"/>
            <a:ext cx="1329640" cy="65155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2EDEB47C-F6FE-39E4-6FA5-FE0763457957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5407269" y="5092504"/>
            <a:ext cx="1045281" cy="651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C74C561-8E39-78E7-AC3A-B8C1A4C2DB5F}"/>
              </a:ext>
            </a:extLst>
          </p:cNvPr>
          <p:cNvCxnSpPr>
            <a:stCxn id="18" idx="0"/>
            <a:endCxn id="7" idx="2"/>
          </p:cNvCxnSpPr>
          <p:nvPr/>
        </p:nvCxnSpPr>
        <p:spPr>
          <a:xfrm flipV="1">
            <a:off x="6452550" y="5092504"/>
            <a:ext cx="1280161" cy="651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CB3FE804-148D-3B63-6F99-3ACF357B9170}"/>
              </a:ext>
            </a:extLst>
          </p:cNvPr>
          <p:cNvCxnSpPr>
            <a:stCxn id="7" idx="2"/>
            <a:endCxn id="19" idx="0"/>
          </p:cNvCxnSpPr>
          <p:nvPr/>
        </p:nvCxnSpPr>
        <p:spPr>
          <a:xfrm>
            <a:off x="7732711" y="5092504"/>
            <a:ext cx="1098154" cy="651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1F3BE3F5-0ED8-66BF-58C4-6589C06C97CA}"/>
              </a:ext>
            </a:extLst>
          </p:cNvPr>
          <p:cNvCxnSpPr>
            <a:stCxn id="19" idx="0"/>
            <a:endCxn id="8" idx="2"/>
          </p:cNvCxnSpPr>
          <p:nvPr/>
        </p:nvCxnSpPr>
        <p:spPr>
          <a:xfrm flipV="1">
            <a:off x="8830865" y="5092504"/>
            <a:ext cx="1017861" cy="6515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95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815B850-5D89-9BE7-434D-07CED17AD2D9}"/>
              </a:ext>
            </a:extLst>
          </p:cNvPr>
          <p:cNvSpPr/>
          <p:nvPr/>
        </p:nvSpPr>
        <p:spPr>
          <a:xfrm>
            <a:off x="2264899" y="4295350"/>
            <a:ext cx="1812730" cy="79715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Reducción de tiempos en los procesos académicos y administrativos.</a:t>
            </a:r>
            <a:endParaRPr lang="es-VE" sz="110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7329691-9D25-8C83-47D9-D678FCE122BF}"/>
              </a:ext>
            </a:extLst>
          </p:cNvPr>
          <p:cNvSpPr/>
          <p:nvPr/>
        </p:nvSpPr>
        <p:spPr>
          <a:xfrm>
            <a:off x="4424875" y="4357467"/>
            <a:ext cx="1964788" cy="735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Protección y respaldo de los datos institucionales.</a:t>
            </a:r>
            <a:endParaRPr lang="es-VE" sz="110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1849AD6-DAD8-5A39-86D8-6655BB5F387F}"/>
              </a:ext>
            </a:extLst>
          </p:cNvPr>
          <p:cNvSpPr/>
          <p:nvPr/>
        </p:nvSpPr>
        <p:spPr>
          <a:xfrm>
            <a:off x="6876757" y="4357467"/>
            <a:ext cx="1711908" cy="735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Mejora de la comunicación y la eficiencia institucional.</a:t>
            </a:r>
            <a:endParaRPr lang="es-VE" sz="110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BC11962-E9A7-648A-53C7-4195DB1FD943}"/>
              </a:ext>
            </a:extLst>
          </p:cNvPr>
          <p:cNvSpPr/>
          <p:nvPr/>
        </p:nvSpPr>
        <p:spPr>
          <a:xfrm>
            <a:off x="8942363" y="4357467"/>
            <a:ext cx="1812726" cy="735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b="1" dirty="0"/>
              <a:t>Fortalecimiento de la confianza en los sistemas digitales.</a:t>
            </a:r>
            <a:endParaRPr lang="es-VE" sz="11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F2301F2-99E5-DBA1-43F5-CD218D10C37B}"/>
              </a:ext>
            </a:extLst>
          </p:cNvPr>
          <p:cNvSpPr/>
          <p:nvPr/>
        </p:nvSpPr>
        <p:spPr>
          <a:xfrm>
            <a:off x="4536266" y="2884028"/>
            <a:ext cx="3951015" cy="94864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Optimizar los procesos académicos y administrativos de la UPTMKR mediante la implementación de una plataforma digital segura e integrada con el sistema institucional.</a:t>
            </a:r>
            <a:endParaRPr lang="es-VE" sz="14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69CD7DD-D23C-3A8D-2EC1-C785A9029E43}"/>
              </a:ext>
            </a:extLst>
          </p:cNvPr>
          <p:cNvSpPr/>
          <p:nvPr/>
        </p:nvSpPr>
        <p:spPr>
          <a:xfrm>
            <a:off x="2351650" y="1603709"/>
            <a:ext cx="1812730" cy="86516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Digitalizar y automatizar los procesos académicos y administrativos.</a:t>
            </a:r>
            <a:endParaRPr lang="es-VE" sz="11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72B3D5E-4ACB-7697-49E9-AEF0E72819A1}"/>
              </a:ext>
            </a:extLst>
          </p:cNvPr>
          <p:cNvSpPr/>
          <p:nvPr/>
        </p:nvSpPr>
        <p:spPr>
          <a:xfrm>
            <a:off x="4600136" y="1612508"/>
            <a:ext cx="1812728" cy="8563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Fortalecer la comunicación entre estudiantes, profesores y personal administrativo.</a:t>
            </a:r>
            <a:endParaRPr lang="es-VE" sz="1100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920BF2-6AF9-DF5B-01B2-8A034CED9354}"/>
              </a:ext>
            </a:extLst>
          </p:cNvPr>
          <p:cNvSpPr/>
          <p:nvPr/>
        </p:nvSpPr>
        <p:spPr>
          <a:xfrm>
            <a:off x="6876757" y="1624029"/>
            <a:ext cx="1812727" cy="85637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Implementar una arquitectura de seguridad y base de datos mixta que permita conexión externa segura.</a:t>
            </a:r>
            <a:endParaRPr lang="es-VE" sz="1100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AD68CE-C713-D161-FA0C-B78749FB7F89}"/>
              </a:ext>
            </a:extLst>
          </p:cNvPr>
          <p:cNvSpPr/>
          <p:nvPr/>
        </p:nvSpPr>
        <p:spPr>
          <a:xfrm>
            <a:off x="9129649" y="1612508"/>
            <a:ext cx="1812727" cy="8563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Desarrollar una política de interoperabilidad tecnológica entre departamentos.</a:t>
            </a:r>
            <a:endParaRPr lang="es-VE" sz="1100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F293B8B-8FAE-6F29-3EDF-E702135C4759}"/>
              </a:ext>
            </a:extLst>
          </p:cNvPr>
          <p:cNvSpPr/>
          <p:nvPr/>
        </p:nvSpPr>
        <p:spPr>
          <a:xfrm>
            <a:off x="3266293" y="319158"/>
            <a:ext cx="1812730" cy="88802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Mejorar la infraestructura digital universitaria.</a:t>
            </a:r>
            <a:endParaRPr lang="es-VE" sz="11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D0F9A5-965D-3CEF-61DE-E60B321C011B}"/>
              </a:ext>
            </a:extLst>
          </p:cNvPr>
          <p:cNvSpPr/>
          <p:nvPr/>
        </p:nvSpPr>
        <p:spPr>
          <a:xfrm>
            <a:off x="5700853" y="334983"/>
            <a:ext cx="1812729" cy="8563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Capacitar al personal técnico y administrativo en seguridad y uso del sistema.</a:t>
            </a:r>
            <a:endParaRPr lang="es-VE" sz="11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B8CC23A-D42E-C6C9-06AE-81F3ABEE7064}"/>
              </a:ext>
            </a:extLst>
          </p:cNvPr>
          <p:cNvSpPr/>
          <p:nvPr/>
        </p:nvSpPr>
        <p:spPr>
          <a:xfrm>
            <a:off x="8054565" y="319157"/>
            <a:ext cx="1812728" cy="85637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Promover políticas institucionales de innovación y transformación digital.</a:t>
            </a:r>
            <a:endParaRPr lang="es-VE" sz="110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8460885-AE8A-4B7D-6493-91CAF54E4AFD}"/>
              </a:ext>
            </a:extLst>
          </p:cNvPr>
          <p:cNvSpPr/>
          <p:nvPr/>
        </p:nvSpPr>
        <p:spPr>
          <a:xfrm>
            <a:off x="3174659" y="5744056"/>
            <a:ext cx="1805939" cy="73503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Consolidación de la UPTMKR como universidad digital segura y moderna.</a:t>
            </a:r>
            <a:endParaRPr lang="es-VE" sz="110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D670F19-511F-DDC6-1500-09B5A0D43F3B}"/>
              </a:ext>
            </a:extLst>
          </p:cNvPr>
          <p:cNvSpPr/>
          <p:nvPr/>
        </p:nvSpPr>
        <p:spPr>
          <a:xfrm>
            <a:off x="5596596" y="5744055"/>
            <a:ext cx="1711908" cy="73503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 dirty="0"/>
              <a:t>Incremento de la participación universitaria en entornos tecnológicos.</a:t>
            </a:r>
            <a:endParaRPr lang="es-VE" sz="1100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660C0E4E-EADC-F3ED-4B0F-F39CA62BB7CD}"/>
              </a:ext>
            </a:extLst>
          </p:cNvPr>
          <p:cNvSpPr/>
          <p:nvPr/>
        </p:nvSpPr>
        <p:spPr>
          <a:xfrm>
            <a:off x="7924502" y="5744055"/>
            <a:ext cx="1812726" cy="7033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100"/>
              <a:t>Revalorización institucional por innovación tecnológica responsable.</a:t>
            </a:r>
            <a:endParaRPr lang="es-VE" sz="11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93DAC38-9A4E-F4E5-5F7F-5831016CC6CF}"/>
              </a:ext>
            </a:extLst>
          </p:cNvPr>
          <p:cNvSpPr txBox="1"/>
          <p:nvPr/>
        </p:nvSpPr>
        <p:spPr>
          <a:xfrm>
            <a:off x="731958" y="578503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Medios indirectos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DC37431-1685-5452-6C16-03191D62B15A}"/>
              </a:ext>
            </a:extLst>
          </p:cNvPr>
          <p:cNvSpPr txBox="1"/>
          <p:nvPr/>
        </p:nvSpPr>
        <p:spPr>
          <a:xfrm>
            <a:off x="608134" y="5816394"/>
            <a:ext cx="2212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Fines indirectos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FCF142-8E25-2F54-8012-6FCFB8A6CE1B}"/>
              </a:ext>
            </a:extLst>
          </p:cNvPr>
          <p:cNvSpPr txBox="1"/>
          <p:nvPr/>
        </p:nvSpPr>
        <p:spPr>
          <a:xfrm>
            <a:off x="123261" y="1979407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Medios directos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4FDC621-C9E2-73B1-96B4-C29B4112519C}"/>
              </a:ext>
            </a:extLst>
          </p:cNvPr>
          <p:cNvSpPr txBox="1"/>
          <p:nvPr/>
        </p:nvSpPr>
        <p:spPr>
          <a:xfrm>
            <a:off x="123261" y="4509261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Fines directos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ED5F8D-FA4A-51B0-5B22-8C02CE578275}"/>
              </a:ext>
            </a:extLst>
          </p:cNvPr>
          <p:cNvSpPr txBox="1"/>
          <p:nvPr/>
        </p:nvSpPr>
        <p:spPr>
          <a:xfrm>
            <a:off x="2283898" y="3120429"/>
            <a:ext cx="196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dirty="0"/>
              <a:t>Objetivo central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2EBA9E5-37C1-E346-6173-4389E8F8A89C}"/>
              </a:ext>
            </a:extLst>
          </p:cNvPr>
          <p:cNvCxnSpPr>
            <a:stCxn id="14" idx="2"/>
            <a:endCxn id="10" idx="0"/>
          </p:cNvCxnSpPr>
          <p:nvPr/>
        </p:nvCxnSpPr>
        <p:spPr>
          <a:xfrm flipH="1">
            <a:off x="3258015" y="1207180"/>
            <a:ext cx="914643" cy="39652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C76655A4-A8FF-F16C-8F30-BC5DD6F33A6E}"/>
              </a:ext>
            </a:extLst>
          </p:cNvPr>
          <p:cNvCxnSpPr>
            <a:stCxn id="14" idx="2"/>
            <a:endCxn id="11" idx="0"/>
          </p:cNvCxnSpPr>
          <p:nvPr/>
        </p:nvCxnSpPr>
        <p:spPr>
          <a:xfrm>
            <a:off x="4172658" y="1207180"/>
            <a:ext cx="1333842" cy="4053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598F416-6C32-52F2-AA0D-8BE1B7BAC0B8}"/>
              </a:ext>
            </a:extLst>
          </p:cNvPr>
          <p:cNvCxnSpPr>
            <a:stCxn id="15" idx="2"/>
            <a:endCxn id="11" idx="0"/>
          </p:cNvCxnSpPr>
          <p:nvPr/>
        </p:nvCxnSpPr>
        <p:spPr>
          <a:xfrm flipH="1">
            <a:off x="5506500" y="1191354"/>
            <a:ext cx="1100718" cy="421154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B00FBEA8-C9B5-A182-482C-BBBC34CB9DB5}"/>
              </a:ext>
            </a:extLst>
          </p:cNvPr>
          <p:cNvCxnSpPr>
            <a:stCxn id="15" idx="2"/>
            <a:endCxn id="12" idx="0"/>
          </p:cNvCxnSpPr>
          <p:nvPr/>
        </p:nvCxnSpPr>
        <p:spPr>
          <a:xfrm>
            <a:off x="6607218" y="1191354"/>
            <a:ext cx="1175903" cy="432675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5780EDAF-60EE-242B-F0E4-293424AA0242}"/>
              </a:ext>
            </a:extLst>
          </p:cNvPr>
          <p:cNvCxnSpPr>
            <a:stCxn id="16" idx="2"/>
            <a:endCxn id="12" idx="0"/>
          </p:cNvCxnSpPr>
          <p:nvPr/>
        </p:nvCxnSpPr>
        <p:spPr>
          <a:xfrm flipH="1">
            <a:off x="7783121" y="1175528"/>
            <a:ext cx="1177808" cy="44850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70563FA4-6C75-A97F-57BF-EBFBD3E1A12A}"/>
              </a:ext>
            </a:extLst>
          </p:cNvPr>
          <p:cNvCxnSpPr>
            <a:stCxn id="16" idx="2"/>
            <a:endCxn id="13" idx="0"/>
          </p:cNvCxnSpPr>
          <p:nvPr/>
        </p:nvCxnSpPr>
        <p:spPr>
          <a:xfrm>
            <a:off x="8960929" y="1175528"/>
            <a:ext cx="1075084" cy="43698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6" name="Conector recto 45">
            <a:extLst>
              <a:ext uri="{FF2B5EF4-FFF2-40B4-BE49-F238E27FC236}">
                <a16:creationId xmlns:a16="http://schemas.microsoft.com/office/drawing/2014/main" id="{29806619-9451-7320-F2B7-05DE5B133E44}"/>
              </a:ext>
            </a:extLst>
          </p:cNvPr>
          <p:cNvCxnSpPr>
            <a:stCxn id="10" idx="2"/>
            <a:endCxn id="9" idx="0"/>
          </p:cNvCxnSpPr>
          <p:nvPr/>
        </p:nvCxnSpPr>
        <p:spPr>
          <a:xfrm>
            <a:off x="3258015" y="2468878"/>
            <a:ext cx="3253759" cy="41515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564E4CC5-91F5-8DC8-02F9-3A6C1BEE7B05}"/>
              </a:ext>
            </a:extLst>
          </p:cNvPr>
          <p:cNvCxnSpPr>
            <a:stCxn id="11" idx="2"/>
            <a:endCxn id="9" idx="0"/>
          </p:cNvCxnSpPr>
          <p:nvPr/>
        </p:nvCxnSpPr>
        <p:spPr>
          <a:xfrm>
            <a:off x="5506500" y="2468879"/>
            <a:ext cx="1005274" cy="41514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D3D27925-2550-D069-BFBD-0A412A4ACFF7}"/>
              </a:ext>
            </a:extLst>
          </p:cNvPr>
          <p:cNvCxnSpPr>
            <a:stCxn id="12" idx="2"/>
            <a:endCxn id="9" idx="0"/>
          </p:cNvCxnSpPr>
          <p:nvPr/>
        </p:nvCxnSpPr>
        <p:spPr>
          <a:xfrm flipH="1">
            <a:off x="6511774" y="2480399"/>
            <a:ext cx="1271347" cy="40362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2" name="Conector recto 51">
            <a:extLst>
              <a:ext uri="{FF2B5EF4-FFF2-40B4-BE49-F238E27FC236}">
                <a16:creationId xmlns:a16="http://schemas.microsoft.com/office/drawing/2014/main" id="{5860389C-2451-BF6C-31CF-50C056E0658A}"/>
              </a:ext>
            </a:extLst>
          </p:cNvPr>
          <p:cNvCxnSpPr>
            <a:stCxn id="13" idx="2"/>
            <a:endCxn id="9" idx="0"/>
          </p:cNvCxnSpPr>
          <p:nvPr/>
        </p:nvCxnSpPr>
        <p:spPr>
          <a:xfrm flipH="1">
            <a:off x="6511774" y="2468879"/>
            <a:ext cx="3524239" cy="41514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B5782AB5-A203-1E87-6473-3B5DCF4B89B5}"/>
              </a:ext>
            </a:extLst>
          </p:cNvPr>
          <p:cNvCxnSpPr>
            <a:stCxn id="9" idx="2"/>
            <a:endCxn id="5" idx="0"/>
          </p:cNvCxnSpPr>
          <p:nvPr/>
        </p:nvCxnSpPr>
        <p:spPr>
          <a:xfrm flipH="1">
            <a:off x="3171264" y="3832674"/>
            <a:ext cx="3340510" cy="46267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1D31DEF6-930B-0B4D-7F5B-507AC5D1F418}"/>
              </a:ext>
            </a:extLst>
          </p:cNvPr>
          <p:cNvCxnSpPr>
            <a:stCxn id="9" idx="2"/>
            <a:endCxn id="6" idx="0"/>
          </p:cNvCxnSpPr>
          <p:nvPr/>
        </p:nvCxnSpPr>
        <p:spPr>
          <a:xfrm flipH="1">
            <a:off x="5407269" y="3832674"/>
            <a:ext cx="1104505" cy="524793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9B7713C4-0D0A-2994-EB6A-C8A459C6C49A}"/>
              </a:ext>
            </a:extLst>
          </p:cNvPr>
          <p:cNvCxnSpPr>
            <a:stCxn id="9" idx="2"/>
            <a:endCxn id="7" idx="0"/>
          </p:cNvCxnSpPr>
          <p:nvPr/>
        </p:nvCxnSpPr>
        <p:spPr>
          <a:xfrm>
            <a:off x="6511774" y="3832674"/>
            <a:ext cx="1220937" cy="524793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0" name="Conector recto 59">
            <a:extLst>
              <a:ext uri="{FF2B5EF4-FFF2-40B4-BE49-F238E27FC236}">
                <a16:creationId xmlns:a16="http://schemas.microsoft.com/office/drawing/2014/main" id="{00408F12-1223-12A6-1704-DF0910323BE8}"/>
              </a:ext>
            </a:extLst>
          </p:cNvPr>
          <p:cNvCxnSpPr>
            <a:stCxn id="9" idx="2"/>
            <a:endCxn id="8" idx="0"/>
          </p:cNvCxnSpPr>
          <p:nvPr/>
        </p:nvCxnSpPr>
        <p:spPr>
          <a:xfrm>
            <a:off x="6511774" y="3832674"/>
            <a:ext cx="3336952" cy="524793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40DA2F07-30F7-18A5-7D24-1244161C22EB}"/>
              </a:ext>
            </a:extLst>
          </p:cNvPr>
          <p:cNvCxnSpPr>
            <a:stCxn id="5" idx="2"/>
            <a:endCxn id="17" idx="0"/>
          </p:cNvCxnSpPr>
          <p:nvPr/>
        </p:nvCxnSpPr>
        <p:spPr>
          <a:xfrm>
            <a:off x="3171264" y="5092505"/>
            <a:ext cx="906365" cy="6515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4" name="Conector recto 63">
            <a:extLst>
              <a:ext uri="{FF2B5EF4-FFF2-40B4-BE49-F238E27FC236}">
                <a16:creationId xmlns:a16="http://schemas.microsoft.com/office/drawing/2014/main" id="{1E02697B-BBF0-FE8B-F046-226B18923B78}"/>
              </a:ext>
            </a:extLst>
          </p:cNvPr>
          <p:cNvCxnSpPr>
            <a:cxnSpLocks/>
            <a:stCxn id="17" idx="0"/>
            <a:endCxn id="6" idx="2"/>
          </p:cNvCxnSpPr>
          <p:nvPr/>
        </p:nvCxnSpPr>
        <p:spPr>
          <a:xfrm flipV="1">
            <a:off x="4077629" y="5092504"/>
            <a:ext cx="1329640" cy="651552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7" name="Conector recto 66">
            <a:extLst>
              <a:ext uri="{FF2B5EF4-FFF2-40B4-BE49-F238E27FC236}">
                <a16:creationId xmlns:a16="http://schemas.microsoft.com/office/drawing/2014/main" id="{2EDEB47C-F6FE-39E4-6FA5-FE0763457957}"/>
              </a:ext>
            </a:extLst>
          </p:cNvPr>
          <p:cNvCxnSpPr>
            <a:stCxn id="6" idx="2"/>
            <a:endCxn id="18" idx="0"/>
          </p:cNvCxnSpPr>
          <p:nvPr/>
        </p:nvCxnSpPr>
        <p:spPr>
          <a:xfrm>
            <a:off x="5407269" y="5092504"/>
            <a:ext cx="1045281" cy="6515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DC74C561-8E39-78E7-AC3A-B8C1A4C2DB5F}"/>
              </a:ext>
            </a:extLst>
          </p:cNvPr>
          <p:cNvCxnSpPr>
            <a:stCxn id="18" idx="0"/>
            <a:endCxn id="7" idx="2"/>
          </p:cNvCxnSpPr>
          <p:nvPr/>
        </p:nvCxnSpPr>
        <p:spPr>
          <a:xfrm flipV="1">
            <a:off x="6452550" y="5092504"/>
            <a:ext cx="1280161" cy="6515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CB3FE804-148D-3B63-6F99-3ACF357B9170}"/>
              </a:ext>
            </a:extLst>
          </p:cNvPr>
          <p:cNvCxnSpPr>
            <a:stCxn id="7" idx="2"/>
            <a:endCxn id="19" idx="0"/>
          </p:cNvCxnSpPr>
          <p:nvPr/>
        </p:nvCxnSpPr>
        <p:spPr>
          <a:xfrm>
            <a:off x="7732711" y="5092504"/>
            <a:ext cx="1098154" cy="6515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3" name="Conector recto 72">
            <a:extLst>
              <a:ext uri="{FF2B5EF4-FFF2-40B4-BE49-F238E27FC236}">
                <a16:creationId xmlns:a16="http://schemas.microsoft.com/office/drawing/2014/main" id="{1F3BE3F5-0ED8-66BF-58C4-6589C06C97CA}"/>
              </a:ext>
            </a:extLst>
          </p:cNvPr>
          <p:cNvCxnSpPr>
            <a:stCxn id="19" idx="0"/>
            <a:endCxn id="8" idx="2"/>
          </p:cNvCxnSpPr>
          <p:nvPr/>
        </p:nvCxnSpPr>
        <p:spPr>
          <a:xfrm flipV="1">
            <a:off x="8830865" y="5092504"/>
            <a:ext cx="1017861" cy="651551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58602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314</Words>
  <Application>Microsoft Office PowerPoint</Application>
  <PresentationFormat>Panorámica</PresentationFormat>
  <Paragraphs>40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Angel Peña</dc:creator>
  <cp:lastModifiedBy>Angel Peña</cp:lastModifiedBy>
  <cp:revision>6</cp:revision>
  <dcterms:created xsi:type="dcterms:W3CDTF">2025-10-16T02:42:20Z</dcterms:created>
  <dcterms:modified xsi:type="dcterms:W3CDTF">2025-10-16T23:36:17Z</dcterms:modified>
</cp:coreProperties>
</file>