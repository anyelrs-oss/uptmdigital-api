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31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E024D65-2AEC-D7E6-5413-FB6A5A77E8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709027-B064-8135-E2E3-C866986417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8C624-C61D-4236-A321-CD11B111519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89094-EB02-0EEC-C977-42C6F64705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49C231-77E5-44E4-BE1F-CBCE76D0BD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E6232-8FAB-4D04-A444-E3CEAD01D2E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39118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F2397-037C-97FC-2D44-5B26FE161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8D699D-9918-AC6A-FA05-0070D3235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9A5CAF-724B-8A77-103C-71268501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942C3-7441-44A1-36FA-51CB7ADE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51A01-31C9-C928-A4E2-FFE6ECC0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747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56CDC-A453-22F0-EA7F-028DEE49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ED15F-8E26-F487-0BA3-828B7082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A04A0-4C49-EF36-53DE-540B212B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EEC398-DCE1-BC6F-2C53-707D8D6F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B4492F-9ED4-65A7-986F-F6C6E368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7603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9EC23-61DC-9CC8-10A8-54FD08EA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7071B0-3EC6-2EDA-9D15-04A30A1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B5A28-077D-6AFA-2854-2CBD289F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E0A27-C015-A526-51FB-82E65F63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7CD512-604E-F337-59F5-CF1065B9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6827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BE8DB-F857-954D-14CE-73C8428B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C9433-4F95-923B-CAB0-8384B3B41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F1DEC7-B5FA-48BB-E309-27D8C69F6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429E9B-79E7-DB16-51B2-82106B3B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717B3A-B747-2538-FFCE-6356D59D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930F28-C569-0936-3BBF-1F895D37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1806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4184C-01BA-CE61-03B5-64344009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071F5-29F6-2526-C7D3-7B1113C03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A9E6E7-1CED-A479-2253-5DA9FD510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3FCA8B-5CC1-4C4E-9860-A15AFA815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5BB25E-D18E-BDA1-B0E8-7EEBB196B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87810-46E4-4688-52D3-D8F3AD78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9A83E6-5FC1-03BC-B6A6-1CAA6BE5B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4072A7-75AB-DD14-2989-196B7C60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5316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197E5-AF92-FABC-5D61-9DF8ABCF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BF1FD-A632-821C-555E-AB83C275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8944F4-393F-2FE4-D80B-755C1C0F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79910C-74BD-98F9-591F-EBC3CE88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636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CFF359-6DD6-75D5-99E4-CA479D01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B288D9-C58D-595D-9641-59B94AE9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B9A060-ED22-D68B-B3A0-52208B60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9561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F8770-05EF-968C-AC81-50FE0F2E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9AECF-3D7B-69B3-D9C2-8C696A253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313CF3-3EB3-E7A5-82E5-5EEBBA53B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FEF479-FD8F-B0E8-0163-F1EDA03B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D6D4EE-9F91-BCAC-C207-4F3DCE7F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7BA3CD-749D-D2CA-FD27-06FC4EB6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4188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66597-CE71-1E60-537C-0964BC41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69DBF7-A4AB-BF08-01F8-C0B7219B1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F48733-755B-3442-BA1B-71580BC54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B64087-4010-D471-7336-1984B800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CBA64-0445-50EF-5272-B5D6F933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64398F-3008-09B5-1C06-A2D10398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321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E7617-3E00-F896-FB46-3D720D93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FD2B35-74E2-5D64-5546-02D1C0C9A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97BB5-CAD6-B84F-3ECB-971D0833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C7C020-B3B2-094B-A235-3BFFB681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0A5507-E3EB-9D34-A893-9C4B835A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3785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920B51-2C40-F95F-C64C-755B63475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D90A5E-DCA6-8CC3-0D8C-3805511FB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057CFB-271A-B3DD-7F4B-FEEBE325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25166A-18C7-73DF-62E8-79C0DBFC3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59CB42-7472-A6DB-31E0-C955800B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3122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018F2A-574C-0420-40EB-741B67DC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CC2706-3CC7-9372-2454-E41B0D33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C1BEB-2DE9-F602-342F-C4FFFBF00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213B4-5CB9-4165-A9C0-3B6851CDE947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70A19-1FB8-66D1-3809-C9670F30A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E25A0-5FEB-21B9-2B54-D2B3C5790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F10D8-3B86-4AD2-AB6D-C5E8005FE6E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1869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20F73D0-6E5A-C745-78E7-A3D03B034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414609"/>
              </p:ext>
            </p:extLst>
          </p:nvPr>
        </p:nvGraphicFramePr>
        <p:xfrm>
          <a:off x="317653" y="105085"/>
          <a:ext cx="11556693" cy="6447511"/>
        </p:xfrm>
        <a:graphic>
          <a:graphicData uri="http://schemas.openxmlformats.org/drawingml/2006/table">
            <a:tbl>
              <a:tblPr firstRow="1" bandRow="1">
                <a:solidFill>
                  <a:srgbClr val="F46C7F"/>
                </a:solidFill>
                <a:tableStyleId>{5940675A-B579-460E-94D1-54222C63F5DA}</a:tableStyleId>
              </a:tblPr>
              <a:tblGrid>
                <a:gridCol w="3852231">
                  <a:extLst>
                    <a:ext uri="{9D8B030D-6E8A-4147-A177-3AD203B41FA5}">
                      <a16:colId xmlns:a16="http://schemas.microsoft.com/office/drawing/2014/main" val="1881342013"/>
                    </a:ext>
                  </a:extLst>
                </a:gridCol>
                <a:gridCol w="3852231">
                  <a:extLst>
                    <a:ext uri="{9D8B030D-6E8A-4147-A177-3AD203B41FA5}">
                      <a16:colId xmlns:a16="http://schemas.microsoft.com/office/drawing/2014/main" val="2659164843"/>
                    </a:ext>
                  </a:extLst>
                </a:gridCol>
                <a:gridCol w="3852231">
                  <a:extLst>
                    <a:ext uri="{9D8B030D-6E8A-4147-A177-3AD203B41FA5}">
                      <a16:colId xmlns:a16="http://schemas.microsoft.com/office/drawing/2014/main" val="2022975496"/>
                    </a:ext>
                  </a:extLst>
                </a:gridCol>
              </a:tblGrid>
              <a:tr h="2216085">
                <a:tc>
                  <a:txBody>
                    <a:bodyPr/>
                    <a:lstStyle/>
                    <a:p>
                      <a:pPr algn="ctr"/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Fortalezas (F)</a:t>
                      </a:r>
                    </a:p>
                    <a:p>
                      <a:endParaRPr lang="es-ES" sz="11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Participación activa del Departamento DARE como tutor comunitario y respaldo institucional directo.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Integración de una arquitectura de base de datos mixta que refuerza la seguridad y confiabilidad del sistema.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Equipo desarrollador conformado por estudiantes de Ingeniería en Sistemas con conocimientos en programación, modelado y gestión de bases de datos.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Diseño modular que permite ampliar progresivamente las funciones (inscripción, consulta de notas, carnet QR, carga docente).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Coordinación entre materias afines para fortalecer la metodología de desarrollo.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Debilidades (D) </a:t>
                      </a:r>
                    </a:p>
                    <a:p>
                      <a:endParaRPr lang="es-ES" sz="11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Recursos tecnológicos limitados para la implementación del prototipo en su versión completa.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conectividad estable en algunos sectores donde estudian los usuarios.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Dependencia inicial del soporte técnico del DARE para la sincronización con el sistema interno.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 académico limitado para la validación completa de todos los módulos.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presupuesto para la adquisición de servidores dedicados o certificados de seguridad externos.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579367"/>
                  </a:ext>
                </a:extLst>
              </a:tr>
              <a:tr h="2048070"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Oportunidades (O) </a:t>
                      </a:r>
                    </a:p>
                    <a:p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Creciente interés institucional por digitalizar los procesos académicos y administrativos.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Disponibilidad de nuevas tecnologías de desarrollo web y móvil que facilitan la implementación del sistema.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Posibilidad de conexión externa al sistema, permitiendo a estudiantes y docentes acceder desde cualquier lugar.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Interés de la comunidad universitaria en participar en pruebas piloto y adoptar herramientas tecnológicas.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Existencia de políticas nacionales que promueven la transformación digital en la educación universitaria.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Estrategias FO </a:t>
                      </a:r>
                    </a:p>
                    <a:p>
                      <a:pPr marL="0" indent="0" algn="l">
                        <a:buNone/>
                      </a:pP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Aprovechar el apoyo institucional del DARE (F1) para implementar módulos progresivamente con tecnología actual (O2). </a:t>
                      </a: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Usar la arquitectura mixta (F2) para impulsar la digitalización académica (O1, O3).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Estrategias DO</a:t>
                      </a:r>
                    </a:p>
                    <a:p>
                      <a:pPr marL="0" indent="0" algn="l">
                        <a:buNone/>
                      </a:pP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Compensar la falta de recursos (D1) mediante alianzas con departamentos tecnológicos y programas académicos (O5). </a:t>
                      </a: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Implementar fases de desarrollo ligeras para validar el sistema aun con limitaciones de tiempo (D4, O4).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128759"/>
                  </a:ext>
                </a:extLst>
              </a:tr>
              <a:tr h="2052481"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 Black" panose="020B0A04020102020204" pitchFamily="34" charset="0"/>
                        </a:rPr>
                        <a:t>Amenazas (A) </a:t>
                      </a:r>
                    </a:p>
                    <a:p>
                      <a:endParaRPr lang="es-ES" sz="1100" dirty="0">
                        <a:latin typeface="Arial Black" panose="020B0A04020102020204" pitchFamily="34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Posibles ataques cibernéticos o brechas de seguridad en la conexión entre sistemas.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Resistencia al cambio por parte de algunos docentes o personal administrativo.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Fallas eléctricas o de infraestructura que puedan interrumpir la operatividad del sistema.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Cambios en las políticas o lineamientos institucionales que retrasen la integración del sistema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ES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Competencia o duplicación de iniciativas tecnológicas dentro de la misma institución.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Estrategias FA</a:t>
                      </a:r>
                    </a:p>
                    <a:p>
                      <a:pPr marL="0" indent="0" algn="l">
                        <a:buNone/>
                      </a:pP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Usar la seguridad de la arquitectura mixta (F2) para minimizar riesgos de ciberataques (A1). </a:t>
                      </a: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Reforzar la capacitación institucional (F5) para contrarrestar la resistencia al cambio (A2).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Estrategias DA</a:t>
                      </a:r>
                    </a:p>
                    <a:p>
                      <a:pPr marL="0" indent="0" algn="l">
                        <a:buNone/>
                      </a:pP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Elaborar planes de contingencia ante fallas de conectividad o energía (D2, A3). </a:t>
                      </a:r>
                    </a:p>
                    <a:p>
                      <a:pPr marL="228600" indent="-228600" algn="l">
                        <a:buFont typeface="+mj-lt"/>
                        <a:buAutoNum type="arabicPeriod"/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Promover la sostenibilidad del proyecto mediante respaldo institucional y actualización constante (D3, A4).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6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01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456</Words>
  <Application>Microsoft Office PowerPoint</Application>
  <PresentationFormat>Panorámica</PresentationFormat>
  <Paragraphs>46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Peña</dc:creator>
  <cp:lastModifiedBy>Angel Peña</cp:lastModifiedBy>
  <cp:revision>3</cp:revision>
  <dcterms:created xsi:type="dcterms:W3CDTF">2025-10-14T23:45:20Z</dcterms:created>
  <dcterms:modified xsi:type="dcterms:W3CDTF">2025-10-16T23:57:51Z</dcterms:modified>
</cp:coreProperties>
</file>