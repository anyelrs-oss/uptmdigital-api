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Gilda Display" charset="1" panose="02000000000000000000"/>
      <p:regular r:id="rId17"/>
    </p:embeddedFont>
    <p:embeddedFont>
      <p:font typeface="HK Grotesk Light" charset="1" panose="00000400000000000000"/>
      <p:regular r:id="rId18"/>
    </p:embeddedFont>
    <p:embeddedFont>
      <p:font typeface="HK Grotesk Bold" charset="1" panose="00000800000000000000"/>
      <p:regular r:id="rId19"/>
    </p:embeddedFont>
    <p:embeddedFont>
      <p:font typeface="HK Grotesk" charset="1" panose="000005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embeddings/oleObject1.bin" Type="http://schemas.openxmlformats.org/officeDocument/2006/relationships/oleObjec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11225" y="6787402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666750" y="666750"/>
            <a:ext cx="8629650" cy="8953500"/>
            <a:chOff x="0" y="0"/>
            <a:chExt cx="1336959" cy="13871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36959" cy="1387131"/>
            </a:xfrm>
            <a:custGeom>
              <a:avLst/>
              <a:gdLst/>
              <a:ahLst/>
              <a:cxnLst/>
              <a:rect r="r" b="b" t="t" l="l"/>
              <a:pathLst>
                <a:path h="1387131" w="1336959">
                  <a:moveTo>
                    <a:pt x="35885" y="0"/>
                  </a:moveTo>
                  <a:lnTo>
                    <a:pt x="1301073" y="0"/>
                  </a:lnTo>
                  <a:cubicBezTo>
                    <a:pt x="1310591" y="0"/>
                    <a:pt x="1319718" y="3781"/>
                    <a:pt x="1326448" y="10511"/>
                  </a:cubicBezTo>
                  <a:cubicBezTo>
                    <a:pt x="1333178" y="17240"/>
                    <a:pt x="1336959" y="26368"/>
                    <a:pt x="1336959" y="35885"/>
                  </a:cubicBezTo>
                  <a:lnTo>
                    <a:pt x="1336959" y="1351246"/>
                  </a:lnTo>
                  <a:cubicBezTo>
                    <a:pt x="1336959" y="1360764"/>
                    <a:pt x="1333178" y="1369891"/>
                    <a:pt x="1326448" y="1376621"/>
                  </a:cubicBezTo>
                  <a:cubicBezTo>
                    <a:pt x="1319718" y="1383351"/>
                    <a:pt x="1310591" y="1387131"/>
                    <a:pt x="1301073" y="1387131"/>
                  </a:cubicBezTo>
                  <a:lnTo>
                    <a:pt x="35885" y="1387131"/>
                  </a:lnTo>
                  <a:cubicBezTo>
                    <a:pt x="26368" y="1387131"/>
                    <a:pt x="17240" y="1383351"/>
                    <a:pt x="10511" y="1376621"/>
                  </a:cubicBezTo>
                  <a:cubicBezTo>
                    <a:pt x="3781" y="1369891"/>
                    <a:pt x="0" y="1360764"/>
                    <a:pt x="0" y="1351246"/>
                  </a:cubicBezTo>
                  <a:lnTo>
                    <a:pt x="0" y="35885"/>
                  </a:lnTo>
                  <a:cubicBezTo>
                    <a:pt x="0" y="26368"/>
                    <a:pt x="3781" y="17240"/>
                    <a:pt x="10511" y="10511"/>
                  </a:cubicBezTo>
                  <a:cubicBezTo>
                    <a:pt x="17240" y="3781"/>
                    <a:pt x="26368" y="0"/>
                    <a:pt x="35885" y="0"/>
                  </a:cubicBezTo>
                  <a:close/>
                </a:path>
              </a:pathLst>
            </a:custGeom>
            <a:blipFill>
              <a:blip r:embed="rId4"/>
              <a:stretch>
                <a:fillRect l="-1876" t="0" r="-1876" b="0"/>
              </a:stretch>
            </a:blipFill>
            <a:ln w="28575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0584026" y="2278027"/>
            <a:ext cx="6886575" cy="3344897"/>
            <a:chOff x="0" y="0"/>
            <a:chExt cx="9182100" cy="4459862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3150675"/>
              <a:ext cx="9182100" cy="13091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063"/>
                </a:lnSpc>
              </a:pPr>
              <a:r>
                <a:rPr lang="en-US" sz="7063">
                  <a:solidFill>
                    <a:srgbClr val="FFFFFF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UPTM Digital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109768"/>
              <a:ext cx="9182100" cy="15352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080"/>
                </a:lnSpc>
              </a:pPr>
              <a:r>
                <a:rPr lang="en-US" sz="220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APLICACIÓN MÓVIL PARA LA GESTIÓN ACADÉMICA DE LA UNIVERSIDAD POLITÉCNICA TERRITORIAL DEL ESTADO MÉRIDA ‘KLÉBER RAMÍREZ’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9182100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468570" y="7512051"/>
            <a:ext cx="6886575" cy="1746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Autores: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Ángel Peña – C.I. 24.349.651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Rubén Ramírez – C.I. 16.020.185</a:t>
            </a:r>
          </a:p>
          <a:p>
            <a:pPr algn="l" marL="0" indent="0" lvl="0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Tutor Comunitaria: Prof. Yermain Rojas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945975">
            <a:off x="15101778" y="-5016438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8"/>
                </a:lnTo>
                <a:lnTo>
                  <a:pt x="0" y="102997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429875" y="666750"/>
            <a:ext cx="7191375" cy="8953500"/>
            <a:chOff x="0" y="0"/>
            <a:chExt cx="1114132" cy="13871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14132" cy="1387131"/>
            </a:xfrm>
            <a:custGeom>
              <a:avLst/>
              <a:gdLst/>
              <a:ahLst/>
              <a:cxnLst/>
              <a:rect r="r" b="b" t="t" l="l"/>
              <a:pathLst>
                <a:path h="1387131" w="1114132">
                  <a:moveTo>
                    <a:pt x="43062" y="0"/>
                  </a:moveTo>
                  <a:lnTo>
                    <a:pt x="1071070" y="0"/>
                  </a:lnTo>
                  <a:cubicBezTo>
                    <a:pt x="1094853" y="0"/>
                    <a:pt x="1114132" y="19280"/>
                    <a:pt x="1114132" y="43062"/>
                  </a:cubicBezTo>
                  <a:lnTo>
                    <a:pt x="1114132" y="1344069"/>
                  </a:lnTo>
                  <a:cubicBezTo>
                    <a:pt x="1114132" y="1367852"/>
                    <a:pt x="1094853" y="1387131"/>
                    <a:pt x="1071070" y="1387131"/>
                  </a:cubicBezTo>
                  <a:lnTo>
                    <a:pt x="43062" y="1387131"/>
                  </a:lnTo>
                  <a:cubicBezTo>
                    <a:pt x="19280" y="1387131"/>
                    <a:pt x="0" y="1367852"/>
                    <a:pt x="0" y="1344069"/>
                  </a:cubicBezTo>
                  <a:lnTo>
                    <a:pt x="0" y="43062"/>
                  </a:lnTo>
                  <a:cubicBezTo>
                    <a:pt x="0" y="19280"/>
                    <a:pt x="19280" y="0"/>
                    <a:pt x="43062" y="0"/>
                  </a:cubicBezTo>
                  <a:close/>
                </a:path>
              </a:pathLst>
            </a:custGeom>
            <a:blipFill>
              <a:blip r:embed="rId4"/>
              <a:stretch>
                <a:fillRect l="-83515" t="0" r="-83515" b="0"/>
              </a:stretch>
            </a:blipFill>
            <a:ln w="28575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666750" y="838173"/>
            <a:ext cx="9616124" cy="3395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99"/>
              </a:lnSpc>
            </a:pPr>
            <a:r>
              <a:rPr lang="en-US" sz="8799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I</a:t>
            </a:r>
            <a:r>
              <a:rPr lang="en-US" sz="8799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DENTIFICACIÓN DE LA COMUNIDAD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6750" y="4829175"/>
            <a:ext cx="9228886" cy="442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6"/>
              </a:lnSpc>
            </a:pPr>
            <a:r>
              <a:rPr lang="en-US" b="true" sz="3663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Universidad Politécnica Territorial del Estado Mérida “Kleber Ramírez” (UPTMKR)</a:t>
            </a:r>
          </a:p>
          <a:p>
            <a:pPr algn="l">
              <a:lnSpc>
                <a:spcPts val="4396"/>
              </a:lnSpc>
            </a:pPr>
            <a:r>
              <a:rPr lang="en-US" b="true" sz="3663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Dirección: Avenida Centenario, sector La Victoria, Ejido, Municipio Campo Elías, Estado Mérida, Venezuela.</a:t>
            </a:r>
          </a:p>
          <a:p>
            <a:pPr algn="l">
              <a:lnSpc>
                <a:spcPts val="4396"/>
              </a:lnSpc>
            </a:pPr>
            <a:r>
              <a:rPr lang="en-US" b="true" sz="3663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Referencia: Campus principal de la UPTMKR, ubicado en la zona sur del estado Mérida.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945975">
            <a:off x="15101778" y="-5016438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8"/>
                </a:lnTo>
                <a:lnTo>
                  <a:pt x="0" y="102997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429875" y="666750"/>
            <a:ext cx="7191375" cy="8953500"/>
            <a:chOff x="0" y="0"/>
            <a:chExt cx="1114132" cy="13871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14132" cy="1387131"/>
            </a:xfrm>
            <a:custGeom>
              <a:avLst/>
              <a:gdLst/>
              <a:ahLst/>
              <a:cxnLst/>
              <a:rect r="r" b="b" t="t" l="l"/>
              <a:pathLst>
                <a:path h="1387131" w="1114132">
                  <a:moveTo>
                    <a:pt x="43062" y="0"/>
                  </a:moveTo>
                  <a:lnTo>
                    <a:pt x="1071070" y="0"/>
                  </a:lnTo>
                  <a:cubicBezTo>
                    <a:pt x="1094853" y="0"/>
                    <a:pt x="1114132" y="19280"/>
                    <a:pt x="1114132" y="43062"/>
                  </a:cubicBezTo>
                  <a:lnTo>
                    <a:pt x="1114132" y="1344069"/>
                  </a:lnTo>
                  <a:cubicBezTo>
                    <a:pt x="1114132" y="1367852"/>
                    <a:pt x="1094853" y="1387131"/>
                    <a:pt x="1071070" y="1387131"/>
                  </a:cubicBezTo>
                  <a:lnTo>
                    <a:pt x="43062" y="1387131"/>
                  </a:lnTo>
                  <a:cubicBezTo>
                    <a:pt x="19280" y="1387131"/>
                    <a:pt x="0" y="1367852"/>
                    <a:pt x="0" y="1344069"/>
                  </a:cubicBezTo>
                  <a:lnTo>
                    <a:pt x="0" y="43062"/>
                  </a:lnTo>
                  <a:cubicBezTo>
                    <a:pt x="0" y="19280"/>
                    <a:pt x="19280" y="0"/>
                    <a:pt x="43062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99" r="0" b="-199"/>
              </a:stretch>
            </a:blipFill>
            <a:ln w="28575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516101" y="285836"/>
            <a:ext cx="9594602" cy="2278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00"/>
              </a:lnSpc>
            </a:pPr>
            <a:r>
              <a:rPr lang="en-US" sz="8700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PLANT</a:t>
            </a:r>
            <a:r>
              <a:rPr lang="en-US" sz="8700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EAMIENTO DEL PROYECTO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5457" y="2486025"/>
            <a:ext cx="10049906" cy="7472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3210" indent="-316605" lvl="1">
              <a:lnSpc>
                <a:spcPts val="3519"/>
              </a:lnSpc>
              <a:buFont typeface="Arial"/>
              <a:buChar char="•"/>
            </a:pPr>
            <a:r>
              <a:rPr lang="en-US" b="true" sz="2932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El presente proyecto sociotecnológico, denominado “UPTM Digital”, surge como respuesta a las necesidades detectadas en la comunidad universitaria de la Universidad Politécnica Territorial del Estado Mérida “Kleber Ramírez” (UPTMKR), específicamente en el Departamento de Admisión, Registro y Evaluación (DARE)</a:t>
            </a:r>
          </a:p>
          <a:p>
            <a:pPr algn="l" marL="633210" indent="-316605" lvl="1">
              <a:lnSpc>
                <a:spcPts val="3519"/>
              </a:lnSpc>
              <a:buFont typeface="Arial"/>
              <a:buChar char="•"/>
            </a:pPr>
            <a:r>
              <a:rPr lang="en-US" b="true" sz="2932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Actualmente, el sistema institucional del DARE funciona exclusivamente en una red local, lo cual impide el acceso externo de estudiantes y docentes a servicios esenciales como la consulta de calificaciones, la carga de notas o la solicitud de constancias</a:t>
            </a:r>
          </a:p>
          <a:p>
            <a:pPr algn="l" marL="633210" indent="-316605" lvl="1">
              <a:lnSpc>
                <a:spcPts val="3519"/>
              </a:lnSpc>
              <a:buFont typeface="Arial"/>
              <a:buChar char="•"/>
            </a:pPr>
            <a:r>
              <a:rPr lang="en-US" b="true" sz="2932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La propuesta busca promover la inclusión tecnológica, la eficiencia institucional, y el uso responsable de la tecnología como medio para el desarrollo educativo, fortaleciendo los principios de vinculación universidad–sociedad–tecnología.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437773">
            <a:off x="13770320" y="-6241286"/>
            <a:ext cx="12640239" cy="11904807"/>
          </a:xfrm>
          <a:custGeom>
            <a:avLst/>
            <a:gdLst/>
            <a:ahLst/>
            <a:cxnLst/>
            <a:rect r="r" b="b" t="t" l="l"/>
            <a:pathLst>
              <a:path h="11904807" w="12640239">
                <a:moveTo>
                  <a:pt x="0" y="0"/>
                </a:moveTo>
                <a:lnTo>
                  <a:pt x="12640239" y="0"/>
                </a:lnTo>
                <a:lnTo>
                  <a:pt x="12640239" y="11904806"/>
                </a:lnTo>
                <a:lnTo>
                  <a:pt x="0" y="11904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592550" cy="4081547"/>
            <a:chOff x="0" y="0"/>
            <a:chExt cx="22123400" cy="5442062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71450"/>
              <a:ext cx="22123400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D4AF37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OBJETIVOS DEL</a:t>
              </a:r>
              <a:r>
                <a:rPr lang="en-US" sz="8799">
                  <a:solidFill>
                    <a:srgbClr val="D4AF37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 PROYECTO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130537"/>
              <a:ext cx="22123400" cy="3311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Obj</a:t>
              </a:r>
              <a:r>
                <a:rPr lang="en-US" b="true" sz="300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etivo General</a:t>
              </a:r>
            </a:p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Desarrollar una aplicación móvil denominada UPTM Digital, orientada a optimizar los procesos académicos y administrativos del Departamento de Admisión, Registro y Evaluación (DARE) de la Universidad Politécnica Territorial del Estado Mérida “Kleber Ramírez”, garantizando una salida segura y accesible del sistema institucional para estudiantes y docentes.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4943662"/>
            <a:ext cx="17069861" cy="4164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03"/>
              </a:lnSpc>
              <a:spcBef>
                <a:spcPct val="0"/>
              </a:spcBef>
            </a:pPr>
            <a:r>
              <a:rPr lang="en-US" b="true" sz="3086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Obj</a:t>
            </a:r>
            <a:r>
              <a:rPr lang="en-US" b="true" sz="3086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etivos Específicos</a:t>
            </a:r>
          </a:p>
          <a:p>
            <a:pPr algn="l">
              <a:lnSpc>
                <a:spcPts val="3703"/>
              </a:lnSpc>
            </a:pPr>
          </a:p>
          <a:p>
            <a:pPr algn="l" marL="577490" indent="-288745" lvl="1">
              <a:lnSpc>
                <a:spcPts val="3209"/>
              </a:lnSpc>
              <a:buAutoNum type="arabicPeriod" startAt="1"/>
            </a:pPr>
            <a:r>
              <a:rPr lang="en-US" b="true" sz="2674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An</a:t>
            </a:r>
            <a:r>
              <a:rPr lang="en-US" b="true" sz="2674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alizar las limitaciones actuales del sistema interno del DARE en cuanto al acceso y gestión académica.</a:t>
            </a:r>
          </a:p>
          <a:p>
            <a:pPr algn="l" marL="577490" indent="-288745" lvl="1">
              <a:lnSpc>
                <a:spcPts val="3209"/>
              </a:lnSpc>
              <a:buAutoNum type="arabicPeriod" startAt="1"/>
            </a:pPr>
            <a:r>
              <a:rPr lang="en-US" b="true" sz="2674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Diseñar una estructura tecnológica que permita la comunicación segura entre la aplicación móvil y la base de datos institucional.</a:t>
            </a:r>
          </a:p>
          <a:p>
            <a:pPr algn="l" marL="577490" indent="-288745" lvl="1">
              <a:lnSpc>
                <a:spcPts val="3209"/>
              </a:lnSpc>
              <a:buAutoNum type="arabicPeriod" startAt="1"/>
            </a:pPr>
            <a:r>
              <a:rPr lang="en-US" b="true" sz="2674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Desarrollar un prototipo funcional de la aplicación UPTM Digital, con módulos para estudiantes y profesores.</a:t>
            </a:r>
          </a:p>
          <a:p>
            <a:pPr algn="l" marL="577490" indent="-288745" lvl="1">
              <a:lnSpc>
                <a:spcPts val="3209"/>
              </a:lnSpc>
              <a:buAutoNum type="arabicPeriod" startAt="1"/>
            </a:pPr>
            <a:r>
              <a:rPr lang="en-US" b="true" sz="2674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Implementar mecanismos de seguridad que aseguren la integridad de la información mediante autenticación con códigos QR y validaciones mixtas.</a:t>
            </a:r>
          </a:p>
          <a:p>
            <a:pPr algn="l" marL="577490" indent="-288745" lvl="1">
              <a:lnSpc>
                <a:spcPts val="3209"/>
              </a:lnSpc>
              <a:buAutoNum type="arabicPeriod" startAt="1"/>
            </a:pPr>
            <a:r>
              <a:rPr lang="en-US" b="true" sz="2674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Promover la participación de los actores institucionales en el proceso de desarrollo, validación y mejora continua del sistema.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437773">
            <a:off x="13770320" y="-6241286"/>
            <a:ext cx="12640239" cy="11904807"/>
          </a:xfrm>
          <a:custGeom>
            <a:avLst/>
            <a:gdLst/>
            <a:ahLst/>
            <a:cxnLst/>
            <a:rect r="r" b="b" t="t" l="l"/>
            <a:pathLst>
              <a:path h="11904807" w="12640239">
                <a:moveTo>
                  <a:pt x="0" y="0"/>
                </a:moveTo>
                <a:lnTo>
                  <a:pt x="12640239" y="0"/>
                </a:lnTo>
                <a:lnTo>
                  <a:pt x="12640239" y="11904806"/>
                </a:lnTo>
                <a:lnTo>
                  <a:pt x="0" y="11904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592550" cy="2851557"/>
            <a:chOff x="0" y="0"/>
            <a:chExt cx="22123400" cy="3802076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33350"/>
              <a:ext cx="22123400" cy="14837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</a:pPr>
              <a:r>
                <a:rPr lang="en-US" sz="8000">
                  <a:solidFill>
                    <a:srgbClr val="D4AF37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JUSTIFICACIÓN DEL </a:t>
              </a:r>
              <a:r>
                <a:rPr lang="en-US" sz="8000">
                  <a:solidFill>
                    <a:srgbClr val="D4AF37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PROYECTO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963751"/>
              <a:ext cx="22123400" cy="1838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El desarrollo de UPTM Digital se justifica en la necesidad de modernizar la gestión académica de la universidad, impulsando la transformación digital institucional y reduciendo la dependencia de los procesos presenciales.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71194" y="5105400"/>
            <a:ext cx="5448300" cy="3400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51"/>
              </a:lnSpc>
            </a:pPr>
            <a:r>
              <a:rPr lang="en-US" sz="2962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La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a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p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li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ca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c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i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ón bu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s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ca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in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te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grar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a 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los distintos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act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or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es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de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l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a 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comu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n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id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a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d u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n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iv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e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r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s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it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a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ri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a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e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n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u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n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ent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orno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tecnológico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func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i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o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n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al y par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t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icip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ati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vo,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aco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r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d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e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con l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o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s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a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van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ces 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d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e 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la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e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ducación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superi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or 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mod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er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na</a:t>
            </a:r>
            <a:r>
              <a:rPr lang="en-US" sz="29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748144" y="4236547"/>
            <a:ext cx="4791712" cy="5586282"/>
            <a:chOff x="0" y="0"/>
            <a:chExt cx="6388949" cy="7448376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9525"/>
              <a:ext cx="6388949" cy="16179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66"/>
                </a:lnSpc>
                <a:spcBef>
                  <a:spcPct val="0"/>
                </a:spcBef>
              </a:pPr>
              <a:r>
                <a:rPr lang="en-US" b="true" sz="2638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Desd</a:t>
              </a:r>
              <a:r>
                <a:rPr lang="en-US" b="true" sz="2638" strike="noStrike" u="none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</a:t>
              </a:r>
              <a:r>
                <a:rPr lang="en-US" b="true" sz="2638" strike="noStrike" u="none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u</a:t>
              </a:r>
              <a:r>
                <a:rPr lang="en-US" b="true" sz="2638" strike="noStrike" u="none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n</a:t>
              </a:r>
              <a:r>
                <a:rPr lang="en-US" b="true" sz="2638" strike="noStrike" u="none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 p</a:t>
              </a:r>
              <a:r>
                <a:rPr lang="en-US" b="true" sz="2638" strike="noStrike" u="none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er</a:t>
              </a:r>
              <a:r>
                <a:rPr lang="en-US" b="true" sz="2638" strike="noStrike" u="none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spectiv</a:t>
              </a:r>
              <a:r>
                <a:rPr lang="en-US" b="true" sz="2638" strike="noStrike" u="none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</a:t>
              </a:r>
              <a:r>
                <a:rPr lang="en-US" b="true" sz="2638" strike="noStrike" u="none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sociotecnológica, e</a:t>
              </a:r>
              <a:r>
                <a:rPr lang="en-US" b="true" sz="2638" strike="noStrike" u="none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l </a:t>
              </a:r>
              <a:r>
                <a:rPr lang="en-US" b="true" sz="2638" strike="noStrike" u="none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proy</a:t>
              </a:r>
              <a:r>
                <a:rPr lang="en-US" b="true" sz="2638" strike="noStrike" u="none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ect</a:t>
              </a:r>
              <a:r>
                <a:rPr lang="en-US" b="true" sz="2638" strike="noStrike" u="none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o t</a:t>
              </a:r>
              <a:r>
                <a:rPr lang="en-US" b="true" sz="2638" strike="noStrike" u="none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i</a:t>
              </a:r>
              <a:r>
                <a:rPr lang="en-US" b="true" sz="2638" strike="noStrike" u="none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ene gran rele</a:t>
              </a:r>
              <a:r>
                <a:rPr lang="en-US" b="true" sz="2638" strike="noStrike" u="none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v</a:t>
              </a:r>
              <a:r>
                <a:rPr lang="en-US" b="true" sz="2638" strike="noStrike" u="none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ancia porqu</a:t>
              </a:r>
              <a:r>
                <a:rPr lang="en-US" b="true" sz="2638" strike="noStrike" u="none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</a:t>
              </a:r>
              <a:r>
                <a:rPr lang="en-US" b="true" sz="2638" strike="noStrike" u="none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: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2093628"/>
              <a:ext cx="6388949" cy="53547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48598" indent="-224299" lvl="1">
                <a:lnSpc>
                  <a:spcPts val="2701"/>
                </a:lnSpc>
                <a:buFont typeface="Arial"/>
                <a:buChar char="•"/>
              </a:pPr>
              <a:r>
                <a:rPr lang="en-US" sz="2077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P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r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omu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v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 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l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 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in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c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l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u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sión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cnológ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ca d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en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tro 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d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 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l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co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m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un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d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d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universi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ari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.</a:t>
              </a:r>
            </a:p>
            <a:p>
              <a:pPr algn="l" marL="448598" indent="-224299" lvl="1">
                <a:lnSpc>
                  <a:spcPts val="2701"/>
                </a:lnSpc>
                <a:buFont typeface="Arial"/>
                <a:buChar char="•"/>
              </a:pP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Op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imiz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los 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recurso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a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d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mi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n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is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rativo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 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medi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an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te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l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u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tomatizació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n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de p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r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oc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es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os.</a:t>
              </a:r>
            </a:p>
            <a:p>
              <a:pPr algn="l" marL="448598" indent="-224299" lvl="1">
                <a:lnSpc>
                  <a:spcPts val="2701"/>
                </a:lnSpc>
                <a:buFont typeface="Arial"/>
                <a:buChar char="•"/>
              </a:pP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Fortalece la 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tr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ansparencia y ef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ic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iencia 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n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l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g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est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ión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acad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é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mic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a.</a:t>
              </a:r>
            </a:p>
            <a:p>
              <a:pPr algn="l" marL="448598" indent="-224299" lvl="1">
                <a:lnSpc>
                  <a:spcPts val="2701"/>
                </a:lnSpc>
                <a:buFont typeface="Arial"/>
                <a:buChar char="•"/>
              </a:pP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Facilita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la c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o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m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u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ni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c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ación in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titucional y la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i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nte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r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acc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ó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n en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tr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doc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ent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es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y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e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stud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ant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s.</a:t>
              </a:r>
            </a:p>
            <a:p>
              <a:pPr algn="l" marL="448598" indent="-224299" lvl="1">
                <a:lnSpc>
                  <a:spcPts val="2701"/>
                </a:lnSpc>
                <a:buFont typeface="Arial"/>
                <a:buChar char="•"/>
              </a:pP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Co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ntr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ib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u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ye a la se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gu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ridad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y r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sguardo de la información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institu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c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ion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al</a:t>
              </a:r>
              <a:r>
                <a:rPr lang="en-US" sz="2077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.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2168506" y="4332605"/>
            <a:ext cx="5448300" cy="5365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91"/>
              </a:lnSpc>
            </a:pPr>
            <a:r>
              <a:rPr lang="en-US" sz="2762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Ad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e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más,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su d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e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s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a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rro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l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lo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re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s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pon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de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a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l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o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s 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obj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e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tivos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e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stratég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ic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os del Pl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a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n de 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l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a Patria 2025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, 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r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e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la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c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i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on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ad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o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s 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c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on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l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a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c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on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so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l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id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a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ció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n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d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e un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si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stem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a e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du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c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a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t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ivo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sus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t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entad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o en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la innovación t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e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cnológica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y l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a 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par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t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icipación social.</a:t>
            </a:r>
          </a:p>
          <a:p>
            <a:pPr algn="l" marL="0" indent="0" lvl="0">
              <a:lnSpc>
                <a:spcPts val="3591"/>
              </a:lnSpc>
            </a:pP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El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pro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y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ect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o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tamb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i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én 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s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e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al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in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e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a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con la mi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s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ión in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st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ituc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i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o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nal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d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e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la UPTMKR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, 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que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promu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e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v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e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la 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f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orma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ci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ón integr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al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,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el trabaj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o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p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r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oductivo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y la vinculación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universi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dad–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comuni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dad</a:t>
            </a:r>
            <a:r>
              <a:rPr lang="en-US" sz="2762" strike="noStrike" u="none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437773">
            <a:off x="13770320" y="-6241286"/>
            <a:ext cx="12640239" cy="11904807"/>
          </a:xfrm>
          <a:custGeom>
            <a:avLst/>
            <a:gdLst/>
            <a:ahLst/>
            <a:cxnLst/>
            <a:rect r="r" b="b" t="t" l="l"/>
            <a:pathLst>
              <a:path h="11904807" w="12640239">
                <a:moveTo>
                  <a:pt x="0" y="0"/>
                </a:moveTo>
                <a:lnTo>
                  <a:pt x="12640239" y="0"/>
                </a:lnTo>
                <a:lnTo>
                  <a:pt x="12640239" y="11904806"/>
                </a:lnTo>
                <a:lnTo>
                  <a:pt x="0" y="11904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423764" cy="2519447"/>
            <a:chOff x="0" y="0"/>
            <a:chExt cx="21898352" cy="3359262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71450"/>
              <a:ext cx="21898352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D4AF37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ESTUDIO</a:t>
              </a:r>
              <a:r>
                <a:rPr lang="en-US" sz="8799">
                  <a:solidFill>
                    <a:srgbClr val="D4AF37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 DE FACTIBILIDAD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130537"/>
              <a:ext cx="21898352" cy="1228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El p</a:t>
              </a:r>
              <a:r>
                <a:rPr lang="en-US" b="true" sz="300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royecto UPTM Digital se considera viable desde los puntos de vista técnico, económico, social y operativo: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0" y="6679325"/>
            <a:ext cx="8739392" cy="3224792"/>
            <a:chOff x="0" y="0"/>
            <a:chExt cx="11652522" cy="429972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0"/>
              <a:ext cx="11652522" cy="5441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13"/>
                </a:lnSpc>
                <a:spcBef>
                  <a:spcPct val="0"/>
                </a:spcBef>
              </a:pPr>
              <a:r>
                <a:rPr lang="en-US" b="true" sz="2677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Fac</a:t>
              </a:r>
              <a:r>
                <a:rPr lang="en-US" b="true" sz="2677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tibilidad Operativa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037059"/>
              <a:ext cx="11652522" cy="32626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42028" indent="-271014" lvl="1">
                <a:lnSpc>
                  <a:spcPts val="3263"/>
                </a:lnSpc>
                <a:buFont typeface="Arial"/>
                <a:buChar char="•"/>
              </a:pPr>
              <a:r>
                <a:rPr lang="en-US" sz="251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El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pro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to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ipo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ser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á impl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menta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d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o en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f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as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es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c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on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trola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da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 y pr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o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b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do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directamente con pers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o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nal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de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l DARE y e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st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u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di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nte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l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cciona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d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o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.</a:t>
              </a:r>
            </a:p>
            <a:p>
              <a:pPr algn="l" marL="542028" indent="-271014" lvl="1">
                <a:lnSpc>
                  <a:spcPts val="3263"/>
                </a:lnSpc>
                <a:buFont typeface="Arial"/>
                <a:buChar char="•"/>
              </a:pP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El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sistem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po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d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rá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integ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r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ars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grad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u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al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ment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 al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ent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o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rno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institucion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l, 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c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on posibilid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d 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de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es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c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alar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a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otros d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parta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ment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os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se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gú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n la 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ac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pta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ci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ó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n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y resu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l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tados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o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b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te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nido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84877" y="6269750"/>
            <a:ext cx="8093755" cy="3634367"/>
            <a:chOff x="0" y="0"/>
            <a:chExt cx="10791673" cy="4845822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0"/>
              <a:ext cx="10791673" cy="5441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13"/>
                </a:lnSpc>
                <a:spcBef>
                  <a:spcPct val="0"/>
                </a:spcBef>
              </a:pPr>
              <a:r>
                <a:rPr lang="en-US" b="true" sz="2677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Fac</a:t>
              </a:r>
              <a:r>
                <a:rPr lang="en-US" b="true" sz="2677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tibilidad Económica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37059"/>
              <a:ext cx="10791673" cy="38087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42028" indent="-271014" lvl="1">
                <a:lnSpc>
                  <a:spcPts val="3263"/>
                </a:lnSpc>
                <a:buFont typeface="Arial"/>
                <a:buChar char="•"/>
              </a:pPr>
              <a:r>
                <a:rPr lang="en-US" sz="251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El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desarrollo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n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o requiere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cos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to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sig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n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f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ic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ativos, ya que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el 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soft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wa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r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 uti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l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iz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ado es 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libre 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y 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los 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r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ecurs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os humano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pe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r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tene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cen a la propia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co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mu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n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idad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univ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ers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itaria.</a:t>
              </a:r>
            </a:p>
            <a:p>
              <a:pPr algn="l" marL="542028" indent="-271014" lvl="1">
                <a:lnSpc>
                  <a:spcPts val="3263"/>
                </a:lnSpc>
                <a:buFont typeface="Arial"/>
                <a:buChar char="•"/>
              </a:pP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L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os gastos asociados estarán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vinculados 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al mantenimiento del 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servidor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y 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pru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ba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 de fu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nc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iona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mie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nto, los cuales pueden ser cubiertos c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on re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c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ursos 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in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tern</a:t>
              </a:r>
              <a:r>
                <a:rPr lang="en-US" sz="251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os.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445321" y="3331426"/>
            <a:ext cx="8713551" cy="3051520"/>
            <a:chOff x="0" y="0"/>
            <a:chExt cx="11618068" cy="4068693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9525"/>
              <a:ext cx="11618068" cy="4713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27"/>
                </a:lnSpc>
                <a:spcBef>
                  <a:spcPct val="0"/>
                </a:spcBef>
              </a:pPr>
              <a:r>
                <a:rPr lang="en-US" b="true" sz="2272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Fac</a:t>
              </a:r>
              <a:r>
                <a:rPr lang="en-US" b="true" sz="2272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tibilidad Social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885322"/>
              <a:ext cx="11618068" cy="31833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60003" indent="-230002" lvl="1">
                <a:lnSpc>
                  <a:spcPts val="2769"/>
                </a:lnSpc>
                <a:buFont typeface="Arial"/>
                <a:buChar char="•"/>
              </a:pP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El proyecto i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mpacta po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iva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m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ente en l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 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c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o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muni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dad un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iv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ersitar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ia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al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mejorar el acce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so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a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l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in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f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or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mació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n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, pr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o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mover la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in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clu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si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ón 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c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nológ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ca y f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o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rt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al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cer lo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p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r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o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ce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os de comun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cac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ón entre estu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d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antes, docentes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y 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dminist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ración.</a:t>
              </a:r>
            </a:p>
            <a:p>
              <a:pPr algn="l" marL="460003" indent="-230002" lvl="1">
                <a:lnSpc>
                  <a:spcPts val="2769"/>
                </a:lnSpc>
                <a:buFont typeface="Arial"/>
                <a:buChar char="•"/>
              </a:pP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Además, 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f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o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men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la 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part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icip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ció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n activa de los usuarios finales en la va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lid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ación y 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mejo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r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 d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l 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is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em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, aseguran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do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u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sosteni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bili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d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ad a larg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o</a:t>
              </a:r>
              <a:r>
                <a:rPr lang="en-US" sz="2130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plazo.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50245" y="3331426"/>
            <a:ext cx="8093755" cy="3122650"/>
            <a:chOff x="0" y="0"/>
            <a:chExt cx="10791673" cy="4163533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9525"/>
              <a:ext cx="10791673" cy="4744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45"/>
                </a:lnSpc>
                <a:spcBef>
                  <a:spcPct val="0"/>
                </a:spcBef>
              </a:pPr>
              <a:r>
                <a:rPr lang="en-US" b="true" sz="2288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Fac</a:t>
              </a:r>
              <a:r>
                <a:rPr lang="en-US" b="true" sz="2288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tibilidad Técnica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891508"/>
              <a:ext cx="10791673" cy="3272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63149" indent="-231575" lvl="1">
                <a:lnSpc>
                  <a:spcPts val="2788"/>
                </a:lnSpc>
                <a:buFont typeface="Arial"/>
                <a:buChar char="•"/>
              </a:pPr>
              <a:r>
                <a:rPr lang="en-US" sz="2145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El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si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stema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será 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desarro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l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lado m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ediante herram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enta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d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 código abie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rto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como Andro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id Studio, Kot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l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in, MySQL, API REST y Figma, garantiz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ndo compatibili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dad con dispositivos 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móviles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And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roid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y c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o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n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la i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nf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r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stru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ct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ur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tec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n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o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lógica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e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xi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te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n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te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del DARE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.</a:t>
              </a:r>
            </a:p>
            <a:p>
              <a:pPr algn="l" marL="463149" indent="-231575" lvl="1">
                <a:lnSpc>
                  <a:spcPts val="2788"/>
                </a:lnSpc>
                <a:buFont typeface="Arial"/>
                <a:buChar char="•"/>
              </a:pP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La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arquitectura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híbrida p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rmi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tirá el fu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nc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iona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mie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nto offl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in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 y la sinc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roniza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ci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ón de dat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o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 cua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n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do hay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conexión 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dispo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nible</a:t>
              </a:r>
              <a:r>
                <a:rPr lang="en-US" sz="2145" strike="noStrike" u="none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.</a:t>
              </a:r>
            </a:p>
            <a:p>
              <a:pPr algn="l" marL="0" indent="0" lvl="0">
                <a:lnSpc>
                  <a:spcPts val="2788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945975">
            <a:off x="15101778" y="-5016438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8"/>
                </a:lnTo>
                <a:lnTo>
                  <a:pt x="0" y="102997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718200" y="1892908"/>
            <a:ext cx="9834512" cy="7911519"/>
            <a:chOff x="0" y="0"/>
            <a:chExt cx="1724291" cy="13871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24291" cy="1387131"/>
            </a:xfrm>
            <a:custGeom>
              <a:avLst/>
              <a:gdLst/>
              <a:ahLst/>
              <a:cxnLst/>
              <a:rect r="r" b="b" t="t" l="l"/>
              <a:pathLst>
                <a:path h="1387131" w="1724291">
                  <a:moveTo>
                    <a:pt x="31489" y="0"/>
                  </a:moveTo>
                  <a:lnTo>
                    <a:pt x="1692802" y="0"/>
                  </a:lnTo>
                  <a:cubicBezTo>
                    <a:pt x="1701154" y="0"/>
                    <a:pt x="1709163" y="3318"/>
                    <a:pt x="1715068" y="9223"/>
                  </a:cubicBezTo>
                  <a:cubicBezTo>
                    <a:pt x="1720973" y="15128"/>
                    <a:pt x="1724291" y="23137"/>
                    <a:pt x="1724291" y="31489"/>
                  </a:cubicBezTo>
                  <a:lnTo>
                    <a:pt x="1724291" y="1355643"/>
                  </a:lnTo>
                  <a:cubicBezTo>
                    <a:pt x="1724291" y="1363994"/>
                    <a:pt x="1720973" y="1372003"/>
                    <a:pt x="1715068" y="1377909"/>
                  </a:cubicBezTo>
                  <a:cubicBezTo>
                    <a:pt x="1709163" y="1383814"/>
                    <a:pt x="1701154" y="1387131"/>
                    <a:pt x="1692802" y="1387131"/>
                  </a:cubicBezTo>
                  <a:lnTo>
                    <a:pt x="31489" y="1387131"/>
                  </a:lnTo>
                  <a:cubicBezTo>
                    <a:pt x="14098" y="1387131"/>
                    <a:pt x="0" y="1373033"/>
                    <a:pt x="0" y="1355643"/>
                  </a:cubicBezTo>
                  <a:lnTo>
                    <a:pt x="0" y="31489"/>
                  </a:lnTo>
                  <a:cubicBezTo>
                    <a:pt x="0" y="14098"/>
                    <a:pt x="14098" y="0"/>
                    <a:pt x="31489" y="0"/>
                  </a:cubicBezTo>
                  <a:close/>
                </a:path>
              </a:pathLst>
            </a:custGeom>
            <a:blipFill>
              <a:blip r:embed="rId4"/>
              <a:stretch>
                <a:fillRect l="-19787" t="0" r="-19787" b="0"/>
              </a:stretch>
            </a:blipFill>
            <a:ln w="28575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2216687" y="531178"/>
            <a:ext cx="13554508" cy="1166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99"/>
              </a:lnSpc>
            </a:pPr>
            <a:r>
              <a:rPr lang="en-US" sz="8799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POBLACIÓN Y MUESTRA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22818" y="2569761"/>
            <a:ext cx="7395382" cy="2338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7"/>
              </a:lnSpc>
              <a:spcBef>
                <a:spcPct val="0"/>
              </a:spcBef>
            </a:pPr>
            <a:r>
              <a:rPr lang="en-US" sz="2077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Población:</a:t>
            </a:r>
          </a:p>
          <a:p>
            <a:pPr algn="l">
              <a:lnSpc>
                <a:spcPts val="2077"/>
              </a:lnSpc>
              <a:spcBef>
                <a:spcPct val="0"/>
              </a:spcBef>
            </a:pPr>
            <a:r>
              <a:rPr lang="en-US" sz="2077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 La comunidad universitaria de la Universidad Politécnica Territorial del Estado Mérida “Kléber Ramírez” (UPTMKR), específicamente perteneciente al Departamento de Admisión, Registro y Evaluación (DARE), conformada por:</a:t>
            </a:r>
          </a:p>
          <a:p>
            <a:pPr algn="l">
              <a:lnSpc>
                <a:spcPts val="2077"/>
              </a:lnSpc>
              <a:spcBef>
                <a:spcPct val="0"/>
              </a:spcBef>
            </a:pPr>
            <a:r>
              <a:rPr lang="en-US" sz="2077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Estudiantes activos de pregrado.</a:t>
            </a:r>
          </a:p>
          <a:p>
            <a:pPr algn="l">
              <a:lnSpc>
                <a:spcPts val="2077"/>
              </a:lnSpc>
              <a:spcBef>
                <a:spcPct val="0"/>
              </a:spcBef>
            </a:pPr>
            <a:r>
              <a:rPr lang="en-US" sz="2077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Profesores adscritos a los diferentes programas nacionales de formación (PNF).</a:t>
            </a:r>
          </a:p>
          <a:p>
            <a:pPr algn="l">
              <a:lnSpc>
                <a:spcPts val="2077"/>
              </a:lnSpc>
              <a:spcBef>
                <a:spcPct val="0"/>
              </a:spcBef>
            </a:pPr>
            <a:r>
              <a:rPr lang="en-US" sz="2077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Personal administrativo del DARE.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22818" y="5877242"/>
            <a:ext cx="7287776" cy="1824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7"/>
              </a:lnSpc>
              <a:spcBef>
                <a:spcPct val="0"/>
              </a:spcBef>
            </a:pPr>
            <a:r>
              <a:rPr lang="en-US" sz="2077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Muestr</a:t>
            </a:r>
            <a:r>
              <a:rPr lang="en-US" sz="2077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a:</a:t>
            </a:r>
          </a:p>
          <a:p>
            <a:pPr algn="l">
              <a:lnSpc>
                <a:spcPts val="2077"/>
              </a:lnSpc>
              <a:spcBef>
                <a:spcPct val="0"/>
              </a:spcBef>
            </a:pPr>
            <a:r>
              <a:rPr lang="en-US" sz="2077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 Para la ejecución y validación del proyecto se trabajará con una muestra intencional y representativa conformada por:</a:t>
            </a:r>
          </a:p>
          <a:p>
            <a:pPr algn="l" marL="448561" indent="-224281" lvl="1">
              <a:lnSpc>
                <a:spcPts val="2077"/>
              </a:lnSpc>
              <a:spcBef>
                <a:spcPct val="0"/>
              </a:spcBef>
              <a:buFont typeface="Arial"/>
              <a:buChar char="•"/>
            </a:pPr>
            <a:r>
              <a:rPr lang="en-US" sz="2077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20 estudiantes activos pertenecientes a la UPTMKR</a:t>
            </a:r>
          </a:p>
          <a:p>
            <a:pPr algn="l" marL="448561" indent="-224281" lvl="1">
              <a:lnSpc>
                <a:spcPts val="2077"/>
              </a:lnSpc>
              <a:spcBef>
                <a:spcPct val="0"/>
              </a:spcBef>
              <a:buFont typeface="Arial"/>
              <a:buChar char="•"/>
            </a:pPr>
            <a:r>
              <a:rPr lang="en-US" sz="2077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2 personal</a:t>
            </a:r>
            <a:r>
              <a:rPr lang="en-US" sz="2077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 administrativo del DARE</a:t>
            </a:r>
          </a:p>
          <a:p>
            <a:pPr algn="l" marL="448561" indent="-224281" lvl="1">
              <a:lnSpc>
                <a:spcPts val="2077"/>
              </a:lnSpc>
              <a:spcBef>
                <a:spcPct val="0"/>
              </a:spcBef>
              <a:buFont typeface="Arial"/>
              <a:buChar char="•"/>
            </a:pPr>
            <a:r>
              <a:rPr lang="en-US" sz="2077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3 miembros del personal del DARE encargados del area tecnica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945975">
            <a:off x="15101778" y="-5016438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8"/>
                </a:lnTo>
                <a:lnTo>
                  <a:pt x="0" y="102997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3189803" y="2506418"/>
            <a:ext cx="11061380" cy="3416570"/>
            <a:chOff x="0" y="0"/>
            <a:chExt cx="5358384" cy="16550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345059" y="76327"/>
              <a:ext cx="2298954" cy="1505077"/>
            </a:xfrm>
            <a:custGeom>
              <a:avLst/>
              <a:gdLst/>
              <a:ahLst/>
              <a:cxnLst/>
              <a:rect r="r" b="b" t="t" l="l"/>
              <a:pathLst>
                <a:path h="1505077" w="2298954">
                  <a:moveTo>
                    <a:pt x="2298954" y="1505077"/>
                  </a:moveTo>
                  <a:lnTo>
                    <a:pt x="0" y="1505077"/>
                  </a:lnTo>
                  <a:lnTo>
                    <a:pt x="0" y="0"/>
                  </a:lnTo>
                  <a:lnTo>
                    <a:pt x="2298954" y="0"/>
                  </a:lnTo>
                  <a:lnTo>
                    <a:pt x="2298954" y="1505077"/>
                  </a:lnTo>
                  <a:close/>
                </a:path>
              </a:pathLst>
            </a:custGeom>
            <a:blipFill>
              <a:blip r:embed="rId4"/>
              <a:stretch>
                <a:fillRect l="-6793" t="0" r="-6793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717292" y="76327"/>
              <a:ext cx="2301367" cy="1505077"/>
            </a:xfrm>
            <a:custGeom>
              <a:avLst/>
              <a:gdLst/>
              <a:ahLst/>
              <a:cxnLst/>
              <a:rect r="r" b="b" t="t" l="l"/>
              <a:pathLst>
                <a:path h="1505077" w="2301367">
                  <a:moveTo>
                    <a:pt x="2301367" y="1505077"/>
                  </a:moveTo>
                  <a:lnTo>
                    <a:pt x="0" y="1505077"/>
                  </a:lnTo>
                  <a:lnTo>
                    <a:pt x="0" y="0"/>
                  </a:lnTo>
                  <a:lnTo>
                    <a:pt x="2301367" y="0"/>
                  </a:lnTo>
                  <a:lnTo>
                    <a:pt x="2301367" y="1505077"/>
                  </a:lnTo>
                  <a:close/>
                </a:path>
              </a:pathLst>
            </a:custGeom>
            <a:blipFill>
              <a:blip r:embed="rId5"/>
              <a:stretch>
                <a:fillRect l="-6734" t="0" r="-6734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358384" cy="1655064"/>
            </a:xfrm>
            <a:custGeom>
              <a:avLst/>
              <a:gdLst/>
              <a:ahLst/>
              <a:cxnLst/>
              <a:rect r="r" b="b" t="t" l="l"/>
              <a:pathLst>
                <a:path h="1655064" w="5358384">
                  <a:moveTo>
                    <a:pt x="5358384" y="1655064"/>
                  </a:moveTo>
                  <a:lnTo>
                    <a:pt x="0" y="1655064"/>
                  </a:lnTo>
                  <a:lnTo>
                    <a:pt x="0" y="0"/>
                  </a:lnTo>
                  <a:lnTo>
                    <a:pt x="5358384" y="0"/>
                  </a:lnTo>
                  <a:lnTo>
                    <a:pt x="5358384" y="1655064"/>
                  </a:lnTo>
                  <a:close/>
                </a:path>
              </a:pathLst>
            </a:custGeom>
            <a:blipFill>
              <a:blip r:embed="rId6"/>
              <a:stretch>
                <a:fillRect l="-20" t="0" r="-20" b="0"/>
              </a:stretch>
            </a:blipFill>
          </p:spPr>
        </p:sp>
      </p:grpSp>
      <p:graphicFrame>
        <p:nvGraphicFramePr>
          <p:cNvPr name="Object 7" id="7"/>
          <p:cNvGraphicFramePr/>
          <p:nvPr/>
        </p:nvGraphicFramePr>
        <p:xfrm>
          <a:off x="10110704" y="6565672"/>
          <a:ext cx="7543800" cy="3143250"/>
        </p:xfrm>
        <a:graphic>
          <a:graphicData uri="http://schemas.openxmlformats.org/presentationml/2006/ole">
            <p:oleObj imgW="9042400" imgH="4648200" r:id="rId8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1570460" y="1123950"/>
            <a:ext cx="15147079" cy="739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00"/>
              </a:lnSpc>
            </a:pPr>
            <a:r>
              <a:rPr lang="en-US" sz="5500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Técnica de Instrumentos de recolección de datos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27034" y="6556147"/>
            <a:ext cx="9334754" cy="2581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13"/>
              </a:lnSpc>
            </a:pPr>
            <a:r>
              <a:rPr lang="en-US" b="true" sz="1928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Técnica Utilizada:</a:t>
            </a:r>
          </a:p>
          <a:p>
            <a:pPr algn="just" marL="416290" indent="-208145" lvl="1">
              <a:lnSpc>
                <a:spcPts val="2313"/>
              </a:lnSpc>
              <a:buFont typeface="Arial"/>
              <a:buChar char="•"/>
            </a:pPr>
            <a:r>
              <a:rPr lang="en-US" b="true" sz="1928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Observación directa:</a:t>
            </a:r>
            <a:r>
              <a:rPr lang="en-US" sz="192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Se evaluaron los procesos manuales actuales del DARE (admisión, registro, atención al estudiante, carga de notas).</a:t>
            </a:r>
          </a:p>
          <a:p>
            <a:pPr algn="just" marL="416290" indent="-208145" lvl="1">
              <a:lnSpc>
                <a:spcPts val="2313"/>
              </a:lnSpc>
              <a:buFont typeface="Arial"/>
              <a:buChar char="•"/>
            </a:pPr>
            <a:r>
              <a:rPr lang="en-US" b="true" sz="1928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Entrevistas semiestructuradas:</a:t>
            </a:r>
            <a:r>
              <a:rPr lang="en-US" sz="192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Aplicadas al personal administrativo y técnico del DARE para conocer flujos internos, limitaciones y percepción sobre la viabilidad del sistema digital.</a:t>
            </a:r>
          </a:p>
          <a:p>
            <a:pPr algn="just" marL="416290" indent="-208145" lvl="1">
              <a:lnSpc>
                <a:spcPts val="2313"/>
              </a:lnSpc>
              <a:buFont typeface="Arial"/>
              <a:buChar char="•"/>
            </a:pPr>
            <a:r>
              <a:rPr lang="en-US" b="true" sz="1928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Encuesta tipo formulario:</a:t>
            </a:r>
            <a:r>
              <a:rPr lang="en-US" sz="192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Aplicada a 20 estudiantes de distintas carreras de la UPTMKR para identificar su experiencia con el sistema actual y su opinión sobre una app de gestión académica.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945975">
            <a:off x="15101778" y="-5016438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8"/>
                </a:lnTo>
                <a:lnTo>
                  <a:pt x="0" y="102997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33789" y="6624602"/>
            <a:ext cx="11061380" cy="3416570"/>
            <a:chOff x="0" y="0"/>
            <a:chExt cx="5358384" cy="16550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345059" y="76327"/>
              <a:ext cx="2298954" cy="1505077"/>
            </a:xfrm>
            <a:custGeom>
              <a:avLst/>
              <a:gdLst/>
              <a:ahLst/>
              <a:cxnLst/>
              <a:rect r="r" b="b" t="t" l="l"/>
              <a:pathLst>
                <a:path h="1505077" w="2298954">
                  <a:moveTo>
                    <a:pt x="2298954" y="1505077"/>
                  </a:moveTo>
                  <a:lnTo>
                    <a:pt x="0" y="1505077"/>
                  </a:lnTo>
                  <a:lnTo>
                    <a:pt x="0" y="0"/>
                  </a:lnTo>
                  <a:lnTo>
                    <a:pt x="2298954" y="0"/>
                  </a:lnTo>
                  <a:lnTo>
                    <a:pt x="2298954" y="1505077"/>
                  </a:lnTo>
                  <a:close/>
                </a:path>
              </a:pathLst>
            </a:custGeom>
            <a:blipFill>
              <a:blip r:embed="rId4"/>
              <a:stretch>
                <a:fillRect l="-6793" t="0" r="-6793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717292" y="76327"/>
              <a:ext cx="2301367" cy="1505077"/>
            </a:xfrm>
            <a:custGeom>
              <a:avLst/>
              <a:gdLst/>
              <a:ahLst/>
              <a:cxnLst/>
              <a:rect r="r" b="b" t="t" l="l"/>
              <a:pathLst>
                <a:path h="1505077" w="2301367">
                  <a:moveTo>
                    <a:pt x="2301367" y="1505077"/>
                  </a:moveTo>
                  <a:lnTo>
                    <a:pt x="0" y="1505077"/>
                  </a:lnTo>
                  <a:lnTo>
                    <a:pt x="0" y="0"/>
                  </a:lnTo>
                  <a:lnTo>
                    <a:pt x="2301367" y="0"/>
                  </a:lnTo>
                  <a:lnTo>
                    <a:pt x="2301367" y="1505077"/>
                  </a:lnTo>
                  <a:close/>
                </a:path>
              </a:pathLst>
            </a:custGeom>
            <a:blipFill>
              <a:blip r:embed="rId5"/>
              <a:stretch>
                <a:fillRect l="-6734" t="0" r="-6734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358384" cy="1655064"/>
            </a:xfrm>
            <a:custGeom>
              <a:avLst/>
              <a:gdLst/>
              <a:ahLst/>
              <a:cxnLst/>
              <a:rect r="r" b="b" t="t" l="l"/>
              <a:pathLst>
                <a:path h="1655064" w="5358384">
                  <a:moveTo>
                    <a:pt x="5358384" y="1655064"/>
                  </a:moveTo>
                  <a:lnTo>
                    <a:pt x="0" y="1655064"/>
                  </a:lnTo>
                  <a:lnTo>
                    <a:pt x="0" y="0"/>
                  </a:lnTo>
                  <a:lnTo>
                    <a:pt x="5358384" y="0"/>
                  </a:lnTo>
                  <a:lnTo>
                    <a:pt x="5358384" y="1655064"/>
                  </a:lnTo>
                  <a:close/>
                </a:path>
              </a:pathLst>
            </a:custGeom>
            <a:blipFill>
              <a:blip r:embed="rId6"/>
              <a:stretch>
                <a:fillRect l="-20" t="0" r="-2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774356" y="1123950"/>
            <a:ext cx="12327798" cy="739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00"/>
              </a:lnSpc>
            </a:pPr>
            <a:r>
              <a:rPr lang="en-US" sz="5500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 Análisis de la Técnica de Instrumentos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95479" y="2498908"/>
            <a:ext cx="7948521" cy="2700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23"/>
              </a:lnSpc>
            </a:pPr>
            <a:r>
              <a:rPr lang="en-US" b="true" sz="2269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Resul</a:t>
            </a:r>
            <a:r>
              <a:rPr lang="en-US" b="true" sz="2269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tados del Cuestionario a Estudiantes:</a:t>
            </a:r>
          </a:p>
          <a:p>
            <a:pPr algn="just" marL="490045" indent="-245023" lvl="1">
              <a:lnSpc>
                <a:spcPts val="2723"/>
              </a:lnSpc>
              <a:buFont typeface="Arial"/>
              <a:buChar char="•"/>
            </a:pPr>
            <a:r>
              <a:rPr lang="en-US" sz="226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Problemas principales: Falta de acceso remoto, dependencia presencial, lentitud y errores.</a:t>
            </a:r>
          </a:p>
          <a:p>
            <a:pPr algn="just" marL="490045" indent="-245023" lvl="1">
              <a:lnSpc>
                <a:spcPts val="2723"/>
              </a:lnSpc>
              <a:buFont typeface="Arial"/>
              <a:buChar char="•"/>
            </a:pPr>
            <a:r>
              <a:rPr lang="en-US" sz="226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Tiempos de trámite: Entre 30 minutos y 2 horas.</a:t>
            </a:r>
          </a:p>
          <a:p>
            <a:pPr algn="just" marL="490045" indent="-245023" lvl="1">
              <a:lnSpc>
                <a:spcPts val="2723"/>
              </a:lnSpc>
              <a:buFont typeface="Arial"/>
              <a:buChar char="•"/>
            </a:pPr>
            <a:r>
              <a:rPr lang="en-US" sz="226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Aceptación de la app: 95% considera que sería útil o muy útil.</a:t>
            </a:r>
          </a:p>
          <a:p>
            <a:pPr algn="just" marL="490045" indent="-245023" lvl="1">
              <a:lnSpc>
                <a:spcPts val="2723"/>
              </a:lnSpc>
              <a:buFont typeface="Arial"/>
              <a:buChar char="•"/>
            </a:pPr>
            <a:r>
              <a:rPr lang="en-US" sz="226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Funciones más deseadas: Consulta de notas, inscripción en línea, notificaciones y control de asistencia.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195169" y="5591630"/>
            <a:ext cx="6766235" cy="3516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31"/>
              </a:lnSpc>
            </a:pPr>
            <a:r>
              <a:rPr lang="en-US" b="true" sz="2359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Result</a:t>
            </a:r>
            <a:r>
              <a:rPr lang="en-US" b="true" sz="2359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ados de Entrevistas al Personal Técnico:</a:t>
            </a:r>
          </a:p>
          <a:p>
            <a:pPr algn="just" marL="509354" indent="-254677" lvl="1">
              <a:lnSpc>
                <a:spcPts val="2831"/>
              </a:lnSpc>
              <a:buFont typeface="Arial"/>
              <a:buChar char="•"/>
            </a:pPr>
            <a:r>
              <a:rPr lang="en-US" sz="235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Confirman que los procesos son manuales y los servidores están saturados.</a:t>
            </a:r>
          </a:p>
          <a:p>
            <a:pPr algn="just" marL="509354" indent="-254677" lvl="1">
              <a:lnSpc>
                <a:spcPts val="2831"/>
              </a:lnSpc>
              <a:buFont typeface="Arial"/>
              <a:buChar char="•"/>
            </a:pPr>
            <a:r>
              <a:rPr lang="en-US" sz="235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Proponen una API de consumo de datos sin modificar la base de datos original.</a:t>
            </a:r>
          </a:p>
          <a:p>
            <a:pPr algn="just" marL="509354" indent="-254677" lvl="1">
              <a:lnSpc>
                <a:spcPts val="2831"/>
              </a:lnSpc>
              <a:buFont typeface="Arial"/>
              <a:buChar char="•"/>
            </a:pPr>
            <a:r>
              <a:rPr lang="en-US" sz="235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Recomiendan autenticación mediante tokens temporales o biometría en versiones futuras.</a:t>
            </a:r>
          </a:p>
          <a:p>
            <a:pPr algn="just" marL="509354" indent="-254677" lvl="1">
              <a:lnSpc>
                <a:spcPts val="2831"/>
              </a:lnSpc>
              <a:buFont typeface="Arial"/>
              <a:buChar char="•"/>
            </a:pPr>
            <a:r>
              <a:rPr lang="en-US" sz="235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Validan que la app es técnicamente factible si se controla el tráfico y se optimiza la infraestructura.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22059" y="2508433"/>
            <a:ext cx="8031328" cy="2635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67"/>
              </a:lnSpc>
            </a:pPr>
            <a:r>
              <a:rPr lang="en-US" b="true" sz="2222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</a:t>
            </a:r>
            <a:r>
              <a:rPr lang="en-US" b="true" sz="2222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esultados de Entrevistas al Personal Administrativo:</a:t>
            </a:r>
          </a:p>
          <a:p>
            <a:pPr algn="just" marL="479856" indent="-239928" lvl="1">
              <a:lnSpc>
                <a:spcPts val="2667"/>
              </a:lnSpc>
              <a:buFont typeface="Arial"/>
              <a:buChar char="•"/>
            </a:pPr>
            <a:r>
              <a:rPr lang="en-US" sz="222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Reconocen lentitud y falta de acceso externo del sistema actual.</a:t>
            </a:r>
          </a:p>
          <a:p>
            <a:pPr algn="just" marL="479856" indent="-239928" lvl="1">
              <a:lnSpc>
                <a:spcPts val="2667"/>
              </a:lnSpc>
              <a:buFont typeface="Arial"/>
              <a:buChar char="•"/>
            </a:pPr>
            <a:r>
              <a:rPr lang="en-US" sz="222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Confirman la posibilidad de verificación de notas antes del procesamiento.</a:t>
            </a:r>
          </a:p>
          <a:p>
            <a:pPr algn="just" marL="479856" indent="-239928" lvl="1">
              <a:lnSpc>
                <a:spcPts val="2667"/>
              </a:lnSpc>
              <a:buFont typeface="Arial"/>
              <a:buChar char="•"/>
            </a:pPr>
            <a:r>
              <a:rPr lang="en-US" sz="222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Consideran viable la implementación de una app si mantiene seguridad y cifrado.</a:t>
            </a:r>
          </a:p>
          <a:p>
            <a:pPr algn="just" marL="479856" indent="-239928" lvl="1">
              <a:lnSpc>
                <a:spcPts val="2667"/>
              </a:lnSpc>
              <a:buFont typeface="Arial"/>
              <a:buChar char="•"/>
            </a:pPr>
            <a:r>
              <a:rPr lang="en-US" sz="222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Sugieren que la integración sea completa o por módulos.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9300848">
            <a:off x="12064338" y="5278644"/>
            <a:ext cx="13730046" cy="12931207"/>
          </a:xfrm>
          <a:custGeom>
            <a:avLst/>
            <a:gdLst/>
            <a:ahLst/>
            <a:cxnLst/>
            <a:rect r="r" b="b" t="t" l="l"/>
            <a:pathLst>
              <a:path h="12931207" w="13730046">
                <a:moveTo>
                  <a:pt x="0" y="0"/>
                </a:moveTo>
                <a:lnTo>
                  <a:pt x="13730046" y="0"/>
                </a:lnTo>
                <a:lnTo>
                  <a:pt x="13730046" y="12931207"/>
                </a:lnTo>
                <a:lnTo>
                  <a:pt x="0" y="129312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66750" y="1697672"/>
            <a:ext cx="14633282" cy="8231221"/>
          </a:xfrm>
          <a:custGeom>
            <a:avLst/>
            <a:gdLst/>
            <a:ahLst/>
            <a:cxnLst/>
            <a:rect r="r" b="b" t="t" l="l"/>
            <a:pathLst>
              <a:path h="8231221" w="14633282">
                <a:moveTo>
                  <a:pt x="0" y="0"/>
                </a:moveTo>
                <a:lnTo>
                  <a:pt x="14633282" y="0"/>
                </a:lnTo>
                <a:lnTo>
                  <a:pt x="14633282" y="8231221"/>
                </a:lnTo>
                <a:lnTo>
                  <a:pt x="0" y="82312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95877" y="337487"/>
            <a:ext cx="12944475" cy="1166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99"/>
              </a:lnSpc>
            </a:pPr>
            <a:r>
              <a:rPr lang="en-US" sz="8799">
                <a:solidFill>
                  <a:srgbClr val="D4AF37"/>
                </a:solidFill>
                <a:latin typeface="Gilda Display"/>
                <a:ea typeface="Gilda Display"/>
                <a:cs typeface="Gilda Display"/>
                <a:sym typeface="Gilda Display"/>
              </a:rPr>
              <a:t>M</a:t>
            </a:r>
            <a:r>
              <a:rPr lang="en-US" sz="8799">
                <a:solidFill>
                  <a:srgbClr val="D4AF37"/>
                </a:solidFill>
                <a:latin typeface="Gilda Display"/>
                <a:ea typeface="Gilda Display"/>
                <a:cs typeface="Gilda Display"/>
                <a:sym typeface="Gilda Display"/>
              </a:rPr>
              <a:t>odelado de Negocio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9300848">
            <a:off x="12064338" y="5278644"/>
            <a:ext cx="13730046" cy="12931207"/>
          </a:xfrm>
          <a:custGeom>
            <a:avLst/>
            <a:gdLst/>
            <a:ahLst/>
            <a:cxnLst/>
            <a:rect r="r" b="b" t="t" l="l"/>
            <a:pathLst>
              <a:path h="12931207" w="13730046">
                <a:moveTo>
                  <a:pt x="0" y="0"/>
                </a:moveTo>
                <a:lnTo>
                  <a:pt x="13730046" y="0"/>
                </a:lnTo>
                <a:lnTo>
                  <a:pt x="13730046" y="12931207"/>
                </a:lnTo>
                <a:lnTo>
                  <a:pt x="0" y="129312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43665" y="200280"/>
            <a:ext cx="9985850" cy="6320652"/>
          </a:xfrm>
          <a:custGeom>
            <a:avLst/>
            <a:gdLst/>
            <a:ahLst/>
            <a:cxnLst/>
            <a:rect r="r" b="b" t="t" l="l"/>
            <a:pathLst>
              <a:path h="6320652" w="9985850">
                <a:moveTo>
                  <a:pt x="0" y="0"/>
                </a:moveTo>
                <a:lnTo>
                  <a:pt x="9985850" y="0"/>
                </a:lnTo>
                <a:lnTo>
                  <a:pt x="9985850" y="6320652"/>
                </a:lnTo>
                <a:lnTo>
                  <a:pt x="0" y="63206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695" t="0" r="-6476" b="-57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29515" y="5595780"/>
            <a:ext cx="7524773" cy="4232685"/>
          </a:xfrm>
          <a:custGeom>
            <a:avLst/>
            <a:gdLst/>
            <a:ahLst/>
            <a:cxnLst/>
            <a:rect r="r" b="b" t="t" l="l"/>
            <a:pathLst>
              <a:path h="4232685" w="7524773">
                <a:moveTo>
                  <a:pt x="0" y="0"/>
                </a:moveTo>
                <a:lnTo>
                  <a:pt x="7524773" y="0"/>
                </a:lnTo>
                <a:lnTo>
                  <a:pt x="7524773" y="4232685"/>
                </a:lnTo>
                <a:lnTo>
                  <a:pt x="0" y="42326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3665" y="6751173"/>
            <a:ext cx="6294415" cy="669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00"/>
              </a:lnSpc>
            </a:pPr>
            <a:r>
              <a:rPr lang="en-US" sz="5000">
                <a:solidFill>
                  <a:srgbClr val="D4AF37"/>
                </a:solidFill>
                <a:latin typeface="Gilda Display"/>
                <a:ea typeface="Gilda Display"/>
                <a:cs typeface="Gilda Display"/>
                <a:sym typeface="Gilda Display"/>
              </a:rPr>
              <a:t>Tabla de Normas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UPTM Digital: Aplicación Móvil</dc:description>
  <dc:identifier>DAG20uaZuig</dc:identifier>
  <dcterms:modified xsi:type="dcterms:W3CDTF">2011-08-01T06:04:30Z</dcterms:modified>
  <cp:revision>1</cp:revision>
  <dc:title>Presentation - UPTM Digital: Aplicación Móvil</dc:title>
</cp:coreProperties>
</file>