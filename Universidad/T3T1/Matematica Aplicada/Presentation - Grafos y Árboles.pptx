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Ovo" charset="1" panose="02020502070400060406"/>
      <p:regular r:id="rId15"/>
    </p:embeddedFont>
    <p:embeddedFont>
      <p:font typeface="Open Sauce Bold" charset="1" panose="00000800000000000000"/>
      <p:regular r:id="rId16"/>
    </p:embeddedFont>
    <p:embeddedFont>
      <p:font typeface="Open Sauce Light" charset="1" panose="00000400000000000000"/>
      <p:regular r:id="rId17"/>
    </p:embeddedFont>
    <p:embeddedFont>
      <p:font typeface="Open Sauce" charset="1" panose="000005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svg" Type="http://schemas.openxmlformats.org/officeDocument/2006/relationships/image"/><Relationship Id="rId2" Target="../media/image14.jpe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Relationship Id="rId7" Target="../media/image19.png" Type="http://schemas.openxmlformats.org/officeDocument/2006/relationships/image"/><Relationship Id="rId8" Target="../media/image20.sv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23.jpeg" Type="http://schemas.openxmlformats.org/officeDocument/2006/relationships/image"/><Relationship Id="rId9" Target="../media/image24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jpeg" Type="http://schemas.openxmlformats.org/officeDocument/2006/relationships/image"/><Relationship Id="rId11" Target="../media/VAG1WpbZ2Vs.mp4" Type="http://schemas.openxmlformats.org/officeDocument/2006/relationships/video"/><Relationship Id="rId12" Target="../media/VAG1WpbZ2Vs.mp4" Type="http://schemas.microsoft.com/office/2007/relationships/media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Relationship Id="rId8" Target="../media/image29.png" Type="http://schemas.openxmlformats.org/officeDocument/2006/relationships/image"/><Relationship Id="rId9" Target="../media/image3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0.jpeg" Type="http://schemas.openxmlformats.org/officeDocument/2006/relationships/image"/><Relationship Id="rId11" Target="../media/image41.jpeg" Type="http://schemas.openxmlformats.org/officeDocument/2006/relationships/image"/><Relationship Id="rId2" Target="../media/image32.png" Type="http://schemas.openxmlformats.org/officeDocument/2006/relationships/image"/><Relationship Id="rId3" Target="../media/image33.svg" Type="http://schemas.openxmlformats.org/officeDocument/2006/relationships/image"/><Relationship Id="rId4" Target="../media/image34.png" Type="http://schemas.openxmlformats.org/officeDocument/2006/relationships/image"/><Relationship Id="rId5" Target="../media/image35.svg" Type="http://schemas.openxmlformats.org/officeDocument/2006/relationships/image"/><Relationship Id="rId6" Target="../media/image36.png" Type="http://schemas.openxmlformats.org/officeDocument/2006/relationships/image"/><Relationship Id="rId7" Target="../media/image37.svg" Type="http://schemas.openxmlformats.org/officeDocument/2006/relationships/image"/><Relationship Id="rId8" Target="../media/image38.png" Type="http://schemas.openxmlformats.org/officeDocument/2006/relationships/image"/><Relationship Id="rId9" Target="../media/image3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6.png" Type="http://schemas.openxmlformats.org/officeDocument/2006/relationships/image"/><Relationship Id="rId11" Target="../media/image47.png" Type="http://schemas.openxmlformats.org/officeDocument/2006/relationships/image"/><Relationship Id="rId12" Target="../media/image48.png" Type="http://schemas.openxmlformats.org/officeDocument/2006/relationships/image"/><Relationship Id="rId2" Target="../media/image42.png" Type="http://schemas.openxmlformats.org/officeDocument/2006/relationships/image"/><Relationship Id="rId3" Target="../media/image34.png" Type="http://schemas.openxmlformats.org/officeDocument/2006/relationships/image"/><Relationship Id="rId4" Target="../media/image35.svg" Type="http://schemas.openxmlformats.org/officeDocument/2006/relationships/image"/><Relationship Id="rId5" Target="../media/image43.png" Type="http://schemas.openxmlformats.org/officeDocument/2006/relationships/image"/><Relationship Id="rId6" Target="../media/image44.svg" Type="http://schemas.openxmlformats.org/officeDocument/2006/relationships/image"/><Relationship Id="rId7" Target="../media/image21.png" Type="http://schemas.openxmlformats.org/officeDocument/2006/relationships/image"/><Relationship Id="rId8" Target="../media/image22.svg" Type="http://schemas.openxmlformats.org/officeDocument/2006/relationships/image"/><Relationship Id="rId9" Target="../media/image4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4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0.png" Type="http://schemas.openxmlformats.org/officeDocument/2006/relationships/image"/><Relationship Id="rId3" Target="../media/image51.svg" Type="http://schemas.openxmlformats.org/officeDocument/2006/relationships/image"/><Relationship Id="rId4" Target="../media/image34.png" Type="http://schemas.openxmlformats.org/officeDocument/2006/relationships/image"/><Relationship Id="rId5" Target="../media/image35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5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3.png" Type="http://schemas.openxmlformats.org/officeDocument/2006/relationships/image"/><Relationship Id="rId3" Target="../media/image54.svg" Type="http://schemas.openxmlformats.org/officeDocument/2006/relationships/image"/><Relationship Id="rId4" Target="../media/image55.png" Type="http://schemas.openxmlformats.org/officeDocument/2006/relationships/image"/><Relationship Id="rId5" Target="../media/image5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5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52267"/>
            <a:ext cx="7813806" cy="8887251"/>
            <a:chOff x="0" y="0"/>
            <a:chExt cx="5600700" cy="63701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600700" cy="6370114"/>
            </a:xfrm>
            <a:custGeom>
              <a:avLst/>
              <a:gdLst/>
              <a:ahLst/>
              <a:cxnLst/>
              <a:rect r="r" b="b" t="t" l="l"/>
              <a:pathLst>
                <a:path h="6370114" w="5600700">
                  <a:moveTo>
                    <a:pt x="3177540" y="0"/>
                  </a:moveTo>
                  <a:lnTo>
                    <a:pt x="0" y="0"/>
                  </a:lnTo>
                  <a:lnTo>
                    <a:pt x="0" y="4771085"/>
                  </a:lnTo>
                  <a:lnTo>
                    <a:pt x="2421890" y="4771085"/>
                  </a:lnTo>
                  <a:lnTo>
                    <a:pt x="2421890" y="6370114"/>
                  </a:lnTo>
                  <a:lnTo>
                    <a:pt x="5600700" y="6370114"/>
                  </a:lnTo>
                  <a:lnTo>
                    <a:pt x="5600700" y="1599028"/>
                  </a:lnTo>
                  <a:lnTo>
                    <a:pt x="3177540" y="1599028"/>
                  </a:lnTo>
                  <a:lnTo>
                    <a:pt x="3177540" y="0"/>
                  </a:lnTo>
                  <a:close/>
                </a:path>
              </a:pathLst>
            </a:custGeom>
            <a:blipFill>
              <a:blip r:embed="rId2"/>
              <a:stretch>
                <a:fillRect l="0" t="-312" r="0" b="-312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6718005" y="0"/>
            <a:ext cx="2192128" cy="2192128"/>
          </a:xfrm>
          <a:custGeom>
            <a:avLst/>
            <a:gdLst/>
            <a:ahLst/>
            <a:cxnLst/>
            <a:rect r="r" b="b" t="t" l="l"/>
            <a:pathLst>
              <a:path h="2192128" w="2192128">
                <a:moveTo>
                  <a:pt x="0" y="0"/>
                </a:moveTo>
                <a:lnTo>
                  <a:pt x="2192128" y="0"/>
                </a:lnTo>
                <a:lnTo>
                  <a:pt x="2192128" y="2192128"/>
                </a:lnTo>
                <a:lnTo>
                  <a:pt x="0" y="21921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9672634" y="2602743"/>
            <a:ext cx="8150089" cy="6125640"/>
            <a:chOff x="0" y="0"/>
            <a:chExt cx="10866785" cy="8167519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209550"/>
              <a:ext cx="10866785" cy="39500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1191"/>
                </a:lnSpc>
              </a:pPr>
              <a:r>
                <a:rPr lang="en-US" sz="11191">
                  <a:solidFill>
                    <a:srgbClr val="1F4E79"/>
                  </a:solidFill>
                  <a:latin typeface="Ovo"/>
                  <a:ea typeface="Ovo"/>
                  <a:cs typeface="Ovo"/>
                  <a:sym typeface="Ovo"/>
                </a:rPr>
                <a:t>Grafos y Árboles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5021393"/>
              <a:ext cx="10866785" cy="31461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4700"/>
                </a:lnSpc>
              </a:pPr>
              <a:r>
                <a:rPr lang="en-US" sz="3357" b="true">
                  <a:solidFill>
                    <a:srgbClr val="1F4E79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Angel Peña 24.349.651</a:t>
              </a:r>
            </a:p>
            <a:p>
              <a:pPr algn="r">
                <a:lnSpc>
                  <a:spcPts val="4700"/>
                </a:lnSpc>
              </a:pPr>
              <a:r>
                <a:rPr lang="en-US" sz="3357" b="true">
                  <a:solidFill>
                    <a:srgbClr val="1F4E79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César Sánchez 13358342</a:t>
              </a:r>
            </a:p>
            <a:p>
              <a:pPr algn="r" marL="0" indent="0" lvl="0">
                <a:lnSpc>
                  <a:spcPts val="4700"/>
                </a:lnSpc>
                <a:spcBef>
                  <a:spcPct val="0"/>
                </a:spcBef>
              </a:pPr>
              <a:r>
                <a:rPr lang="en-US" b="true" sz="3357">
                  <a:solidFill>
                    <a:srgbClr val="1F4E79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J</a:t>
              </a:r>
              <a:r>
                <a:rPr lang="en-US" b="true" sz="3357">
                  <a:solidFill>
                    <a:srgbClr val="1F4E79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onathan Nava 15.921.623</a:t>
              </a:r>
            </a:p>
            <a:p>
              <a:pPr algn="r" marL="0" indent="0" lvl="0">
                <a:lnSpc>
                  <a:spcPts val="4700"/>
                </a:lnSpc>
                <a:spcBef>
                  <a:spcPct val="0"/>
                </a:spcBef>
              </a:pPr>
              <a:r>
                <a:rPr lang="en-US" b="true" sz="3357">
                  <a:solidFill>
                    <a:srgbClr val="1F4E79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Renee Pavon 11.955.581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5400000">
            <a:off x="-864673" y="6592477"/>
            <a:ext cx="2242507" cy="2242507"/>
          </a:xfrm>
          <a:custGeom>
            <a:avLst/>
            <a:gdLst/>
            <a:ahLst/>
            <a:cxnLst/>
            <a:rect r="r" b="b" t="t" l="l"/>
            <a:pathLst>
              <a:path h="2242507" w="2242507">
                <a:moveTo>
                  <a:pt x="0" y="0"/>
                </a:moveTo>
                <a:lnTo>
                  <a:pt x="2242507" y="0"/>
                </a:lnTo>
                <a:lnTo>
                  <a:pt x="2242507" y="2242507"/>
                </a:lnTo>
                <a:lnTo>
                  <a:pt x="0" y="22425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400000">
            <a:off x="7814069" y="8834984"/>
            <a:ext cx="1454383" cy="1454383"/>
          </a:xfrm>
          <a:custGeom>
            <a:avLst/>
            <a:gdLst/>
            <a:ahLst/>
            <a:cxnLst/>
            <a:rect r="r" b="b" t="t" l="l"/>
            <a:pathLst>
              <a:path h="1454383" w="1454383">
                <a:moveTo>
                  <a:pt x="0" y="0"/>
                </a:moveTo>
                <a:lnTo>
                  <a:pt x="1454383" y="0"/>
                </a:lnTo>
                <a:lnTo>
                  <a:pt x="1454383" y="1454384"/>
                </a:lnTo>
                <a:lnTo>
                  <a:pt x="0" y="145438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5400000">
            <a:off x="1377834" y="8834984"/>
            <a:ext cx="2001389" cy="2001389"/>
          </a:xfrm>
          <a:custGeom>
            <a:avLst/>
            <a:gdLst/>
            <a:ahLst/>
            <a:cxnLst/>
            <a:rect r="r" b="b" t="t" l="l"/>
            <a:pathLst>
              <a:path h="2001389" w="2001389">
                <a:moveTo>
                  <a:pt x="0" y="0"/>
                </a:moveTo>
                <a:lnTo>
                  <a:pt x="2001389" y="0"/>
                </a:lnTo>
                <a:lnTo>
                  <a:pt x="2001389" y="2001389"/>
                </a:lnTo>
                <a:lnTo>
                  <a:pt x="0" y="200138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756214" y="7094810"/>
            <a:ext cx="1244629" cy="1237840"/>
          </a:xfrm>
          <a:custGeom>
            <a:avLst/>
            <a:gdLst/>
            <a:ahLst/>
            <a:cxnLst/>
            <a:rect r="r" b="b" t="t" l="l"/>
            <a:pathLst>
              <a:path h="1237840" w="1244629">
                <a:moveTo>
                  <a:pt x="0" y="0"/>
                </a:moveTo>
                <a:lnTo>
                  <a:pt x="1244629" y="0"/>
                </a:lnTo>
                <a:lnTo>
                  <a:pt x="1244629" y="1237841"/>
                </a:lnTo>
                <a:lnTo>
                  <a:pt x="0" y="123784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986093" y="501117"/>
            <a:ext cx="1189895" cy="1189895"/>
          </a:xfrm>
          <a:custGeom>
            <a:avLst/>
            <a:gdLst/>
            <a:ahLst/>
            <a:cxnLst/>
            <a:rect r="r" b="b" t="t" l="l"/>
            <a:pathLst>
              <a:path h="1189895" w="1189895">
                <a:moveTo>
                  <a:pt x="0" y="0"/>
                </a:moveTo>
                <a:lnTo>
                  <a:pt x="1189894" y="0"/>
                </a:lnTo>
                <a:lnTo>
                  <a:pt x="1189894" y="1189895"/>
                </a:lnTo>
                <a:lnTo>
                  <a:pt x="0" y="118989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27600" y="0"/>
            <a:ext cx="8555432" cy="8864173"/>
            <a:chOff x="0" y="0"/>
            <a:chExt cx="4857277" cy="50325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57277" cy="5032562"/>
            </a:xfrm>
            <a:custGeom>
              <a:avLst/>
              <a:gdLst/>
              <a:ahLst/>
              <a:cxnLst/>
              <a:rect r="r" b="b" t="t" l="l"/>
              <a:pathLst>
                <a:path h="5032562" w="4857277">
                  <a:moveTo>
                    <a:pt x="0" y="0"/>
                  </a:moveTo>
                  <a:lnTo>
                    <a:pt x="0" y="3145859"/>
                  </a:lnTo>
                  <a:lnTo>
                    <a:pt x="1004767" y="3145859"/>
                  </a:lnTo>
                  <a:lnTo>
                    <a:pt x="1004767" y="5032562"/>
                  </a:lnTo>
                  <a:lnTo>
                    <a:pt x="4354352" y="5032562"/>
                  </a:lnTo>
                  <a:lnTo>
                    <a:pt x="4354352" y="1886703"/>
                  </a:lnTo>
                  <a:lnTo>
                    <a:pt x="4857277" y="1886703"/>
                  </a:lnTo>
                  <a:lnTo>
                    <a:pt x="4857277" y="0"/>
                  </a:lnTo>
                  <a:close/>
                </a:path>
              </a:pathLst>
            </a:custGeom>
            <a:blipFill>
              <a:blip r:embed="rId2"/>
              <a:stretch>
                <a:fillRect l="0" t="-269" r="0" b="-26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41318" y="1319679"/>
            <a:ext cx="7879199" cy="3636325"/>
            <a:chOff x="0" y="0"/>
            <a:chExt cx="10505599" cy="4848433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152400"/>
              <a:ext cx="10505599" cy="14928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115"/>
                </a:lnSpc>
              </a:pPr>
              <a:r>
                <a:rPr lang="en-US" sz="8115">
                  <a:solidFill>
                    <a:srgbClr val="1F4E79"/>
                  </a:solidFill>
                  <a:latin typeface="Ovo"/>
                  <a:ea typeface="Ovo"/>
                  <a:cs typeface="Ovo"/>
                  <a:sym typeface="Ovo"/>
                </a:rPr>
                <a:t>Teo</a:t>
              </a:r>
              <a:r>
                <a:rPr lang="en-US" sz="8115">
                  <a:solidFill>
                    <a:srgbClr val="1F4E79"/>
                  </a:solidFill>
                  <a:latin typeface="Ovo"/>
                  <a:ea typeface="Ovo"/>
                  <a:cs typeface="Ovo"/>
                  <a:sym typeface="Ovo"/>
                </a:rPr>
                <a:t>ría de Grafos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256962"/>
              <a:ext cx="10505599" cy="25914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17"/>
                </a:lnSpc>
                <a:spcBef>
                  <a:spcPct val="0"/>
                </a:spcBef>
              </a:pPr>
              <a:r>
                <a:rPr lang="en-US" b="true" sz="2397">
                  <a:solidFill>
                    <a:srgbClr val="1F4E79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Multigraf</a:t>
              </a:r>
              <a:r>
                <a:rPr lang="en-US" b="true" sz="2397" strike="noStrike" u="none">
                  <a:solidFill>
                    <a:srgbClr val="1F4E79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os</a:t>
              </a:r>
              <a:r>
                <a:rPr lang="en-US" sz="2397" strike="noStrike" u="none">
                  <a:solidFill>
                    <a:srgbClr val="1F4E79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: son</a:t>
              </a:r>
              <a:r>
                <a:rPr lang="en-US" sz="2397" strike="noStrike" u="none">
                  <a:solidFill>
                    <a:srgbClr val="1F4E79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 </a:t>
              </a:r>
              <a:r>
                <a:rPr lang="en-US" sz="2397" strike="noStrike" u="none">
                  <a:solidFill>
                    <a:srgbClr val="1F4E79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grafos en los</a:t>
              </a:r>
              <a:r>
                <a:rPr lang="en-US" sz="2397" strike="noStrike" u="none">
                  <a:solidFill>
                    <a:srgbClr val="1F4E79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 </a:t>
              </a:r>
              <a:r>
                <a:rPr lang="en-US" sz="2397" strike="noStrike" u="none">
                  <a:solidFill>
                    <a:srgbClr val="1F4E79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que puede</a:t>
              </a:r>
              <a:r>
                <a:rPr lang="en-US" sz="2397" strike="noStrike" u="none">
                  <a:solidFill>
                    <a:srgbClr val="1F4E79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n e</a:t>
              </a:r>
              <a:r>
                <a:rPr lang="en-US" sz="2397" strike="noStrike" u="none">
                  <a:solidFill>
                    <a:srgbClr val="1F4E79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xi</a:t>
              </a:r>
              <a:r>
                <a:rPr lang="en-US" sz="2397" strike="noStrike" u="none">
                  <a:solidFill>
                    <a:srgbClr val="1F4E79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st</a:t>
              </a:r>
              <a:r>
                <a:rPr lang="en-US" sz="2397" strike="noStrike" u="none">
                  <a:solidFill>
                    <a:srgbClr val="1F4E79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i</a:t>
              </a:r>
              <a:r>
                <a:rPr lang="en-US" sz="2397" strike="noStrike" u="none">
                  <a:solidFill>
                    <a:srgbClr val="1F4E79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r</a:t>
              </a:r>
              <a:r>
                <a:rPr lang="en-US" sz="2397" strike="noStrike" u="none">
                  <a:solidFill>
                    <a:srgbClr val="1F4E79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 va</a:t>
              </a:r>
              <a:r>
                <a:rPr lang="en-US" sz="2397" strike="noStrike" u="none">
                  <a:solidFill>
                    <a:srgbClr val="1F4E79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r</a:t>
              </a:r>
              <a:r>
                <a:rPr lang="en-US" sz="2397" strike="noStrike" u="none">
                  <a:solidFill>
                    <a:srgbClr val="1F4E79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i</a:t>
              </a:r>
              <a:r>
                <a:rPr lang="en-US" sz="2397" strike="noStrike" u="none">
                  <a:solidFill>
                    <a:srgbClr val="1F4E79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as a</a:t>
              </a:r>
              <a:r>
                <a:rPr lang="en-US" sz="2397" strike="noStrike" u="none">
                  <a:solidFill>
                    <a:srgbClr val="1F4E79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ris</a:t>
              </a:r>
              <a:r>
                <a:rPr lang="en-US" sz="2397" strike="noStrike" u="none">
                  <a:solidFill>
                    <a:srgbClr val="1F4E79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tas en</a:t>
              </a:r>
              <a:r>
                <a:rPr lang="en-US" sz="2397" strike="noStrike" u="none">
                  <a:solidFill>
                    <a:srgbClr val="1F4E79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tre el</a:t>
              </a:r>
              <a:r>
                <a:rPr lang="en-US" sz="2397" strike="noStrike" u="none">
                  <a:solidFill>
                    <a:srgbClr val="1F4E79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 m</a:t>
              </a:r>
              <a:r>
                <a:rPr lang="en-US" sz="2397" strike="noStrike" u="none">
                  <a:solidFill>
                    <a:srgbClr val="1F4E79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ismo p</a:t>
              </a:r>
              <a:r>
                <a:rPr lang="en-US" sz="2397" strike="noStrike" u="none">
                  <a:solidFill>
                    <a:srgbClr val="1F4E79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a</a:t>
              </a:r>
              <a:r>
                <a:rPr lang="en-US" sz="2397" strike="noStrike" u="none">
                  <a:solidFill>
                    <a:srgbClr val="1F4E79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r d</a:t>
              </a:r>
              <a:r>
                <a:rPr lang="en-US" sz="2397" strike="noStrike" u="none">
                  <a:solidFill>
                    <a:srgbClr val="1F4E79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e</a:t>
              </a:r>
              <a:r>
                <a:rPr lang="en-US" sz="2397" strike="noStrike" u="none">
                  <a:solidFill>
                    <a:srgbClr val="1F4E79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 vér</a:t>
              </a:r>
              <a:r>
                <a:rPr lang="en-US" sz="2397" strike="noStrike" u="none">
                  <a:solidFill>
                    <a:srgbClr val="1F4E79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tic</a:t>
              </a:r>
              <a:r>
                <a:rPr lang="en-US" sz="2397" strike="noStrike" u="none">
                  <a:solidFill>
                    <a:srgbClr val="1F4E79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e</a:t>
              </a:r>
              <a:r>
                <a:rPr lang="en-US" sz="2397" strike="noStrike" u="none">
                  <a:solidFill>
                    <a:srgbClr val="1F4E79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s</a:t>
              </a:r>
              <a:r>
                <a:rPr lang="en-US" sz="2397" strike="noStrike" u="none">
                  <a:solidFill>
                    <a:srgbClr val="1F4E79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,</a:t>
              </a:r>
              <a:r>
                <a:rPr lang="en-US" sz="2397" strike="noStrike" u="none">
                  <a:solidFill>
                    <a:srgbClr val="1F4E79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 </a:t>
              </a:r>
              <a:r>
                <a:rPr lang="en-US" sz="2397" strike="noStrike" u="none">
                  <a:solidFill>
                    <a:srgbClr val="1F4E79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denominada</a:t>
              </a:r>
              <a:r>
                <a:rPr lang="en-US" sz="2397" strike="noStrike" u="none">
                  <a:solidFill>
                    <a:srgbClr val="1F4E79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s a</a:t>
              </a:r>
              <a:r>
                <a:rPr lang="en-US" sz="2397" strike="noStrike" u="none">
                  <a:solidFill>
                    <a:srgbClr val="1F4E79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r</a:t>
              </a:r>
              <a:r>
                <a:rPr lang="en-US" sz="2397" strike="noStrike" u="none">
                  <a:solidFill>
                    <a:srgbClr val="1F4E79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i</a:t>
              </a:r>
              <a:r>
                <a:rPr lang="en-US" sz="2397" strike="noStrike" u="none">
                  <a:solidFill>
                    <a:srgbClr val="1F4E79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st</a:t>
              </a:r>
              <a:r>
                <a:rPr lang="en-US" sz="2397" strike="noStrike" u="none">
                  <a:solidFill>
                    <a:srgbClr val="1F4E79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as </a:t>
              </a:r>
              <a:r>
                <a:rPr lang="en-US" sz="2397" strike="noStrike" u="none">
                  <a:solidFill>
                    <a:srgbClr val="1F4E79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par</a:t>
              </a:r>
              <a:r>
                <a:rPr lang="en-US" sz="2397" strike="noStrike" u="none">
                  <a:solidFill>
                    <a:srgbClr val="1F4E79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a</a:t>
              </a:r>
              <a:r>
                <a:rPr lang="en-US" sz="2397" strike="noStrike" u="none">
                  <a:solidFill>
                    <a:srgbClr val="1F4E79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lelas.</a:t>
              </a:r>
              <a:r>
                <a:rPr lang="en-US" sz="2397" strike="noStrike" u="none">
                  <a:solidFill>
                    <a:srgbClr val="1F4E79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 </a:t>
              </a:r>
              <a:r>
                <a:rPr lang="en-US" sz="2397" strike="noStrike" u="none">
                  <a:solidFill>
                    <a:srgbClr val="1F4E79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Estos mo</a:t>
              </a:r>
              <a:r>
                <a:rPr lang="en-US" sz="2397" strike="noStrike" u="none">
                  <a:solidFill>
                    <a:srgbClr val="1F4E79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de</a:t>
              </a:r>
              <a:r>
                <a:rPr lang="en-US" sz="2397" strike="noStrike" u="none">
                  <a:solidFill>
                    <a:srgbClr val="1F4E79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los </a:t>
              </a:r>
              <a:r>
                <a:rPr lang="en-US" sz="2397" strike="noStrike" u="none">
                  <a:solidFill>
                    <a:srgbClr val="1F4E79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se </a:t>
              </a:r>
              <a:r>
                <a:rPr lang="en-US" sz="2397" strike="noStrike" u="none">
                  <a:solidFill>
                    <a:srgbClr val="1F4E79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ap</a:t>
              </a:r>
              <a:r>
                <a:rPr lang="en-US" sz="2397" strike="noStrike" u="none">
                  <a:solidFill>
                    <a:srgbClr val="1F4E79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l</a:t>
              </a:r>
              <a:r>
                <a:rPr lang="en-US" sz="2397" strike="noStrike" u="none">
                  <a:solidFill>
                    <a:srgbClr val="1F4E79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ic</a:t>
              </a:r>
              <a:r>
                <a:rPr lang="en-US" sz="2397" strike="noStrike" u="none">
                  <a:solidFill>
                    <a:srgbClr val="1F4E79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a</a:t>
              </a:r>
              <a:r>
                <a:rPr lang="en-US" sz="2397" strike="noStrike" u="none">
                  <a:solidFill>
                    <a:srgbClr val="1F4E79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n,</a:t>
              </a:r>
              <a:r>
                <a:rPr lang="en-US" sz="2397" strike="noStrike" u="none">
                  <a:solidFill>
                    <a:srgbClr val="1F4E79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 </a:t>
              </a:r>
              <a:r>
                <a:rPr lang="en-US" sz="2397" strike="noStrike" u="none">
                  <a:solidFill>
                    <a:srgbClr val="1F4E79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p</a:t>
              </a:r>
              <a:r>
                <a:rPr lang="en-US" sz="2397" strike="noStrike" u="none">
                  <a:solidFill>
                    <a:srgbClr val="1F4E79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or </a:t>
              </a:r>
              <a:r>
                <a:rPr lang="en-US" sz="2397" strike="noStrike" u="none">
                  <a:solidFill>
                    <a:srgbClr val="1F4E79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ej</a:t>
              </a:r>
              <a:r>
                <a:rPr lang="en-US" sz="2397" strike="noStrike" u="none">
                  <a:solidFill>
                    <a:srgbClr val="1F4E79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e</a:t>
              </a:r>
              <a:r>
                <a:rPr lang="en-US" sz="2397" strike="noStrike" u="none">
                  <a:solidFill>
                    <a:srgbClr val="1F4E79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mplo, en</a:t>
              </a:r>
              <a:r>
                <a:rPr lang="en-US" sz="2397" strike="noStrike" u="none">
                  <a:solidFill>
                    <a:srgbClr val="1F4E79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 redes </a:t>
              </a:r>
              <a:r>
                <a:rPr lang="en-US" sz="2397" strike="noStrike" u="none">
                  <a:solidFill>
                    <a:srgbClr val="1F4E79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de tr</a:t>
              </a:r>
              <a:r>
                <a:rPr lang="en-US" sz="2397" strike="noStrike" u="none">
                  <a:solidFill>
                    <a:srgbClr val="1F4E79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a</a:t>
              </a:r>
              <a:r>
                <a:rPr lang="en-US" sz="2397" strike="noStrike" u="none">
                  <a:solidFill>
                    <a:srgbClr val="1F4E79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n</a:t>
              </a:r>
              <a:r>
                <a:rPr lang="en-US" sz="2397" strike="noStrike" u="none">
                  <a:solidFill>
                    <a:srgbClr val="1F4E79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s</a:t>
              </a:r>
              <a:r>
                <a:rPr lang="en-US" sz="2397" strike="noStrike" u="none">
                  <a:solidFill>
                    <a:srgbClr val="1F4E79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por</a:t>
              </a:r>
              <a:r>
                <a:rPr lang="en-US" sz="2397" strike="noStrike" u="none">
                  <a:solidFill>
                    <a:srgbClr val="1F4E79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t</a:t>
              </a:r>
              <a:r>
                <a:rPr lang="en-US" sz="2397" strike="noStrike" u="none">
                  <a:solidFill>
                    <a:srgbClr val="1F4E79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e</a:t>
              </a:r>
              <a:r>
                <a:rPr lang="en-US" sz="2397" strike="noStrike" u="none">
                  <a:solidFill>
                    <a:srgbClr val="1F4E79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 </a:t>
              </a:r>
              <a:r>
                <a:rPr lang="en-US" sz="2397" strike="noStrike" u="none">
                  <a:solidFill>
                    <a:srgbClr val="1F4E79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d</a:t>
              </a:r>
              <a:r>
                <a:rPr lang="en-US" sz="2397" strike="noStrike" u="none">
                  <a:solidFill>
                    <a:srgbClr val="1F4E79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o</a:t>
              </a:r>
              <a:r>
                <a:rPr lang="en-US" sz="2397" strike="noStrike" u="none">
                  <a:solidFill>
                    <a:srgbClr val="1F4E79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nde </a:t>
              </a:r>
              <a:r>
                <a:rPr lang="en-US" sz="2397" strike="noStrike" u="none">
                  <a:solidFill>
                    <a:srgbClr val="1F4E79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p</a:t>
              </a:r>
              <a:r>
                <a:rPr lang="en-US" sz="2397" strike="noStrike" u="none">
                  <a:solidFill>
                    <a:srgbClr val="1F4E79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ueden exis</a:t>
              </a:r>
              <a:r>
                <a:rPr lang="en-US" sz="2397" strike="noStrike" u="none">
                  <a:solidFill>
                    <a:srgbClr val="1F4E79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ti</a:t>
              </a:r>
              <a:r>
                <a:rPr lang="en-US" sz="2397" strike="noStrike" u="none">
                  <a:solidFill>
                    <a:srgbClr val="1F4E79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r </a:t>
              </a:r>
              <a:r>
                <a:rPr lang="en-US" sz="2397" strike="noStrike" u="none">
                  <a:solidFill>
                    <a:srgbClr val="1F4E79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m</a:t>
              </a:r>
              <a:r>
                <a:rPr lang="en-US" sz="2397" strike="noStrike" u="none">
                  <a:solidFill>
                    <a:srgbClr val="1F4E79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últ</a:t>
              </a:r>
              <a:r>
                <a:rPr lang="en-US" sz="2397" strike="noStrike" u="none">
                  <a:solidFill>
                    <a:srgbClr val="1F4E79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i</a:t>
              </a:r>
              <a:r>
                <a:rPr lang="en-US" sz="2397" strike="noStrike" u="none">
                  <a:solidFill>
                    <a:srgbClr val="1F4E79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pl</a:t>
              </a:r>
              <a:r>
                <a:rPr lang="en-US" sz="2397" strike="noStrike" u="none">
                  <a:solidFill>
                    <a:srgbClr val="1F4E79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e</a:t>
              </a:r>
              <a:r>
                <a:rPr lang="en-US" sz="2397" strike="noStrike" u="none">
                  <a:solidFill>
                    <a:srgbClr val="1F4E79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s</a:t>
              </a:r>
              <a:r>
                <a:rPr lang="en-US" sz="2397" strike="noStrike" u="none">
                  <a:solidFill>
                    <a:srgbClr val="1F4E79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 rutas ent</a:t>
              </a:r>
              <a:r>
                <a:rPr lang="en-US" sz="2397" strike="noStrike" u="none">
                  <a:solidFill>
                    <a:srgbClr val="1F4E79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r</a:t>
              </a:r>
              <a:r>
                <a:rPr lang="en-US" sz="2397" strike="noStrike" u="none">
                  <a:solidFill>
                    <a:srgbClr val="1F4E79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e do</a:t>
              </a:r>
              <a:r>
                <a:rPr lang="en-US" sz="2397" strike="noStrike" u="none">
                  <a:solidFill>
                    <a:srgbClr val="1F4E79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s p</a:t>
              </a:r>
              <a:r>
                <a:rPr lang="en-US" sz="2397" strike="noStrike" u="none">
                  <a:solidFill>
                    <a:srgbClr val="1F4E79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un</a:t>
              </a:r>
              <a:r>
                <a:rPr lang="en-US" sz="2397" strike="noStrike" u="none">
                  <a:solidFill>
                    <a:srgbClr val="1F4E79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tos</a:t>
              </a:r>
              <a:r>
                <a:rPr lang="en-US" sz="2397" strike="noStrike" u="none">
                  <a:solidFill>
                    <a:srgbClr val="1F4E79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.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5400000">
            <a:off x="14669100" y="-91127"/>
            <a:ext cx="2213932" cy="2213932"/>
          </a:xfrm>
          <a:custGeom>
            <a:avLst/>
            <a:gdLst/>
            <a:ahLst/>
            <a:cxnLst/>
            <a:rect r="r" b="b" t="t" l="l"/>
            <a:pathLst>
              <a:path h="2213932" w="2213932">
                <a:moveTo>
                  <a:pt x="0" y="0"/>
                </a:moveTo>
                <a:lnTo>
                  <a:pt x="2213932" y="0"/>
                </a:lnTo>
                <a:lnTo>
                  <a:pt x="2213932" y="2213932"/>
                </a:lnTo>
                <a:lnTo>
                  <a:pt x="0" y="22139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292831" y="9482229"/>
            <a:ext cx="2966469" cy="2966469"/>
          </a:xfrm>
          <a:custGeom>
            <a:avLst/>
            <a:gdLst/>
            <a:ahLst/>
            <a:cxnLst/>
            <a:rect r="r" b="b" t="t" l="l"/>
            <a:pathLst>
              <a:path h="2966469" w="2966469">
                <a:moveTo>
                  <a:pt x="0" y="0"/>
                </a:moveTo>
                <a:lnTo>
                  <a:pt x="2966469" y="0"/>
                </a:lnTo>
                <a:lnTo>
                  <a:pt x="2966469" y="2966468"/>
                </a:lnTo>
                <a:lnTo>
                  <a:pt x="0" y="29664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122468" y="2712375"/>
            <a:ext cx="3307196" cy="3289156"/>
          </a:xfrm>
          <a:custGeom>
            <a:avLst/>
            <a:gdLst/>
            <a:ahLst/>
            <a:cxnLst/>
            <a:rect r="r" b="b" t="t" l="l"/>
            <a:pathLst>
              <a:path h="3289156" w="3307196">
                <a:moveTo>
                  <a:pt x="0" y="0"/>
                </a:moveTo>
                <a:lnTo>
                  <a:pt x="3307196" y="0"/>
                </a:lnTo>
                <a:lnTo>
                  <a:pt x="3307196" y="3289156"/>
                </a:lnTo>
                <a:lnTo>
                  <a:pt x="0" y="328915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555638" y="6496831"/>
            <a:ext cx="2440856" cy="2440856"/>
          </a:xfrm>
          <a:custGeom>
            <a:avLst/>
            <a:gdLst/>
            <a:ahLst/>
            <a:cxnLst/>
            <a:rect r="r" b="b" t="t" l="l"/>
            <a:pathLst>
              <a:path h="2440856" w="2440856">
                <a:moveTo>
                  <a:pt x="0" y="0"/>
                </a:moveTo>
                <a:lnTo>
                  <a:pt x="2440856" y="0"/>
                </a:lnTo>
                <a:lnTo>
                  <a:pt x="2440856" y="2440857"/>
                </a:lnTo>
                <a:lnTo>
                  <a:pt x="0" y="244085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41318" y="5020139"/>
            <a:ext cx="8109619" cy="2119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80"/>
              </a:lnSpc>
              <a:spcBef>
                <a:spcPct val="0"/>
              </a:spcBef>
            </a:pPr>
            <a:r>
              <a:rPr lang="en-US" b="true" sz="2600">
                <a:solidFill>
                  <a:srgbClr val="1F4E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</a:t>
            </a:r>
            <a:r>
              <a:rPr lang="en-US" b="true" sz="2600" strike="noStrike" u="none">
                <a:solidFill>
                  <a:srgbClr val="1F4E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rafos dirigidos</a:t>
            </a:r>
            <a:r>
              <a:rPr lang="en-US" sz="26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:</a:t>
            </a:r>
            <a:r>
              <a:rPr lang="en-US" sz="26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 </a:t>
            </a:r>
            <a:r>
              <a:rPr lang="en-US" sz="26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la</a:t>
            </a:r>
            <a:r>
              <a:rPr lang="en-US" sz="26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 </a:t>
            </a:r>
            <a:r>
              <a:rPr lang="en-US" sz="26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ari</a:t>
            </a:r>
            <a:r>
              <a:rPr lang="en-US" sz="26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stas </a:t>
            </a:r>
            <a:r>
              <a:rPr lang="en-US" sz="26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poseen </a:t>
            </a:r>
            <a:r>
              <a:rPr lang="en-US" sz="26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un</a:t>
            </a:r>
            <a:r>
              <a:rPr lang="en-US" sz="26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 </a:t>
            </a:r>
            <a:r>
              <a:rPr lang="en-US" sz="26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d</a:t>
            </a:r>
            <a:r>
              <a:rPr lang="en-US" sz="26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ir</a:t>
            </a:r>
            <a:r>
              <a:rPr lang="en-US" sz="26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</a:t>
            </a:r>
            <a:r>
              <a:rPr lang="en-US" sz="26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cció</a:t>
            </a:r>
            <a:r>
              <a:rPr lang="en-US" sz="26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n</a:t>
            </a:r>
            <a:r>
              <a:rPr lang="en-US" sz="26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, repr</a:t>
            </a:r>
            <a:r>
              <a:rPr lang="en-US" sz="26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es</a:t>
            </a:r>
            <a:r>
              <a:rPr lang="en-US" sz="26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entando</a:t>
            </a:r>
            <a:r>
              <a:rPr lang="en-US" sz="26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 </a:t>
            </a:r>
            <a:r>
              <a:rPr lang="en-US" sz="26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r</a:t>
            </a:r>
            <a:r>
              <a:rPr lang="en-US" sz="26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</a:t>
            </a:r>
            <a:r>
              <a:rPr lang="en-US" sz="26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lacio</a:t>
            </a:r>
            <a:r>
              <a:rPr lang="en-US" sz="26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n</a:t>
            </a:r>
            <a:r>
              <a:rPr lang="en-US" sz="26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es</a:t>
            </a:r>
            <a:r>
              <a:rPr lang="en-US" sz="26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 </a:t>
            </a:r>
            <a:r>
              <a:rPr lang="en-US" sz="26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asi</a:t>
            </a:r>
            <a:r>
              <a:rPr lang="en-US" sz="26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m</a:t>
            </a:r>
            <a:r>
              <a:rPr lang="en-US" sz="26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étric</a:t>
            </a:r>
            <a:r>
              <a:rPr lang="en-US" sz="26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</a:t>
            </a:r>
            <a:r>
              <a:rPr lang="en-US" sz="26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 en</a:t>
            </a:r>
            <a:r>
              <a:rPr lang="en-US" sz="26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</a:t>
            </a:r>
            <a:r>
              <a:rPr lang="en-US" sz="26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r</a:t>
            </a:r>
            <a:r>
              <a:rPr lang="en-US" sz="26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</a:t>
            </a:r>
            <a:r>
              <a:rPr lang="en-US" sz="26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 vér</a:t>
            </a:r>
            <a:r>
              <a:rPr lang="en-US" sz="26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tic</a:t>
            </a:r>
            <a:r>
              <a:rPr lang="en-US" sz="26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</a:t>
            </a:r>
            <a:r>
              <a:rPr lang="en-US" sz="26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s. </a:t>
            </a:r>
            <a:r>
              <a:rPr lang="en-US" sz="26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Un</a:t>
            </a:r>
            <a:r>
              <a:rPr lang="en-US" sz="26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 </a:t>
            </a:r>
            <a:r>
              <a:rPr lang="en-US" sz="26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ejem</a:t>
            </a:r>
            <a:r>
              <a:rPr lang="en-US" sz="26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pl</a:t>
            </a:r>
            <a:r>
              <a:rPr lang="en-US" sz="26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o s</a:t>
            </a:r>
            <a:r>
              <a:rPr lang="en-US" sz="26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on</a:t>
            </a:r>
            <a:r>
              <a:rPr lang="en-US" sz="26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 lo</a:t>
            </a:r>
            <a:r>
              <a:rPr lang="en-US" sz="26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 </a:t>
            </a:r>
            <a:r>
              <a:rPr lang="en-US" sz="26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gr</a:t>
            </a:r>
            <a:r>
              <a:rPr lang="en-US" sz="26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</a:t>
            </a:r>
            <a:r>
              <a:rPr lang="en-US" sz="26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fo</a:t>
            </a:r>
            <a:r>
              <a:rPr lang="en-US" sz="26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</a:t>
            </a:r>
            <a:r>
              <a:rPr lang="en-US" sz="26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 </a:t>
            </a:r>
            <a:r>
              <a:rPr lang="en-US" sz="26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de la </a:t>
            </a:r>
            <a:r>
              <a:rPr lang="en-US" sz="26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w</a:t>
            </a:r>
            <a:r>
              <a:rPr lang="en-US" sz="26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</a:t>
            </a:r>
            <a:r>
              <a:rPr lang="en-US" sz="26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b, d</a:t>
            </a:r>
            <a:r>
              <a:rPr lang="en-US" sz="26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o</a:t>
            </a:r>
            <a:r>
              <a:rPr lang="en-US" sz="26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nde un</a:t>
            </a:r>
            <a:r>
              <a:rPr lang="en-US" sz="26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 </a:t>
            </a:r>
            <a:r>
              <a:rPr lang="en-US" sz="26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página A</a:t>
            </a:r>
            <a:r>
              <a:rPr lang="en-US" sz="26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 </a:t>
            </a:r>
            <a:r>
              <a:rPr lang="en-US" sz="26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pu</a:t>
            </a:r>
            <a:r>
              <a:rPr lang="en-US" sz="26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ede </a:t>
            </a:r>
            <a:r>
              <a:rPr lang="en-US" sz="26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enl</a:t>
            </a:r>
            <a:r>
              <a:rPr lang="en-US" sz="26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</a:t>
            </a:r>
            <a:r>
              <a:rPr lang="en-US" sz="26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z</a:t>
            </a:r>
            <a:r>
              <a:rPr lang="en-US" sz="26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</a:t>
            </a:r>
            <a:r>
              <a:rPr lang="en-US" sz="26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r</a:t>
            </a:r>
            <a:r>
              <a:rPr lang="en-US" sz="26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 a </a:t>
            </a:r>
            <a:r>
              <a:rPr lang="en-US" sz="26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B s</a:t>
            </a:r>
            <a:r>
              <a:rPr lang="en-US" sz="26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in </a:t>
            </a:r>
            <a:r>
              <a:rPr lang="en-US" sz="26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qu</a:t>
            </a:r>
            <a:r>
              <a:rPr lang="en-US" sz="26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 </a:t>
            </a:r>
            <a:r>
              <a:rPr lang="en-US" sz="26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B</a:t>
            </a:r>
            <a:r>
              <a:rPr lang="en-US" sz="26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 n</a:t>
            </a:r>
            <a:r>
              <a:rPr lang="en-US" sz="26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ece</a:t>
            </a:r>
            <a:r>
              <a:rPr lang="en-US" sz="26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</a:t>
            </a:r>
            <a:r>
              <a:rPr lang="en-US" sz="26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ar</a:t>
            </a:r>
            <a:r>
              <a:rPr lang="en-US" sz="26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i</a:t>
            </a:r>
            <a:r>
              <a:rPr lang="en-US" sz="26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amen</a:t>
            </a:r>
            <a:r>
              <a:rPr lang="en-US" sz="26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te en</a:t>
            </a:r>
            <a:r>
              <a:rPr lang="en-US" sz="26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la</a:t>
            </a:r>
            <a:r>
              <a:rPr lang="en-US" sz="26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c</a:t>
            </a:r>
            <a:r>
              <a:rPr lang="en-US" sz="26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 </a:t>
            </a:r>
            <a:r>
              <a:rPr lang="en-US" sz="26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</a:t>
            </a:r>
            <a:r>
              <a:rPr lang="en-US" sz="26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 A</a:t>
            </a:r>
            <a:r>
              <a:rPr lang="en-US" sz="26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41318" y="7203904"/>
            <a:ext cx="8712213" cy="2515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60"/>
              </a:lnSpc>
              <a:spcBef>
                <a:spcPct val="0"/>
              </a:spcBef>
            </a:pPr>
            <a:r>
              <a:rPr lang="en-US" b="true" sz="2200">
                <a:solidFill>
                  <a:srgbClr val="1F4E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Repre</a:t>
            </a:r>
            <a:r>
              <a:rPr lang="en-US" b="true" sz="2200" strike="noStrike" u="none">
                <a:solidFill>
                  <a:srgbClr val="1F4E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</a:t>
            </a:r>
            <a:r>
              <a:rPr lang="en-US" b="true" sz="2200" strike="noStrike" u="none">
                <a:solidFill>
                  <a:srgbClr val="1F4E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entación de</a:t>
            </a:r>
            <a:r>
              <a:rPr lang="en-US" b="true" sz="2200" strike="noStrike" u="none">
                <a:solidFill>
                  <a:srgbClr val="1F4E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b="true" sz="2200" strike="noStrike" u="none">
                <a:solidFill>
                  <a:srgbClr val="1F4E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grafos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: los grafos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 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puede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n 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repr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es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en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r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se median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 mat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r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ice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 d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 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dyac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en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cia, lis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tas 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de adyac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en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cia o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 mat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ric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 de 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i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n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c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idenci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a. 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La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 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m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tr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ic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es de 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dyacen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ci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 s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on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 útil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es 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p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ra grafos de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n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sos,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 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mi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ntra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 qu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 la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 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lis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ta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 de 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d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yac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ncia 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on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 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má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 eficien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es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 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en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 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graf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o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 d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i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spersos. La 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m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atr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iz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 de 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in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ci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de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ncia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 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asocia vé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rt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ice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 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co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n 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ar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ist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as, 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m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ostr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ndo qué vértice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 e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stán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 con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c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dos a 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c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ada ar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i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sta</a:t>
            </a:r>
            <a:r>
              <a:rPr lang="en-US" sz="2200" strike="noStrike" u="none">
                <a:solidFill>
                  <a:srgbClr val="1F4E7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8556620" y="215822"/>
            <a:ext cx="1250711" cy="1243889"/>
          </a:xfrm>
          <a:custGeom>
            <a:avLst/>
            <a:gdLst/>
            <a:ahLst/>
            <a:cxnLst/>
            <a:rect r="r" b="b" t="t" l="l"/>
            <a:pathLst>
              <a:path h="1243889" w="1250711">
                <a:moveTo>
                  <a:pt x="0" y="0"/>
                </a:moveTo>
                <a:lnTo>
                  <a:pt x="1250711" y="0"/>
                </a:lnTo>
                <a:lnTo>
                  <a:pt x="1250711" y="1243889"/>
                </a:lnTo>
                <a:lnTo>
                  <a:pt x="0" y="12438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9994420" y="288362"/>
            <a:ext cx="923080" cy="923080"/>
          </a:xfrm>
          <a:custGeom>
            <a:avLst/>
            <a:gdLst/>
            <a:ahLst/>
            <a:cxnLst/>
            <a:rect r="r" b="b" t="t" l="l"/>
            <a:pathLst>
              <a:path h="923080" w="923080">
                <a:moveTo>
                  <a:pt x="0" y="0"/>
                </a:moveTo>
                <a:lnTo>
                  <a:pt x="923080" y="0"/>
                </a:lnTo>
                <a:lnTo>
                  <a:pt x="923080" y="923080"/>
                </a:lnTo>
                <a:lnTo>
                  <a:pt x="0" y="9230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372094" y="212411"/>
            <a:ext cx="999031" cy="999031"/>
          </a:xfrm>
          <a:custGeom>
            <a:avLst/>
            <a:gdLst/>
            <a:ahLst/>
            <a:cxnLst/>
            <a:rect r="r" b="b" t="t" l="l"/>
            <a:pathLst>
              <a:path h="999031" w="999031">
                <a:moveTo>
                  <a:pt x="0" y="0"/>
                </a:moveTo>
                <a:lnTo>
                  <a:pt x="999031" y="0"/>
                </a:lnTo>
                <a:lnTo>
                  <a:pt x="999031" y="999031"/>
                </a:lnTo>
                <a:lnTo>
                  <a:pt x="0" y="9990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16509" y="1463122"/>
            <a:ext cx="10858460" cy="4998572"/>
          </a:xfrm>
          <a:custGeom>
            <a:avLst/>
            <a:gdLst/>
            <a:ahLst/>
            <a:cxnLst/>
            <a:rect r="r" b="b" t="t" l="l"/>
            <a:pathLst>
              <a:path h="4998572" w="10858460">
                <a:moveTo>
                  <a:pt x="0" y="0"/>
                </a:moveTo>
                <a:lnTo>
                  <a:pt x="10858461" y="0"/>
                </a:lnTo>
                <a:lnTo>
                  <a:pt x="10858461" y="4998572"/>
                </a:lnTo>
                <a:lnTo>
                  <a:pt x="0" y="499857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-2899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619506" y="4734597"/>
            <a:ext cx="5639794" cy="4638749"/>
          </a:xfrm>
          <a:custGeom>
            <a:avLst/>
            <a:gdLst/>
            <a:ahLst/>
            <a:cxnLst/>
            <a:rect r="r" b="b" t="t" l="l"/>
            <a:pathLst>
              <a:path h="4638749" w="5639794">
                <a:moveTo>
                  <a:pt x="0" y="0"/>
                </a:moveTo>
                <a:lnTo>
                  <a:pt x="5639794" y="0"/>
                </a:lnTo>
                <a:lnTo>
                  <a:pt x="5639794" y="4638749"/>
                </a:lnTo>
                <a:lnTo>
                  <a:pt x="0" y="463874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4833" t="0" r="-4833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154571" y="6468996"/>
            <a:ext cx="2555809" cy="2555809"/>
          </a:xfrm>
          <a:custGeom>
            <a:avLst/>
            <a:gdLst/>
            <a:ahLst/>
            <a:cxnLst/>
            <a:rect r="r" b="b" t="t" l="l"/>
            <a:pathLst>
              <a:path h="2555809" w="2555809">
                <a:moveTo>
                  <a:pt x="0" y="0"/>
                </a:moveTo>
                <a:lnTo>
                  <a:pt x="2555809" y="0"/>
                </a:lnTo>
                <a:lnTo>
                  <a:pt x="2555809" y="2555809"/>
                </a:lnTo>
                <a:lnTo>
                  <a:pt x="0" y="2555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699456" y="228491"/>
            <a:ext cx="3106665" cy="3106665"/>
          </a:xfrm>
          <a:custGeom>
            <a:avLst/>
            <a:gdLst/>
            <a:ahLst/>
            <a:cxnLst/>
            <a:rect r="r" b="b" t="t" l="l"/>
            <a:pathLst>
              <a:path h="3106665" w="3106665">
                <a:moveTo>
                  <a:pt x="0" y="0"/>
                </a:moveTo>
                <a:lnTo>
                  <a:pt x="3106665" y="0"/>
                </a:lnTo>
                <a:lnTo>
                  <a:pt x="3106665" y="3106664"/>
                </a:lnTo>
                <a:lnTo>
                  <a:pt x="0" y="31066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154571" y="9024805"/>
            <a:ext cx="2554410" cy="2554410"/>
          </a:xfrm>
          <a:custGeom>
            <a:avLst/>
            <a:gdLst/>
            <a:ahLst/>
            <a:cxnLst/>
            <a:rect r="r" b="b" t="t" l="l"/>
            <a:pathLst>
              <a:path h="2554410" w="2554410">
                <a:moveTo>
                  <a:pt x="0" y="0"/>
                </a:moveTo>
                <a:lnTo>
                  <a:pt x="2554410" y="0"/>
                </a:lnTo>
                <a:lnTo>
                  <a:pt x="2554410" y="2554410"/>
                </a:lnTo>
                <a:lnTo>
                  <a:pt x="0" y="25544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699456" y="3305180"/>
            <a:ext cx="5719625" cy="5719625"/>
          </a:xfrm>
          <a:custGeom>
            <a:avLst/>
            <a:gdLst/>
            <a:ahLst/>
            <a:cxnLst/>
            <a:rect r="r" b="b" t="t" l="l"/>
            <a:pathLst>
              <a:path h="5719625" w="5719625">
                <a:moveTo>
                  <a:pt x="0" y="0"/>
                </a:moveTo>
                <a:lnTo>
                  <a:pt x="5719625" y="0"/>
                </a:lnTo>
                <a:lnTo>
                  <a:pt x="5719625" y="5719625"/>
                </a:lnTo>
                <a:lnTo>
                  <a:pt x="0" y="57196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6" id="6">
            <a:hlinkClick action="ppaction://media"/>
          </p:cNvPr>
          <p:cNvPicPr>
            <a:picLocks noChangeAspect="true"/>
          </p:cNvPicPr>
          <p:nvPr>
            <a:videoFile r:link="rId11"/>
            <p:extLst>
              <p:ext uri="{DAA4B4D4-6D71-4841-9C94-3DE7FCFB9230}">
                <p14:media xmlns:p14="http://schemas.microsoft.com/office/powerpoint/2010/main" r:embed="rId12"/>
              </p:ext>
            </p:extLst>
          </p:nvPr>
        </p:nvPicPr>
        <p:blipFill>
          <a:blip r:embed="rId10"/>
          <a:srcRect l="0" t="0" r="0" b="0"/>
          <a:stretch>
            <a:fillRect/>
          </a:stretch>
        </p:blipFill>
        <p:spPr>
          <a:xfrm flipH="false" flipV="false" rot="0">
            <a:off x="11432899" y="403105"/>
            <a:ext cx="3443344" cy="3271177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028700" y="981075"/>
            <a:ext cx="11920124" cy="2773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999"/>
              </a:lnSpc>
            </a:pPr>
            <a:r>
              <a:rPr lang="en-US" sz="8799">
                <a:solidFill>
                  <a:srgbClr val="1F4E79"/>
                </a:solidFill>
                <a:latin typeface="Ovo"/>
                <a:ea typeface="Ovo"/>
                <a:cs typeface="Ovo"/>
                <a:sym typeface="Ovo"/>
              </a:rPr>
              <a:t>C</a:t>
            </a:r>
            <a:r>
              <a:rPr lang="en-US" sz="8799">
                <a:solidFill>
                  <a:srgbClr val="1F4E79"/>
                </a:solidFill>
                <a:latin typeface="Ovo"/>
                <a:ea typeface="Ovo"/>
                <a:cs typeface="Ovo"/>
                <a:sym typeface="Ovo"/>
              </a:rPr>
              <a:t>aminos, Grafos Conexos y Ciclos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444278" y="3674281"/>
            <a:ext cx="6759092" cy="3268129"/>
            <a:chOff x="0" y="0"/>
            <a:chExt cx="9012123" cy="4357505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38100"/>
              <a:ext cx="9012123" cy="6002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3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2A9D8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Graf</a:t>
              </a:r>
              <a:r>
                <a:rPr lang="en-US" sz="2799" strike="noStrike" u="none">
                  <a:solidFill>
                    <a:srgbClr val="2A9D8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os e</a:t>
              </a:r>
              <a:r>
                <a:rPr lang="en-US" sz="2799" strike="noStrike" u="none">
                  <a:solidFill>
                    <a:srgbClr val="2A9D8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ule</a:t>
              </a:r>
              <a:r>
                <a:rPr lang="en-US" sz="2799" strike="noStrike" u="none">
                  <a:solidFill>
                    <a:srgbClr val="2A9D8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r</a:t>
              </a:r>
              <a:r>
                <a:rPr lang="en-US" sz="2799" strike="noStrike" u="none">
                  <a:solidFill>
                    <a:srgbClr val="2A9D8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</a:t>
              </a:r>
              <a:r>
                <a:rPr lang="en-US" sz="2799" strike="noStrike" u="none">
                  <a:solidFill>
                    <a:srgbClr val="2A9D8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a</a:t>
              </a:r>
              <a:r>
                <a:rPr lang="en-US" sz="2799" strike="noStrike" u="none">
                  <a:solidFill>
                    <a:srgbClr val="2A9D8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n</a:t>
              </a:r>
              <a:r>
                <a:rPr lang="en-US" sz="2799" strike="noStrike" u="none">
                  <a:solidFill>
                    <a:srgbClr val="2A9D8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os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920633"/>
              <a:ext cx="9012123" cy="34368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53393" indent="-226697" lvl="1">
                <a:lnSpc>
                  <a:spcPts val="3486"/>
                </a:lnSpc>
                <a:buFont typeface="Arial"/>
                <a:buChar char="•"/>
              </a:pPr>
              <a:r>
                <a:rPr lang="en-US" sz="2100">
                  <a:solidFill>
                    <a:srgbClr val="1F4E79"/>
                  </a:solidFill>
                  <a:latin typeface="Ovo"/>
                  <a:ea typeface="Ovo"/>
                  <a:cs typeface="Ovo"/>
                  <a:sym typeface="Ovo"/>
                </a:rPr>
                <a:t>son aquellos en los que es pos</a:t>
              </a:r>
              <a:r>
                <a:rPr lang="en-US" sz="2100" strike="noStrike" u="none">
                  <a:solidFill>
                    <a:srgbClr val="1F4E79"/>
                  </a:solidFill>
                  <a:latin typeface="Ovo"/>
                  <a:ea typeface="Ovo"/>
                  <a:cs typeface="Ovo"/>
                  <a:sym typeface="Ovo"/>
                </a:rPr>
                <a:t>i</a:t>
              </a:r>
              <a:r>
                <a:rPr lang="en-US" sz="2100" strike="noStrike" u="none">
                  <a:solidFill>
                    <a:srgbClr val="1F4E79"/>
                  </a:solidFill>
                  <a:latin typeface="Ovo"/>
                  <a:ea typeface="Ovo"/>
                  <a:cs typeface="Ovo"/>
                  <a:sym typeface="Ovo"/>
                </a:rPr>
                <a:t>ble recorrer todas las a</a:t>
              </a:r>
              <a:r>
                <a:rPr lang="en-US" sz="2100" strike="noStrike" u="none">
                  <a:solidFill>
                    <a:srgbClr val="1F4E79"/>
                  </a:solidFill>
                  <a:latin typeface="Ovo"/>
                  <a:ea typeface="Ovo"/>
                  <a:cs typeface="Ovo"/>
                  <a:sym typeface="Ovo"/>
                </a:rPr>
                <a:t>ri</a:t>
              </a:r>
              <a:r>
                <a:rPr lang="en-US" sz="2100" strike="noStrike" u="none">
                  <a:solidFill>
                    <a:srgbClr val="1F4E79"/>
                  </a:solidFill>
                  <a:latin typeface="Ovo"/>
                  <a:ea typeface="Ovo"/>
                  <a:cs typeface="Ovo"/>
                  <a:sym typeface="Ovo"/>
                </a:rPr>
                <a:t>stas exactamente una vez y re</a:t>
              </a:r>
              <a:r>
                <a:rPr lang="en-US" sz="2100" strike="noStrike" u="none">
                  <a:solidFill>
                    <a:srgbClr val="1F4E79"/>
                  </a:solidFill>
                  <a:latin typeface="Ovo"/>
                  <a:ea typeface="Ovo"/>
                  <a:cs typeface="Ovo"/>
                  <a:sym typeface="Ovo"/>
                </a:rPr>
                <a:t>g</a:t>
              </a:r>
              <a:r>
                <a:rPr lang="en-US" sz="2100" strike="noStrike" u="none">
                  <a:solidFill>
                    <a:srgbClr val="1F4E79"/>
                  </a:solidFill>
                  <a:latin typeface="Ovo"/>
                  <a:ea typeface="Ovo"/>
                  <a:cs typeface="Ovo"/>
                  <a:sym typeface="Ovo"/>
                </a:rPr>
                <a:t>resar al punto de </a:t>
              </a:r>
              <a:r>
                <a:rPr lang="en-US" sz="2100" strike="noStrike" u="none">
                  <a:solidFill>
                    <a:srgbClr val="1F4E79"/>
                  </a:solidFill>
                  <a:latin typeface="Ovo"/>
                  <a:ea typeface="Ovo"/>
                  <a:cs typeface="Ovo"/>
                  <a:sym typeface="Ovo"/>
                </a:rPr>
                <a:t>i</a:t>
              </a:r>
              <a:r>
                <a:rPr lang="en-US" sz="2100" strike="noStrike" u="none">
                  <a:solidFill>
                    <a:srgbClr val="1F4E79"/>
                  </a:solidFill>
                  <a:latin typeface="Ovo"/>
                  <a:ea typeface="Ovo"/>
                  <a:cs typeface="Ovo"/>
                  <a:sym typeface="Ovo"/>
                </a:rPr>
                <a:t>nicio. Un grafo euleriano existe si y solo si to</a:t>
              </a:r>
              <a:r>
                <a:rPr lang="en-US" sz="2100" strike="noStrike" u="none">
                  <a:solidFill>
                    <a:srgbClr val="1F4E79"/>
                  </a:solidFill>
                  <a:latin typeface="Ovo"/>
                  <a:ea typeface="Ovo"/>
                  <a:cs typeface="Ovo"/>
                  <a:sym typeface="Ovo"/>
                </a:rPr>
                <a:t>dos</a:t>
              </a:r>
              <a:r>
                <a:rPr lang="en-US" sz="2100" strike="noStrike" u="none">
                  <a:solidFill>
                    <a:srgbClr val="1F4E79"/>
                  </a:solidFill>
                  <a:latin typeface="Ovo"/>
                  <a:ea typeface="Ovo"/>
                  <a:cs typeface="Ovo"/>
                  <a:sym typeface="Ovo"/>
                </a:rPr>
                <a:t> sus vértices tienen grad</a:t>
              </a:r>
              <a:r>
                <a:rPr lang="en-US" sz="2100" strike="noStrike" u="none">
                  <a:solidFill>
                    <a:srgbClr val="1F4E79"/>
                  </a:solidFill>
                  <a:latin typeface="Ovo"/>
                  <a:ea typeface="Ovo"/>
                  <a:cs typeface="Ovo"/>
                  <a:sym typeface="Ovo"/>
                </a:rPr>
                <a:t>o </a:t>
              </a:r>
              <a:r>
                <a:rPr lang="en-US" sz="2100" strike="noStrike" u="none">
                  <a:solidFill>
                    <a:srgbClr val="1F4E79"/>
                  </a:solidFill>
                  <a:latin typeface="Ovo"/>
                  <a:ea typeface="Ovo"/>
                  <a:cs typeface="Ovo"/>
                  <a:sym typeface="Ovo"/>
                </a:rPr>
                <a:t>par. Un cam</a:t>
              </a:r>
              <a:r>
                <a:rPr lang="en-US" sz="2100" strike="noStrike" u="none">
                  <a:solidFill>
                    <a:srgbClr val="1F4E79"/>
                  </a:solidFill>
                  <a:latin typeface="Ovo"/>
                  <a:ea typeface="Ovo"/>
                  <a:cs typeface="Ovo"/>
                  <a:sym typeface="Ovo"/>
                </a:rPr>
                <a:t>i</a:t>
              </a:r>
              <a:r>
                <a:rPr lang="en-US" sz="2100" strike="noStrike" u="none">
                  <a:solidFill>
                    <a:srgbClr val="1F4E79"/>
                  </a:solidFill>
                  <a:latin typeface="Ovo"/>
                  <a:ea typeface="Ovo"/>
                  <a:cs typeface="Ovo"/>
                  <a:sym typeface="Ovo"/>
                </a:rPr>
                <a:t>no eule</a:t>
              </a:r>
              <a:r>
                <a:rPr lang="en-US" sz="2100" strike="noStrike" u="none">
                  <a:solidFill>
                    <a:srgbClr val="1F4E79"/>
                  </a:solidFill>
                  <a:latin typeface="Ovo"/>
                  <a:ea typeface="Ovo"/>
                  <a:cs typeface="Ovo"/>
                  <a:sym typeface="Ovo"/>
                </a:rPr>
                <a:t>ri</a:t>
              </a:r>
              <a:r>
                <a:rPr lang="en-US" sz="2100" strike="noStrike" u="none">
                  <a:solidFill>
                    <a:srgbClr val="1F4E79"/>
                  </a:solidFill>
                  <a:latin typeface="Ovo"/>
                  <a:ea typeface="Ovo"/>
                  <a:cs typeface="Ovo"/>
                  <a:sym typeface="Ovo"/>
                </a:rPr>
                <a:t>ano (no necesar</a:t>
              </a:r>
              <a:r>
                <a:rPr lang="en-US" sz="2100" strike="noStrike" u="none">
                  <a:solidFill>
                    <a:srgbClr val="1F4E79"/>
                  </a:solidFill>
                  <a:latin typeface="Ovo"/>
                  <a:ea typeface="Ovo"/>
                  <a:cs typeface="Ovo"/>
                  <a:sym typeface="Ovo"/>
                </a:rPr>
                <a:t>i</a:t>
              </a:r>
              <a:r>
                <a:rPr lang="en-US" sz="2100" strike="noStrike" u="none">
                  <a:solidFill>
                    <a:srgbClr val="1F4E79"/>
                  </a:solidFill>
                  <a:latin typeface="Ovo"/>
                  <a:ea typeface="Ovo"/>
                  <a:cs typeface="Ovo"/>
                  <a:sym typeface="Ovo"/>
                </a:rPr>
                <a:t>amente ciclo) existe si solo </a:t>
              </a:r>
              <a:r>
                <a:rPr lang="en-US" sz="2100" strike="noStrike" u="none">
                  <a:solidFill>
                    <a:srgbClr val="1F4E79"/>
                  </a:solidFill>
                  <a:latin typeface="Ovo"/>
                  <a:ea typeface="Ovo"/>
                  <a:cs typeface="Ovo"/>
                  <a:sym typeface="Ovo"/>
                </a:rPr>
                <a:t>dos</a:t>
              </a:r>
              <a:r>
                <a:rPr lang="en-US" sz="2100" strike="noStrike" u="none">
                  <a:solidFill>
                    <a:srgbClr val="1F4E79"/>
                  </a:solidFill>
                  <a:latin typeface="Ovo"/>
                  <a:ea typeface="Ovo"/>
                  <a:cs typeface="Ovo"/>
                  <a:sym typeface="Ovo"/>
                </a:rPr>
                <a:t> vértices tie</a:t>
              </a:r>
              <a:r>
                <a:rPr lang="en-US" sz="2100" strike="noStrike" u="none">
                  <a:solidFill>
                    <a:srgbClr val="1F4E79"/>
                  </a:solidFill>
                  <a:latin typeface="Ovo"/>
                  <a:ea typeface="Ovo"/>
                  <a:cs typeface="Ovo"/>
                  <a:sym typeface="Ovo"/>
                </a:rPr>
                <a:t>ne</a:t>
              </a:r>
              <a:r>
                <a:rPr lang="en-US" sz="2100" strike="noStrike" u="none">
                  <a:solidFill>
                    <a:srgbClr val="1F4E79"/>
                  </a:solidFill>
                  <a:latin typeface="Ovo"/>
                  <a:ea typeface="Ovo"/>
                  <a:cs typeface="Ovo"/>
                  <a:sym typeface="Ovo"/>
                </a:rPr>
                <a:t>n g</a:t>
              </a:r>
              <a:r>
                <a:rPr lang="en-US" sz="2100" strike="noStrike" u="none">
                  <a:solidFill>
                    <a:srgbClr val="1F4E79"/>
                  </a:solidFill>
                  <a:latin typeface="Ovo"/>
                  <a:ea typeface="Ovo"/>
                  <a:cs typeface="Ovo"/>
                  <a:sym typeface="Ovo"/>
                </a:rPr>
                <a:t>rado</a:t>
              </a:r>
              <a:r>
                <a:rPr lang="en-US" sz="2100" strike="noStrike" u="none">
                  <a:solidFill>
                    <a:srgbClr val="1F4E79"/>
                  </a:solidFill>
                  <a:latin typeface="Ovo"/>
                  <a:ea typeface="Ovo"/>
                  <a:cs typeface="Ovo"/>
                  <a:sym typeface="Ovo"/>
                </a:rPr>
                <a:t> impar.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823824" y="7235934"/>
            <a:ext cx="6759092" cy="2391829"/>
            <a:chOff x="0" y="0"/>
            <a:chExt cx="9012123" cy="3189105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38100"/>
              <a:ext cx="9012123" cy="6002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3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2A9D8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G</a:t>
              </a:r>
              <a:r>
                <a:rPr lang="en-US" sz="2799" strike="noStrike" u="none">
                  <a:solidFill>
                    <a:srgbClr val="2A9D8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ra</a:t>
              </a:r>
              <a:r>
                <a:rPr lang="en-US" sz="2799" strike="noStrike" u="none">
                  <a:solidFill>
                    <a:srgbClr val="2A9D8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fo</a:t>
              </a:r>
              <a:r>
                <a:rPr lang="en-US" sz="2799" strike="noStrike" u="none">
                  <a:solidFill>
                    <a:srgbClr val="2A9D8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</a:t>
              </a:r>
              <a:r>
                <a:rPr lang="en-US" sz="2799" strike="noStrike" u="none">
                  <a:solidFill>
                    <a:srgbClr val="2A9D8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hamil</a:t>
              </a:r>
              <a:r>
                <a:rPr lang="en-US" sz="2799" strike="noStrike" u="none">
                  <a:solidFill>
                    <a:srgbClr val="2A9D8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</a:t>
              </a:r>
              <a:r>
                <a:rPr lang="en-US" sz="2799" strike="noStrike" u="none">
                  <a:solidFill>
                    <a:srgbClr val="2A9D8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on</a:t>
              </a:r>
              <a:r>
                <a:rPr lang="en-US" sz="2799" strike="noStrike" u="none">
                  <a:solidFill>
                    <a:srgbClr val="2A9D8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ia</a:t>
              </a:r>
              <a:r>
                <a:rPr lang="en-US" sz="2799" strike="noStrike" u="none">
                  <a:solidFill>
                    <a:srgbClr val="2A9D8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no</a:t>
              </a:r>
              <a:r>
                <a:rPr lang="en-US" sz="2799" strike="noStrike" u="none">
                  <a:solidFill>
                    <a:srgbClr val="2A9D8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</a:t>
              </a:r>
              <a:r>
                <a:rPr lang="en-US" sz="2799" strike="noStrike" u="none">
                  <a:solidFill>
                    <a:srgbClr val="2A9D8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:</a:t>
              </a:r>
              <a:r>
                <a:rPr lang="en-US" sz="2799" strike="noStrike" u="none">
                  <a:solidFill>
                    <a:srgbClr val="2A9D8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920633"/>
              <a:ext cx="9012123" cy="22684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53393" indent="-226697" lvl="1">
                <a:lnSpc>
                  <a:spcPts val="3486"/>
                </a:lnSpc>
                <a:buFont typeface="Arial"/>
                <a:buChar char="•"/>
              </a:pPr>
              <a:r>
                <a:rPr lang="en-US" sz="2100">
                  <a:solidFill>
                    <a:srgbClr val="1F4E79"/>
                  </a:solidFill>
                  <a:latin typeface="Ovo"/>
                  <a:ea typeface="Ovo"/>
                  <a:cs typeface="Ovo"/>
                  <a:sym typeface="Ovo"/>
                </a:rPr>
                <a:t>poseen un ciclo que pasa exactamente una vez por cada v</a:t>
              </a:r>
              <a:r>
                <a:rPr lang="en-US" sz="2100" strike="noStrike" u="none">
                  <a:solidFill>
                    <a:srgbClr val="1F4E79"/>
                  </a:solidFill>
                  <a:latin typeface="Ovo"/>
                  <a:ea typeface="Ovo"/>
                  <a:cs typeface="Ovo"/>
                  <a:sym typeface="Ovo"/>
                </a:rPr>
                <a:t>értice</a:t>
              </a:r>
              <a:r>
                <a:rPr lang="en-US" sz="2100" strike="noStrike" u="none">
                  <a:solidFill>
                    <a:srgbClr val="1F4E79"/>
                  </a:solidFill>
                  <a:latin typeface="Ovo"/>
                  <a:ea typeface="Ovo"/>
                  <a:cs typeface="Ovo"/>
                  <a:sym typeface="Ovo"/>
                </a:rPr>
                <a:t>. Aunque no exi</a:t>
              </a:r>
              <a:r>
                <a:rPr lang="en-US" sz="2100" strike="noStrike" u="none">
                  <a:solidFill>
                    <a:srgbClr val="1F4E79"/>
                  </a:solidFill>
                  <a:latin typeface="Ovo"/>
                  <a:ea typeface="Ovo"/>
                  <a:cs typeface="Ovo"/>
                  <a:sym typeface="Ovo"/>
                </a:rPr>
                <a:t>s</a:t>
              </a:r>
              <a:r>
                <a:rPr lang="en-US" sz="2100" strike="noStrike" u="none">
                  <a:solidFill>
                    <a:srgbClr val="1F4E79"/>
                  </a:solidFill>
                  <a:latin typeface="Ovo"/>
                  <a:ea typeface="Ovo"/>
                  <a:cs typeface="Ovo"/>
                  <a:sym typeface="Ovo"/>
                </a:rPr>
                <a:t>te una regla general tan simple como en los eulerianos, teoremas como el de Dirac y Ore proporcionan condiciones suficientes.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705703" y="3893356"/>
            <a:ext cx="6759092" cy="2829979"/>
            <a:chOff x="0" y="0"/>
            <a:chExt cx="9012123" cy="3773305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-38100"/>
              <a:ext cx="9012123" cy="6002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3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2A9D8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Dist</a:t>
              </a:r>
              <a:r>
                <a:rPr lang="en-US" sz="2799" strike="noStrike" u="none">
                  <a:solidFill>
                    <a:srgbClr val="2A9D8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a</a:t>
              </a:r>
              <a:r>
                <a:rPr lang="en-US" sz="2799" strike="noStrike" u="none">
                  <a:solidFill>
                    <a:srgbClr val="2A9D8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n</a:t>
              </a:r>
              <a:r>
                <a:rPr lang="en-US" sz="2799" strike="noStrike" u="none">
                  <a:solidFill>
                    <a:srgbClr val="2A9D8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cias e</a:t>
              </a:r>
              <a:r>
                <a:rPr lang="en-US" sz="2799" strike="noStrike" u="none">
                  <a:solidFill>
                    <a:srgbClr val="2A9D8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n un grafo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920633"/>
              <a:ext cx="9012123" cy="28526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53393" indent="-226697" lvl="1">
                <a:lnSpc>
                  <a:spcPts val="3486"/>
                </a:lnSpc>
                <a:buFont typeface="Arial"/>
                <a:buChar char="•"/>
              </a:pPr>
              <a:r>
                <a:rPr lang="en-US" sz="2100">
                  <a:solidFill>
                    <a:srgbClr val="1F4E79"/>
                  </a:solidFill>
                  <a:latin typeface="Ovo"/>
                  <a:ea typeface="Ovo"/>
                  <a:cs typeface="Ovo"/>
                  <a:sym typeface="Ovo"/>
                </a:rPr>
                <a:t>la distancia entre dos v</a:t>
              </a:r>
              <a:r>
                <a:rPr lang="en-US" sz="2100" strike="noStrike" u="none">
                  <a:solidFill>
                    <a:srgbClr val="1F4E79"/>
                  </a:solidFill>
                  <a:latin typeface="Ovo"/>
                  <a:ea typeface="Ovo"/>
                  <a:cs typeface="Ovo"/>
                  <a:sym typeface="Ovo"/>
                </a:rPr>
                <a:t>értices</a:t>
              </a:r>
              <a:r>
                <a:rPr lang="en-US" sz="2100" strike="noStrike" u="none">
                  <a:solidFill>
                    <a:srgbClr val="1F4E79"/>
                  </a:solidFill>
                  <a:latin typeface="Ovo"/>
                  <a:ea typeface="Ovo"/>
                  <a:cs typeface="Ovo"/>
                  <a:sym typeface="Ovo"/>
                </a:rPr>
                <a:t> se define como el número mínimo de aristas necesarias para ir de uno a otro. En grafos ponderados, la distancia se determina sumando los pesos de las aristas y usando algoritmos como Dijkstra o Floyd-Warshall.</a:t>
              </a:r>
            </a:p>
          </p:txBody>
        </p:sp>
      </p:grpSp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12316" y="8845610"/>
            <a:ext cx="1450915" cy="1450915"/>
          </a:xfrm>
          <a:custGeom>
            <a:avLst/>
            <a:gdLst/>
            <a:ahLst/>
            <a:cxnLst/>
            <a:rect r="r" b="b" t="t" l="l"/>
            <a:pathLst>
              <a:path h="1450915" w="1450915">
                <a:moveTo>
                  <a:pt x="0" y="0"/>
                </a:moveTo>
                <a:lnTo>
                  <a:pt x="1450915" y="0"/>
                </a:lnTo>
                <a:lnTo>
                  <a:pt x="1450915" y="1450915"/>
                </a:lnTo>
                <a:lnTo>
                  <a:pt x="0" y="14509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8174684"/>
            <a:ext cx="2112316" cy="2112316"/>
          </a:xfrm>
          <a:custGeom>
            <a:avLst/>
            <a:gdLst/>
            <a:ahLst/>
            <a:cxnLst/>
            <a:rect r="r" b="b" t="t" l="l"/>
            <a:pathLst>
              <a:path h="2112316" w="2112316">
                <a:moveTo>
                  <a:pt x="0" y="0"/>
                </a:moveTo>
                <a:lnTo>
                  <a:pt x="2112316" y="0"/>
                </a:lnTo>
                <a:lnTo>
                  <a:pt x="2112316" y="2112316"/>
                </a:lnTo>
                <a:lnTo>
                  <a:pt x="0" y="21123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27430" y="0"/>
            <a:ext cx="2063739" cy="2063739"/>
          </a:xfrm>
          <a:custGeom>
            <a:avLst/>
            <a:gdLst/>
            <a:ahLst/>
            <a:cxnLst/>
            <a:rect r="r" b="b" t="t" l="l"/>
            <a:pathLst>
              <a:path h="2063739" w="2063739">
                <a:moveTo>
                  <a:pt x="0" y="0"/>
                </a:moveTo>
                <a:lnTo>
                  <a:pt x="2063740" y="0"/>
                </a:lnTo>
                <a:lnTo>
                  <a:pt x="2063740" y="2063739"/>
                </a:lnTo>
                <a:lnTo>
                  <a:pt x="0" y="20637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14472806" y="432551"/>
            <a:ext cx="1198637" cy="1198637"/>
          </a:xfrm>
          <a:custGeom>
            <a:avLst/>
            <a:gdLst/>
            <a:ahLst/>
            <a:cxnLst/>
            <a:rect r="r" b="b" t="t" l="l"/>
            <a:pathLst>
              <a:path h="1198637" w="1198637">
                <a:moveTo>
                  <a:pt x="0" y="0"/>
                </a:moveTo>
                <a:lnTo>
                  <a:pt x="1198637" y="0"/>
                </a:lnTo>
                <a:lnTo>
                  <a:pt x="1198637" y="1198637"/>
                </a:lnTo>
                <a:lnTo>
                  <a:pt x="0" y="119863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10812" y="647763"/>
            <a:ext cx="8008281" cy="6624219"/>
          </a:xfrm>
          <a:custGeom>
            <a:avLst/>
            <a:gdLst/>
            <a:ahLst/>
            <a:cxnLst/>
            <a:rect r="r" b="b" t="t" l="l"/>
            <a:pathLst>
              <a:path h="6624219" w="8008281">
                <a:moveTo>
                  <a:pt x="0" y="0"/>
                </a:moveTo>
                <a:lnTo>
                  <a:pt x="8008281" y="0"/>
                </a:lnTo>
                <a:lnTo>
                  <a:pt x="8008281" y="6624219"/>
                </a:lnTo>
                <a:lnTo>
                  <a:pt x="0" y="662421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595946" y="2818278"/>
            <a:ext cx="8136822" cy="6752790"/>
          </a:xfrm>
          <a:custGeom>
            <a:avLst/>
            <a:gdLst/>
            <a:ahLst/>
            <a:cxnLst/>
            <a:rect r="r" b="b" t="t" l="l"/>
            <a:pathLst>
              <a:path h="6752790" w="8136822">
                <a:moveTo>
                  <a:pt x="0" y="0"/>
                </a:moveTo>
                <a:lnTo>
                  <a:pt x="8136822" y="0"/>
                </a:lnTo>
                <a:lnTo>
                  <a:pt x="8136822" y="6752790"/>
                </a:lnTo>
                <a:lnTo>
                  <a:pt x="0" y="675279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221946" y="1031870"/>
            <a:ext cx="4922054" cy="6020897"/>
            <a:chOff x="0" y="0"/>
            <a:chExt cx="3009933" cy="36818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09933" cy="3681897"/>
            </a:xfrm>
            <a:custGeom>
              <a:avLst/>
              <a:gdLst/>
              <a:ahLst/>
              <a:cxnLst/>
              <a:rect r="r" b="b" t="t" l="l"/>
              <a:pathLst>
                <a:path h="3681897" w="3009933">
                  <a:moveTo>
                    <a:pt x="0" y="0"/>
                  </a:moveTo>
                  <a:lnTo>
                    <a:pt x="0" y="2301557"/>
                  </a:lnTo>
                  <a:lnTo>
                    <a:pt x="622629" y="2301557"/>
                  </a:lnTo>
                  <a:lnTo>
                    <a:pt x="622629" y="3681897"/>
                  </a:lnTo>
                  <a:lnTo>
                    <a:pt x="2698283" y="3681897"/>
                  </a:lnTo>
                  <a:lnTo>
                    <a:pt x="2698283" y="1380340"/>
                  </a:lnTo>
                  <a:lnTo>
                    <a:pt x="3009933" y="1380340"/>
                  </a:lnTo>
                  <a:lnTo>
                    <a:pt x="3009933" y="0"/>
                  </a:lnTo>
                  <a:close/>
                </a:path>
              </a:pathLst>
            </a:custGeom>
            <a:blipFill>
              <a:blip r:embed="rId2"/>
              <a:stretch>
                <a:fillRect l="-15284" t="0" r="-15284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6765194" y="6129386"/>
            <a:ext cx="1522806" cy="1522806"/>
          </a:xfrm>
          <a:custGeom>
            <a:avLst/>
            <a:gdLst/>
            <a:ahLst/>
            <a:cxnLst/>
            <a:rect r="r" b="b" t="t" l="l"/>
            <a:pathLst>
              <a:path h="1522806" w="1522806">
                <a:moveTo>
                  <a:pt x="0" y="0"/>
                </a:moveTo>
                <a:lnTo>
                  <a:pt x="1522806" y="0"/>
                </a:lnTo>
                <a:lnTo>
                  <a:pt x="1522806" y="1522805"/>
                </a:lnTo>
                <a:lnTo>
                  <a:pt x="0" y="15228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3170" y="0"/>
            <a:ext cx="2063739" cy="2063739"/>
          </a:xfrm>
          <a:custGeom>
            <a:avLst/>
            <a:gdLst/>
            <a:ahLst/>
            <a:cxnLst/>
            <a:rect r="r" b="b" t="t" l="l"/>
            <a:pathLst>
              <a:path h="2063739" w="2063739">
                <a:moveTo>
                  <a:pt x="0" y="0"/>
                </a:moveTo>
                <a:lnTo>
                  <a:pt x="2063740" y="0"/>
                </a:lnTo>
                <a:lnTo>
                  <a:pt x="2063740" y="2063739"/>
                </a:lnTo>
                <a:lnTo>
                  <a:pt x="0" y="206373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17099056" y="4288417"/>
            <a:ext cx="855083" cy="855083"/>
          </a:xfrm>
          <a:custGeom>
            <a:avLst/>
            <a:gdLst/>
            <a:ahLst/>
            <a:cxnLst/>
            <a:rect r="r" b="b" t="t" l="l"/>
            <a:pathLst>
              <a:path h="855083" w="855083">
                <a:moveTo>
                  <a:pt x="0" y="0"/>
                </a:moveTo>
                <a:lnTo>
                  <a:pt x="855083" y="0"/>
                </a:lnTo>
                <a:lnTo>
                  <a:pt x="855083" y="855083"/>
                </a:lnTo>
                <a:lnTo>
                  <a:pt x="0" y="85508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738463" y="679023"/>
            <a:ext cx="4107333" cy="2222925"/>
          </a:xfrm>
          <a:custGeom>
            <a:avLst/>
            <a:gdLst/>
            <a:ahLst/>
            <a:cxnLst/>
            <a:rect r="r" b="b" t="t" l="l"/>
            <a:pathLst>
              <a:path h="2222925" w="4107333">
                <a:moveTo>
                  <a:pt x="0" y="0"/>
                </a:moveTo>
                <a:lnTo>
                  <a:pt x="4107333" y="0"/>
                </a:lnTo>
                <a:lnTo>
                  <a:pt x="4107333" y="2222924"/>
                </a:lnTo>
                <a:lnTo>
                  <a:pt x="0" y="222292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447658" y="3730283"/>
            <a:ext cx="3584722" cy="2077030"/>
          </a:xfrm>
          <a:custGeom>
            <a:avLst/>
            <a:gdLst/>
            <a:ahLst/>
            <a:cxnLst/>
            <a:rect r="r" b="b" t="t" l="l"/>
            <a:pathLst>
              <a:path h="2077030" w="3584722">
                <a:moveTo>
                  <a:pt x="0" y="0"/>
                </a:moveTo>
                <a:lnTo>
                  <a:pt x="3584723" y="0"/>
                </a:lnTo>
                <a:lnTo>
                  <a:pt x="3584723" y="2077030"/>
                </a:lnTo>
                <a:lnTo>
                  <a:pt x="0" y="207703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845796" y="429791"/>
            <a:ext cx="4266666" cy="2472156"/>
          </a:xfrm>
          <a:custGeom>
            <a:avLst/>
            <a:gdLst/>
            <a:ahLst/>
            <a:cxnLst/>
            <a:rect r="r" b="b" t="t" l="l"/>
            <a:pathLst>
              <a:path h="2472156" w="4266666">
                <a:moveTo>
                  <a:pt x="0" y="0"/>
                </a:moveTo>
                <a:lnTo>
                  <a:pt x="4266666" y="0"/>
                </a:lnTo>
                <a:lnTo>
                  <a:pt x="4266666" y="2472156"/>
                </a:lnTo>
                <a:lnTo>
                  <a:pt x="0" y="247215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116803" y="3730283"/>
            <a:ext cx="2923219" cy="2203431"/>
          </a:xfrm>
          <a:custGeom>
            <a:avLst/>
            <a:gdLst/>
            <a:ahLst/>
            <a:cxnLst/>
            <a:rect r="r" b="b" t="t" l="l"/>
            <a:pathLst>
              <a:path h="2203431" w="2923219">
                <a:moveTo>
                  <a:pt x="0" y="0"/>
                </a:moveTo>
                <a:lnTo>
                  <a:pt x="2923219" y="0"/>
                </a:lnTo>
                <a:lnTo>
                  <a:pt x="2923219" y="2203431"/>
                </a:lnTo>
                <a:lnTo>
                  <a:pt x="0" y="220343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00767" y="3717739"/>
            <a:ext cx="5154811" cy="99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25"/>
              </a:lnSpc>
            </a:pPr>
            <a:r>
              <a:rPr lang="en-US" sz="7425">
                <a:solidFill>
                  <a:srgbClr val="1F4E79"/>
                </a:solidFill>
                <a:latin typeface="Ovo"/>
                <a:ea typeface="Ovo"/>
                <a:cs typeface="Ovo"/>
                <a:sym typeface="Ovo"/>
              </a:rPr>
              <a:t>Árboles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2285627" y="7395667"/>
            <a:ext cx="7831176" cy="2435455"/>
            <a:chOff x="0" y="0"/>
            <a:chExt cx="10441568" cy="3247273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-57150"/>
              <a:ext cx="10441568" cy="4693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10"/>
                </a:lnSpc>
                <a:spcBef>
                  <a:spcPct val="0"/>
                </a:spcBef>
              </a:pPr>
              <a:r>
                <a:rPr lang="en-US" sz="2079">
                  <a:solidFill>
                    <a:srgbClr val="1F4E79"/>
                  </a:solidFill>
                  <a:latin typeface="Ovo"/>
                  <a:ea typeface="Ovo"/>
                  <a:cs typeface="Ovo"/>
                  <a:sym typeface="Ovo"/>
                </a:rPr>
                <a:t>Recor</a:t>
              </a:r>
              <a:r>
                <a:rPr lang="en-US" sz="2079">
                  <a:solidFill>
                    <a:srgbClr val="1F4E79"/>
                  </a:solidFill>
                  <a:latin typeface="Ovo"/>
                  <a:ea typeface="Ovo"/>
                  <a:cs typeface="Ovo"/>
                  <a:sym typeface="Ovo"/>
                </a:rPr>
                <a:t>ridos de árboles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287157" y="967902"/>
              <a:ext cx="9867255" cy="22793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702"/>
                </a:lnSpc>
              </a:pPr>
              <a:r>
                <a:rPr lang="en-US" sz="2079">
                  <a:solidFill>
                    <a:srgbClr val="1F4E79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lo</a:t>
              </a:r>
              <a:r>
                <a:rPr lang="en-US" sz="2079">
                  <a:solidFill>
                    <a:srgbClr val="1F4E79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s métodos de recorrido incluyen el preorden (visita primero la raíz), inorden (visita el subárbol izquierdo, luego la raíz y después el derecho), posorden (visita primero los subárboles y luego la raíz) y recorrido por niveles (nivel por nivel desde la raíz).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738463" y="7052767"/>
            <a:ext cx="7788134" cy="2778355"/>
            <a:chOff x="0" y="0"/>
            <a:chExt cx="10384178" cy="3704473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-57150"/>
              <a:ext cx="10384178" cy="4693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10"/>
                </a:lnSpc>
                <a:spcBef>
                  <a:spcPct val="0"/>
                </a:spcBef>
              </a:pPr>
              <a:r>
                <a:rPr lang="en-US" sz="2079">
                  <a:solidFill>
                    <a:srgbClr val="1F4E79"/>
                  </a:solidFill>
                  <a:latin typeface="Ovo"/>
                  <a:ea typeface="Ovo"/>
                  <a:cs typeface="Ovo"/>
                  <a:sym typeface="Ovo"/>
                </a:rPr>
                <a:t>Árboles AVL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285579" y="967902"/>
              <a:ext cx="9813021" cy="27365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702"/>
                </a:lnSpc>
              </a:pPr>
              <a:r>
                <a:rPr lang="en-US" sz="2079">
                  <a:solidFill>
                    <a:srgbClr val="1F4E79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Son árboles bin</a:t>
              </a:r>
              <a:r>
                <a:rPr lang="en-US" sz="2079">
                  <a:solidFill>
                    <a:srgbClr val="1F4E79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arios de búsqueda auto balanceados. Su característica principal es que la diferencia entre las alturas de los subárboles izquierdo y derecho de cualquier nodo no supera uno. Para mantener este equilibrio, los árboles AVL aplican rotaciones simples y dobles tras inserciones o eliminaciones.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9951730" y="3269631"/>
            <a:ext cx="7788134" cy="366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10"/>
              </a:lnSpc>
              <a:spcBef>
                <a:spcPct val="0"/>
              </a:spcBef>
            </a:pPr>
            <a:r>
              <a:rPr lang="en-US" sz="2079">
                <a:solidFill>
                  <a:srgbClr val="1F4E79"/>
                </a:solidFill>
                <a:latin typeface="Ovo"/>
                <a:ea typeface="Ovo"/>
                <a:cs typeface="Ovo"/>
                <a:sym typeface="Ovo"/>
              </a:rPr>
              <a:t>Árbol AVL válido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166005" y="6072236"/>
            <a:ext cx="7788134" cy="366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10"/>
              </a:lnSpc>
              <a:spcBef>
                <a:spcPct val="0"/>
              </a:spcBef>
            </a:pPr>
            <a:r>
              <a:rPr lang="en-US" sz="2079">
                <a:solidFill>
                  <a:srgbClr val="1F4E79"/>
                </a:solidFill>
                <a:latin typeface="Ovo"/>
                <a:ea typeface="Ovo"/>
                <a:cs typeface="Ovo"/>
                <a:sym typeface="Ovo"/>
              </a:rPr>
              <a:t>No es un Árbol AVL válido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9427876" y="2158334"/>
            <a:ext cx="7139516" cy="0"/>
          </a:xfrm>
          <a:prstGeom prst="line">
            <a:avLst/>
          </a:prstGeom>
          <a:ln cap="flat" w="9525">
            <a:solidFill>
              <a:srgbClr val="1F4E7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3879084" y="8399084"/>
            <a:ext cx="999031" cy="999031"/>
          </a:xfrm>
          <a:custGeom>
            <a:avLst/>
            <a:gdLst/>
            <a:ahLst/>
            <a:cxnLst/>
            <a:rect r="r" b="b" t="t" l="l"/>
            <a:pathLst>
              <a:path h="999031" w="999031">
                <a:moveTo>
                  <a:pt x="0" y="0"/>
                </a:moveTo>
                <a:lnTo>
                  <a:pt x="999032" y="0"/>
                </a:lnTo>
                <a:lnTo>
                  <a:pt x="999032" y="999032"/>
                </a:lnTo>
                <a:lnTo>
                  <a:pt x="0" y="9990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879084" y="1154540"/>
            <a:ext cx="999031" cy="999031"/>
          </a:xfrm>
          <a:custGeom>
            <a:avLst/>
            <a:gdLst/>
            <a:ahLst/>
            <a:cxnLst/>
            <a:rect r="r" b="b" t="t" l="l"/>
            <a:pathLst>
              <a:path h="999031" w="999031">
                <a:moveTo>
                  <a:pt x="0" y="0"/>
                </a:moveTo>
                <a:lnTo>
                  <a:pt x="999032" y="0"/>
                </a:lnTo>
                <a:lnTo>
                  <a:pt x="999032" y="999031"/>
                </a:lnTo>
                <a:lnTo>
                  <a:pt x="0" y="9990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978295" y="8276655"/>
            <a:ext cx="1250711" cy="1243889"/>
          </a:xfrm>
          <a:custGeom>
            <a:avLst/>
            <a:gdLst/>
            <a:ahLst/>
            <a:cxnLst/>
            <a:rect r="r" b="b" t="t" l="l"/>
            <a:pathLst>
              <a:path h="1243889" w="1250711">
                <a:moveTo>
                  <a:pt x="0" y="0"/>
                </a:moveTo>
                <a:lnTo>
                  <a:pt x="1250711" y="0"/>
                </a:lnTo>
                <a:lnTo>
                  <a:pt x="1250711" y="1243889"/>
                </a:lnTo>
                <a:lnTo>
                  <a:pt x="0" y="12438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978295" y="1032111"/>
            <a:ext cx="1250711" cy="1243889"/>
          </a:xfrm>
          <a:custGeom>
            <a:avLst/>
            <a:gdLst/>
            <a:ahLst/>
            <a:cxnLst/>
            <a:rect r="r" b="b" t="t" l="l"/>
            <a:pathLst>
              <a:path h="1243889" w="1250711">
                <a:moveTo>
                  <a:pt x="0" y="0"/>
                </a:moveTo>
                <a:lnTo>
                  <a:pt x="1250711" y="0"/>
                </a:lnTo>
                <a:lnTo>
                  <a:pt x="1250711" y="1243889"/>
                </a:lnTo>
                <a:lnTo>
                  <a:pt x="0" y="12438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5400000">
            <a:off x="5189030" y="8276655"/>
            <a:ext cx="1250711" cy="1243889"/>
          </a:xfrm>
          <a:custGeom>
            <a:avLst/>
            <a:gdLst/>
            <a:ahLst/>
            <a:cxnLst/>
            <a:rect r="r" b="b" t="t" l="l"/>
            <a:pathLst>
              <a:path h="1243889" w="1250711">
                <a:moveTo>
                  <a:pt x="0" y="0"/>
                </a:moveTo>
                <a:lnTo>
                  <a:pt x="1250711" y="0"/>
                </a:lnTo>
                <a:lnTo>
                  <a:pt x="1250711" y="1243889"/>
                </a:lnTo>
                <a:lnTo>
                  <a:pt x="0" y="12438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400000">
            <a:off x="5189030" y="1032111"/>
            <a:ext cx="1250711" cy="1243889"/>
          </a:xfrm>
          <a:custGeom>
            <a:avLst/>
            <a:gdLst/>
            <a:ahLst/>
            <a:cxnLst/>
            <a:rect r="r" b="b" t="t" l="l"/>
            <a:pathLst>
              <a:path h="1243889" w="1250711">
                <a:moveTo>
                  <a:pt x="0" y="0"/>
                </a:moveTo>
                <a:lnTo>
                  <a:pt x="1250711" y="0"/>
                </a:lnTo>
                <a:lnTo>
                  <a:pt x="1250711" y="1243889"/>
                </a:lnTo>
                <a:lnTo>
                  <a:pt x="0" y="12438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400000">
            <a:off x="2641943" y="8437060"/>
            <a:ext cx="923080" cy="923080"/>
          </a:xfrm>
          <a:custGeom>
            <a:avLst/>
            <a:gdLst/>
            <a:ahLst/>
            <a:cxnLst/>
            <a:rect r="r" b="b" t="t" l="l"/>
            <a:pathLst>
              <a:path h="923080" w="923080">
                <a:moveTo>
                  <a:pt x="0" y="0"/>
                </a:moveTo>
                <a:lnTo>
                  <a:pt x="923080" y="0"/>
                </a:lnTo>
                <a:lnTo>
                  <a:pt x="923080" y="923080"/>
                </a:lnTo>
                <a:lnTo>
                  <a:pt x="0" y="9230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5400000">
            <a:off x="2641943" y="1192516"/>
            <a:ext cx="923080" cy="923080"/>
          </a:xfrm>
          <a:custGeom>
            <a:avLst/>
            <a:gdLst/>
            <a:ahLst/>
            <a:cxnLst/>
            <a:rect r="r" b="b" t="t" l="l"/>
            <a:pathLst>
              <a:path h="923080" w="923080">
                <a:moveTo>
                  <a:pt x="0" y="0"/>
                </a:moveTo>
                <a:lnTo>
                  <a:pt x="923080" y="0"/>
                </a:lnTo>
                <a:lnTo>
                  <a:pt x="923080" y="923080"/>
                </a:lnTo>
                <a:lnTo>
                  <a:pt x="0" y="9230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847731" y="3708724"/>
            <a:ext cx="9045709" cy="4473153"/>
          </a:xfrm>
          <a:custGeom>
            <a:avLst/>
            <a:gdLst/>
            <a:ahLst/>
            <a:cxnLst/>
            <a:rect r="r" b="b" t="t" l="l"/>
            <a:pathLst>
              <a:path h="4473153" w="9045709">
                <a:moveTo>
                  <a:pt x="0" y="0"/>
                </a:moveTo>
                <a:lnTo>
                  <a:pt x="9045709" y="0"/>
                </a:lnTo>
                <a:lnTo>
                  <a:pt x="9045709" y="4473152"/>
                </a:lnTo>
                <a:lnTo>
                  <a:pt x="0" y="447315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28700" y="4769281"/>
            <a:ext cx="6475629" cy="1176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799"/>
              </a:lnSpc>
              <a:spcBef>
                <a:spcPct val="0"/>
              </a:spcBef>
            </a:pPr>
            <a:r>
              <a:rPr lang="en-US" sz="8799" strike="noStrike" u="none">
                <a:solidFill>
                  <a:srgbClr val="1F4E79"/>
                </a:solidFill>
                <a:latin typeface="Ovo"/>
                <a:ea typeface="Ovo"/>
                <a:cs typeface="Ovo"/>
                <a:sym typeface="Ovo"/>
              </a:rPr>
              <a:t>Árboles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427876" y="1614903"/>
            <a:ext cx="7139516" cy="1752976"/>
            <a:chOff x="0" y="0"/>
            <a:chExt cx="9519354" cy="2337301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-9525"/>
              <a:ext cx="9519354" cy="657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40"/>
                </a:lnSpc>
              </a:pPr>
              <a:r>
                <a:rPr lang="en-US" sz="3200">
                  <a:solidFill>
                    <a:srgbClr val="2A9D8F"/>
                  </a:solidFill>
                  <a:latin typeface="Ovo"/>
                  <a:ea typeface="Ovo"/>
                  <a:cs typeface="Ovo"/>
                  <a:sym typeface="Ovo"/>
                </a:rPr>
                <a:t>Rotaciones en árbo</a:t>
              </a:r>
              <a:r>
                <a:rPr lang="en-US" sz="3200">
                  <a:solidFill>
                    <a:srgbClr val="2A9D8F"/>
                  </a:solidFill>
                  <a:latin typeface="Ovo"/>
                  <a:ea typeface="Ovo"/>
                  <a:cs typeface="Ovo"/>
                  <a:sym typeface="Ovo"/>
                </a:rPr>
                <a:t>les AVL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833634"/>
              <a:ext cx="9519354" cy="15036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292"/>
                </a:lnSpc>
              </a:pPr>
              <a:r>
                <a:rPr lang="en-US" sz="1763">
                  <a:solidFill>
                    <a:srgbClr val="1F4E79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una rotación simple (izquierda o derecha) ree</a:t>
              </a:r>
              <a:r>
                <a:rPr lang="en-US" sz="1763">
                  <a:solidFill>
                    <a:srgbClr val="1F4E79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structura localmente el árbol para restaurar el balance. Las rotaciones dobles se aplican en casos de desbalance cruzado (izquierda-derecha o derecha-izquierda).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837085" y="3258579"/>
            <a:ext cx="1450915" cy="1450915"/>
          </a:xfrm>
          <a:custGeom>
            <a:avLst/>
            <a:gdLst/>
            <a:ahLst/>
            <a:cxnLst/>
            <a:rect r="r" b="b" t="t" l="l"/>
            <a:pathLst>
              <a:path h="1450915" w="1450915">
                <a:moveTo>
                  <a:pt x="0" y="0"/>
                </a:moveTo>
                <a:lnTo>
                  <a:pt x="1450915" y="0"/>
                </a:lnTo>
                <a:lnTo>
                  <a:pt x="1450915" y="1450915"/>
                </a:lnTo>
                <a:lnTo>
                  <a:pt x="0" y="14509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8174684"/>
            <a:ext cx="2112316" cy="2112316"/>
          </a:xfrm>
          <a:custGeom>
            <a:avLst/>
            <a:gdLst/>
            <a:ahLst/>
            <a:cxnLst/>
            <a:rect r="r" b="b" t="t" l="l"/>
            <a:pathLst>
              <a:path h="2112316" w="2112316">
                <a:moveTo>
                  <a:pt x="0" y="0"/>
                </a:moveTo>
                <a:lnTo>
                  <a:pt x="2112316" y="0"/>
                </a:lnTo>
                <a:lnTo>
                  <a:pt x="2112316" y="2112316"/>
                </a:lnTo>
                <a:lnTo>
                  <a:pt x="0" y="21123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2434640" y="8464518"/>
            <a:ext cx="1532648" cy="1532648"/>
          </a:xfrm>
          <a:custGeom>
            <a:avLst/>
            <a:gdLst/>
            <a:ahLst/>
            <a:cxnLst/>
            <a:rect r="r" b="b" t="t" l="l"/>
            <a:pathLst>
              <a:path h="1532648" w="1532648">
                <a:moveTo>
                  <a:pt x="0" y="0"/>
                </a:moveTo>
                <a:lnTo>
                  <a:pt x="1532649" y="0"/>
                </a:lnTo>
                <a:lnTo>
                  <a:pt x="1532649" y="1532648"/>
                </a:lnTo>
                <a:lnTo>
                  <a:pt x="0" y="15326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733061" y="4279665"/>
            <a:ext cx="10782823" cy="5724822"/>
          </a:xfrm>
          <a:custGeom>
            <a:avLst/>
            <a:gdLst/>
            <a:ahLst/>
            <a:cxnLst/>
            <a:rect r="r" b="b" t="t" l="l"/>
            <a:pathLst>
              <a:path h="5724822" w="10782823">
                <a:moveTo>
                  <a:pt x="0" y="0"/>
                </a:moveTo>
                <a:lnTo>
                  <a:pt x="10782822" y="0"/>
                </a:lnTo>
                <a:lnTo>
                  <a:pt x="10782822" y="5724822"/>
                </a:lnTo>
                <a:lnTo>
                  <a:pt x="0" y="572482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396" r="0" b="-396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8700" y="1028700"/>
            <a:ext cx="16230600" cy="3250965"/>
            <a:chOff x="0" y="0"/>
            <a:chExt cx="21640800" cy="433462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9525"/>
              <a:ext cx="21640800" cy="1787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0559"/>
                </a:lnSpc>
              </a:pPr>
              <a:r>
                <a:rPr lang="en-US" sz="8799">
                  <a:solidFill>
                    <a:srgbClr val="1F4E79"/>
                  </a:solidFill>
                  <a:latin typeface="Ovo"/>
                  <a:ea typeface="Ovo"/>
                  <a:cs typeface="Ovo"/>
                  <a:sym typeface="Ovo"/>
                </a:rPr>
                <a:t>Árboles B y B+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263667"/>
              <a:ext cx="21640800" cy="20709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03"/>
                </a:lnSpc>
              </a:pPr>
              <a:r>
                <a:rPr lang="en-US" sz="2387">
                  <a:solidFill>
                    <a:srgbClr val="1F4E79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so</a:t>
              </a:r>
              <a:r>
                <a:rPr lang="en-US" sz="2387">
                  <a:solidFill>
                    <a:srgbClr val="1F4E79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n estructuras de datos utilizadas en sistemas de bases de datos y archivos para mantener la información ordenada y balanceada. Los árboles B son árboles de búsqueda de múltiples ramas, donde cada nodo puede contener varias claves y tener múltiples hijos. Los árboles B+ son una variación donde todos los registros se almacenan en las hojas, enlazadas entre sí para facilitar recorridos secuenciales.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71190" y="0"/>
            <a:ext cx="9921573" cy="10287000"/>
            <a:chOff x="0" y="0"/>
            <a:chExt cx="2613089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13089" cy="2709333"/>
            </a:xfrm>
            <a:custGeom>
              <a:avLst/>
              <a:gdLst/>
              <a:ahLst/>
              <a:cxnLst/>
              <a:rect r="r" b="b" t="t" l="l"/>
              <a:pathLst>
                <a:path h="2709333" w="2613089">
                  <a:moveTo>
                    <a:pt x="0" y="0"/>
                  </a:moveTo>
                  <a:lnTo>
                    <a:pt x="2613089" y="0"/>
                  </a:lnTo>
                  <a:lnTo>
                    <a:pt x="261308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33E6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613089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4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371190" y="-2480393"/>
            <a:ext cx="4960786" cy="4960786"/>
          </a:xfrm>
          <a:custGeom>
            <a:avLst/>
            <a:gdLst/>
            <a:ahLst/>
            <a:cxnLst/>
            <a:rect r="r" b="b" t="t" l="l"/>
            <a:pathLst>
              <a:path h="4960786" w="4960786">
                <a:moveTo>
                  <a:pt x="0" y="0"/>
                </a:moveTo>
                <a:lnTo>
                  <a:pt x="4960786" y="0"/>
                </a:lnTo>
                <a:lnTo>
                  <a:pt x="4960786" y="4960786"/>
                </a:lnTo>
                <a:lnTo>
                  <a:pt x="0" y="49607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331976" y="-2480393"/>
            <a:ext cx="4960786" cy="4960786"/>
          </a:xfrm>
          <a:custGeom>
            <a:avLst/>
            <a:gdLst/>
            <a:ahLst/>
            <a:cxnLst/>
            <a:rect r="r" b="b" t="t" l="l"/>
            <a:pathLst>
              <a:path h="4960786" w="4960786">
                <a:moveTo>
                  <a:pt x="0" y="0"/>
                </a:moveTo>
                <a:lnTo>
                  <a:pt x="4960786" y="0"/>
                </a:lnTo>
                <a:lnTo>
                  <a:pt x="4960786" y="4960786"/>
                </a:lnTo>
                <a:lnTo>
                  <a:pt x="0" y="49607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7803790"/>
            <a:ext cx="1454510" cy="1454510"/>
          </a:xfrm>
          <a:custGeom>
            <a:avLst/>
            <a:gdLst/>
            <a:ahLst/>
            <a:cxnLst/>
            <a:rect r="r" b="b" t="t" l="l"/>
            <a:pathLst>
              <a:path h="1454510" w="1454510">
                <a:moveTo>
                  <a:pt x="0" y="0"/>
                </a:moveTo>
                <a:lnTo>
                  <a:pt x="1454510" y="0"/>
                </a:lnTo>
                <a:lnTo>
                  <a:pt x="1454510" y="1454510"/>
                </a:lnTo>
                <a:lnTo>
                  <a:pt x="0" y="14545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64548" y="2819141"/>
            <a:ext cx="6892395" cy="7007269"/>
          </a:xfrm>
          <a:custGeom>
            <a:avLst/>
            <a:gdLst/>
            <a:ahLst/>
            <a:cxnLst/>
            <a:rect r="r" b="b" t="t" l="l"/>
            <a:pathLst>
              <a:path h="7007269" w="6892395">
                <a:moveTo>
                  <a:pt x="0" y="0"/>
                </a:moveTo>
                <a:lnTo>
                  <a:pt x="6892395" y="0"/>
                </a:lnTo>
                <a:lnTo>
                  <a:pt x="6892395" y="7007269"/>
                </a:lnTo>
                <a:lnTo>
                  <a:pt x="0" y="70072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3096489"/>
            <a:ext cx="6379874" cy="3383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700"/>
              </a:lnSpc>
            </a:pPr>
            <a:r>
              <a:rPr lang="en-US" sz="8700">
                <a:solidFill>
                  <a:srgbClr val="1F4E79"/>
                </a:solidFill>
                <a:latin typeface="Ovo"/>
                <a:ea typeface="Ovo"/>
                <a:cs typeface="Ovo"/>
                <a:sym typeface="Ovo"/>
              </a:rPr>
              <a:t>Muchas</a:t>
            </a:r>
            <a:r>
              <a:rPr lang="en-US" sz="8700">
                <a:solidFill>
                  <a:srgbClr val="1F4E79"/>
                </a:solidFill>
                <a:latin typeface="Ovo"/>
                <a:ea typeface="Ovo"/>
                <a:cs typeface="Ovo"/>
                <a:sym typeface="Ovo"/>
              </a:rPr>
              <a:t> Gracias por su Atención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Matemática: Grafos y Árboles</dc:description>
  <dc:identifier>DAG1WBvt9vs</dc:identifier>
  <dcterms:modified xsi:type="dcterms:W3CDTF">2011-08-01T06:04:30Z</dcterms:modified>
  <cp:revision>1</cp:revision>
  <dc:title>Presentation - Grafos y Árboles</dc:title>
</cp:coreProperties>
</file>