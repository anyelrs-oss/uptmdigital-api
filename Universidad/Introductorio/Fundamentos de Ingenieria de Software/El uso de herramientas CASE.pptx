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Horizon" panose="020B0604020202020204" charset="0"/>
      <p:regular r:id="rId10"/>
    </p:embeddedFont>
    <p:embeddedFont>
      <p:font typeface="Public Sans" panose="020B0604020202020204" charset="0"/>
      <p:regular r:id="rId11"/>
    </p:embeddedFont>
    <p:embeddedFont>
      <p:font typeface="Public Sa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804"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sv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s>
</file>

<file path=ppt/slides/_rels/slide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jpeg"/><Relationship Id="rId4" Type="http://schemas.openxmlformats.org/officeDocument/2006/relationships/image" Target="../media/image32.jpeg"/></Relationships>
</file>

<file path=ppt/slides/_rels/slide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5.svg"/><Relationship Id="rId7" Type="http://schemas.openxmlformats.org/officeDocument/2006/relationships/image" Target="../media/image37.sv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svg"/><Relationship Id="rId10" Type="http://schemas.openxmlformats.org/officeDocument/2006/relationships/image" Target="../media/image40.jpeg"/><Relationship Id="rId4" Type="http://schemas.openxmlformats.org/officeDocument/2006/relationships/image" Target="../media/image1.png"/><Relationship Id="rId9" Type="http://schemas.openxmlformats.org/officeDocument/2006/relationships/image" Target="../media/image39.jpeg"/></Relationships>
</file>

<file path=ppt/slides/_rels/slide7.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slideLayout" Target="../slideLayouts/slideLayout7.xml"/><Relationship Id="rId7" Type="http://schemas.openxmlformats.org/officeDocument/2006/relationships/image" Target="../media/image44.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 Id="rId9" Type="http://schemas.openxmlformats.org/officeDocument/2006/relationships/image" Target="../media/image46.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7DC9"/>
        </a:solidFill>
        <a:effectLst/>
      </p:bgPr>
    </p:bg>
    <p:spTree>
      <p:nvGrpSpPr>
        <p:cNvPr id="1" name=""/>
        <p:cNvGrpSpPr/>
        <p:nvPr/>
      </p:nvGrpSpPr>
      <p:grpSpPr>
        <a:xfrm>
          <a:off x="0" y="0"/>
          <a:ext cx="0" cy="0"/>
          <a:chOff x="0" y="0"/>
          <a:chExt cx="0" cy="0"/>
        </a:xfrm>
      </p:grpSpPr>
      <p:sp>
        <p:nvSpPr>
          <p:cNvPr id="2" name="TextBox 2"/>
          <p:cNvSpPr txBox="1"/>
          <p:nvPr/>
        </p:nvSpPr>
        <p:spPr>
          <a:xfrm>
            <a:off x="1028700" y="2754851"/>
            <a:ext cx="13722445" cy="3872652"/>
          </a:xfrm>
          <a:prstGeom prst="rect">
            <a:avLst/>
          </a:prstGeom>
        </p:spPr>
        <p:txBody>
          <a:bodyPr lIns="0" tIns="0" rIns="0" bIns="0" rtlCol="0" anchor="t">
            <a:spAutoFit/>
          </a:bodyPr>
          <a:lstStyle/>
          <a:p>
            <a:pPr marL="0" lvl="0" indent="0" algn="l">
              <a:lnSpc>
                <a:spcPts val="6021"/>
              </a:lnSpc>
            </a:pPr>
            <a:r>
              <a:rPr lang="en-US" sz="5017">
                <a:solidFill>
                  <a:srgbClr val="FFFFFF"/>
                </a:solidFill>
                <a:latin typeface="Horizon"/>
                <a:ea typeface="Horizon"/>
                <a:cs typeface="Horizon"/>
                <a:sym typeface="Horizon"/>
              </a:rPr>
              <a:t>El uso de herramientas CASE en el modelado de sistemas dentro del proceso de desarrollo del software</a:t>
            </a:r>
          </a:p>
        </p:txBody>
      </p:sp>
      <p:grpSp>
        <p:nvGrpSpPr>
          <p:cNvPr id="3" name="Group 3"/>
          <p:cNvGrpSpPr/>
          <p:nvPr/>
        </p:nvGrpSpPr>
        <p:grpSpPr>
          <a:xfrm>
            <a:off x="0" y="8286450"/>
            <a:ext cx="14717285" cy="2000550"/>
            <a:chOff x="0" y="0"/>
            <a:chExt cx="3876157" cy="526894"/>
          </a:xfrm>
        </p:grpSpPr>
        <p:sp>
          <p:nvSpPr>
            <p:cNvPr id="4" name="Freeform 4"/>
            <p:cNvSpPr/>
            <p:nvPr/>
          </p:nvSpPr>
          <p:spPr>
            <a:xfrm>
              <a:off x="0" y="0"/>
              <a:ext cx="3876158" cy="526894"/>
            </a:xfrm>
            <a:custGeom>
              <a:avLst/>
              <a:gdLst/>
              <a:ahLst/>
              <a:cxnLst/>
              <a:rect l="l" t="t" r="r" b="b"/>
              <a:pathLst>
                <a:path w="3876158" h="526894">
                  <a:moveTo>
                    <a:pt x="0" y="0"/>
                  </a:moveTo>
                  <a:lnTo>
                    <a:pt x="3876158" y="0"/>
                  </a:lnTo>
                  <a:lnTo>
                    <a:pt x="3876158" y="526894"/>
                  </a:lnTo>
                  <a:lnTo>
                    <a:pt x="0" y="526894"/>
                  </a:lnTo>
                  <a:close/>
                </a:path>
              </a:pathLst>
            </a:custGeom>
            <a:solidFill>
              <a:srgbClr val="002254"/>
            </a:solidFill>
          </p:spPr>
        </p:sp>
        <p:sp>
          <p:nvSpPr>
            <p:cNvPr id="5" name="TextBox 5"/>
            <p:cNvSpPr txBox="1"/>
            <p:nvPr/>
          </p:nvSpPr>
          <p:spPr>
            <a:xfrm>
              <a:off x="0" y="-57150"/>
              <a:ext cx="3876157" cy="584044"/>
            </a:xfrm>
            <a:prstGeom prst="rect">
              <a:avLst/>
            </a:prstGeom>
          </p:spPr>
          <p:txBody>
            <a:bodyPr lIns="50800" tIns="50800" rIns="50800" bIns="50800" rtlCol="0" anchor="ctr"/>
            <a:lstStyle/>
            <a:p>
              <a:pPr algn="ctr">
                <a:lnSpc>
                  <a:spcPts val="3080"/>
                </a:lnSpc>
              </a:pPr>
              <a:endParaRPr/>
            </a:p>
          </p:txBody>
        </p:sp>
      </p:grpSp>
      <p:grpSp>
        <p:nvGrpSpPr>
          <p:cNvPr id="6" name="Group 6"/>
          <p:cNvGrpSpPr/>
          <p:nvPr/>
        </p:nvGrpSpPr>
        <p:grpSpPr>
          <a:xfrm>
            <a:off x="14717285" y="8286450"/>
            <a:ext cx="3754226" cy="2000550"/>
            <a:chOff x="0" y="0"/>
            <a:chExt cx="988767" cy="526894"/>
          </a:xfrm>
        </p:grpSpPr>
        <p:sp>
          <p:nvSpPr>
            <p:cNvPr id="7" name="Freeform 7"/>
            <p:cNvSpPr/>
            <p:nvPr/>
          </p:nvSpPr>
          <p:spPr>
            <a:xfrm>
              <a:off x="0" y="0"/>
              <a:ext cx="988767" cy="526894"/>
            </a:xfrm>
            <a:custGeom>
              <a:avLst/>
              <a:gdLst/>
              <a:ahLst/>
              <a:cxnLst/>
              <a:rect l="l" t="t" r="r" b="b"/>
              <a:pathLst>
                <a:path w="988767" h="526894">
                  <a:moveTo>
                    <a:pt x="0" y="0"/>
                  </a:moveTo>
                  <a:lnTo>
                    <a:pt x="988767" y="0"/>
                  </a:lnTo>
                  <a:lnTo>
                    <a:pt x="988767" y="526894"/>
                  </a:lnTo>
                  <a:lnTo>
                    <a:pt x="0" y="526894"/>
                  </a:lnTo>
                  <a:close/>
                </a:path>
              </a:pathLst>
            </a:custGeom>
            <a:solidFill>
              <a:srgbClr val="FFFFFF"/>
            </a:solidFill>
          </p:spPr>
        </p:sp>
        <p:sp>
          <p:nvSpPr>
            <p:cNvPr id="8" name="TextBox 8"/>
            <p:cNvSpPr txBox="1"/>
            <p:nvPr/>
          </p:nvSpPr>
          <p:spPr>
            <a:xfrm>
              <a:off x="0" y="-57150"/>
              <a:ext cx="988767" cy="584044"/>
            </a:xfrm>
            <a:prstGeom prst="rect">
              <a:avLst/>
            </a:prstGeom>
          </p:spPr>
          <p:txBody>
            <a:bodyPr lIns="50800" tIns="50800" rIns="50800" bIns="50800" rtlCol="0" anchor="ctr"/>
            <a:lstStyle/>
            <a:p>
              <a:pPr algn="ctr">
                <a:lnSpc>
                  <a:spcPts val="3080"/>
                </a:lnSpc>
              </a:pPr>
              <a:endParaRPr/>
            </a:p>
          </p:txBody>
        </p:sp>
      </p:grpSp>
      <p:sp>
        <p:nvSpPr>
          <p:cNvPr id="9" name="Freeform 9"/>
          <p:cNvSpPr/>
          <p:nvPr/>
        </p:nvSpPr>
        <p:spPr>
          <a:xfrm>
            <a:off x="16725442" y="8727764"/>
            <a:ext cx="1157211" cy="1157211"/>
          </a:xfrm>
          <a:custGeom>
            <a:avLst/>
            <a:gdLst/>
            <a:ahLst/>
            <a:cxnLst/>
            <a:rect l="l" t="t" r="r" b="b"/>
            <a:pathLst>
              <a:path w="1157211" h="1157211">
                <a:moveTo>
                  <a:pt x="0" y="0"/>
                </a:moveTo>
                <a:lnTo>
                  <a:pt x="1157211" y="0"/>
                </a:lnTo>
                <a:lnTo>
                  <a:pt x="1157211" y="1157211"/>
                </a:lnTo>
                <a:lnTo>
                  <a:pt x="0" y="1157211"/>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0" name="Freeform 10"/>
          <p:cNvSpPr/>
          <p:nvPr/>
        </p:nvSpPr>
        <p:spPr>
          <a:xfrm>
            <a:off x="15094689" y="8631625"/>
            <a:ext cx="1253349" cy="1253349"/>
          </a:xfrm>
          <a:custGeom>
            <a:avLst/>
            <a:gdLst/>
            <a:ahLst/>
            <a:cxnLst/>
            <a:rect l="l" t="t" r="r" b="b"/>
            <a:pathLst>
              <a:path w="1253349" h="1253349">
                <a:moveTo>
                  <a:pt x="0" y="0"/>
                </a:moveTo>
                <a:lnTo>
                  <a:pt x="1253349" y="0"/>
                </a:lnTo>
                <a:lnTo>
                  <a:pt x="1253349" y="1253350"/>
                </a:lnTo>
                <a:lnTo>
                  <a:pt x="0" y="125335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1" name="Freeform 11"/>
          <p:cNvSpPr/>
          <p:nvPr/>
        </p:nvSpPr>
        <p:spPr>
          <a:xfrm>
            <a:off x="16786541" y="28425"/>
            <a:ext cx="1501459" cy="8258025"/>
          </a:xfrm>
          <a:custGeom>
            <a:avLst/>
            <a:gdLst/>
            <a:ahLst/>
            <a:cxnLst/>
            <a:rect l="l" t="t" r="r" b="b"/>
            <a:pathLst>
              <a:path w="1501459" h="8258025">
                <a:moveTo>
                  <a:pt x="0" y="0"/>
                </a:moveTo>
                <a:lnTo>
                  <a:pt x="1501459" y="0"/>
                </a:lnTo>
                <a:lnTo>
                  <a:pt x="1501459" y="8258025"/>
                </a:lnTo>
                <a:lnTo>
                  <a:pt x="0" y="82580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028700" y="1028700"/>
            <a:ext cx="880422" cy="621098"/>
          </a:xfrm>
          <a:custGeom>
            <a:avLst/>
            <a:gdLst/>
            <a:ahLst/>
            <a:cxnLst/>
            <a:rect l="l" t="t" r="r" b="b"/>
            <a:pathLst>
              <a:path w="880422" h="621098">
                <a:moveTo>
                  <a:pt x="0" y="0"/>
                </a:moveTo>
                <a:lnTo>
                  <a:pt x="880422" y="0"/>
                </a:lnTo>
                <a:lnTo>
                  <a:pt x="880422" y="621098"/>
                </a:lnTo>
                <a:lnTo>
                  <a:pt x="0" y="62109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Freeform 13"/>
          <p:cNvSpPr/>
          <p:nvPr/>
        </p:nvSpPr>
        <p:spPr>
          <a:xfrm>
            <a:off x="15782462" y="0"/>
            <a:ext cx="813579" cy="8286450"/>
          </a:xfrm>
          <a:custGeom>
            <a:avLst/>
            <a:gdLst/>
            <a:ahLst/>
            <a:cxnLst/>
            <a:rect l="l" t="t" r="r" b="b"/>
            <a:pathLst>
              <a:path w="813579" h="8286450">
                <a:moveTo>
                  <a:pt x="0" y="0"/>
                </a:moveTo>
                <a:lnTo>
                  <a:pt x="813579" y="0"/>
                </a:lnTo>
                <a:lnTo>
                  <a:pt x="813579" y="8286450"/>
                </a:lnTo>
                <a:lnTo>
                  <a:pt x="0" y="82864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Freeform 14"/>
          <p:cNvSpPr/>
          <p:nvPr/>
        </p:nvSpPr>
        <p:spPr>
          <a:xfrm flipH="1">
            <a:off x="14751145" y="28425"/>
            <a:ext cx="840817" cy="8258025"/>
          </a:xfrm>
          <a:custGeom>
            <a:avLst/>
            <a:gdLst/>
            <a:ahLst/>
            <a:cxnLst/>
            <a:rect l="l" t="t" r="r" b="b"/>
            <a:pathLst>
              <a:path w="840817" h="8258025">
                <a:moveTo>
                  <a:pt x="840817" y="0"/>
                </a:moveTo>
                <a:lnTo>
                  <a:pt x="0" y="0"/>
                </a:lnTo>
                <a:lnTo>
                  <a:pt x="0" y="8258025"/>
                </a:lnTo>
                <a:lnTo>
                  <a:pt x="840817" y="8258025"/>
                </a:lnTo>
                <a:lnTo>
                  <a:pt x="840817"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5" name="TextBox 15"/>
          <p:cNvSpPr txBox="1"/>
          <p:nvPr/>
        </p:nvSpPr>
        <p:spPr>
          <a:xfrm>
            <a:off x="0" y="8213334"/>
            <a:ext cx="5514750" cy="2023257"/>
          </a:xfrm>
          <a:prstGeom prst="rect">
            <a:avLst/>
          </a:prstGeom>
        </p:spPr>
        <p:txBody>
          <a:bodyPr lIns="0" tIns="0" rIns="0" bIns="0" rtlCol="0" anchor="t">
            <a:spAutoFit/>
          </a:bodyPr>
          <a:lstStyle/>
          <a:p>
            <a:pPr marL="0" lvl="0" indent="0" algn="l">
              <a:lnSpc>
                <a:spcPts val="4044"/>
              </a:lnSpc>
              <a:spcBef>
                <a:spcPct val="0"/>
              </a:spcBef>
            </a:pPr>
            <a:r>
              <a:rPr lang="en-US" sz="2889">
                <a:solidFill>
                  <a:srgbClr val="FFFFFF"/>
                </a:solidFill>
                <a:latin typeface="Public Sans"/>
                <a:ea typeface="Public Sans"/>
                <a:cs typeface="Public Sans"/>
                <a:sym typeface="Public Sans"/>
              </a:rPr>
              <a:t> Angel Peña 24.349.651</a:t>
            </a:r>
          </a:p>
          <a:p>
            <a:pPr marL="0" lvl="0" indent="0" algn="l">
              <a:lnSpc>
                <a:spcPts val="4044"/>
              </a:lnSpc>
              <a:spcBef>
                <a:spcPct val="0"/>
              </a:spcBef>
            </a:pPr>
            <a:r>
              <a:rPr lang="en-US" sz="2889">
                <a:solidFill>
                  <a:srgbClr val="FFFFFF"/>
                </a:solidFill>
                <a:latin typeface="Public Sans"/>
                <a:ea typeface="Public Sans"/>
                <a:cs typeface="Public Sans"/>
                <a:sym typeface="Public Sans"/>
              </a:rPr>
              <a:t> Gladys Vielma 15.174.323</a:t>
            </a:r>
          </a:p>
          <a:p>
            <a:pPr marL="0" lvl="0" indent="0" algn="l">
              <a:lnSpc>
                <a:spcPts val="4044"/>
              </a:lnSpc>
              <a:spcBef>
                <a:spcPct val="0"/>
              </a:spcBef>
            </a:pPr>
            <a:r>
              <a:rPr lang="en-US" sz="2889">
                <a:solidFill>
                  <a:srgbClr val="FFFFFF"/>
                </a:solidFill>
                <a:latin typeface="Public Sans"/>
                <a:ea typeface="Public Sans"/>
                <a:cs typeface="Public Sans"/>
                <a:sym typeface="Public Sans"/>
              </a:rPr>
              <a:t> Maria Victoria Meza 15.031.343</a:t>
            </a:r>
          </a:p>
          <a:p>
            <a:pPr marL="0" lvl="0" indent="0" algn="l">
              <a:lnSpc>
                <a:spcPts val="4044"/>
              </a:lnSpc>
              <a:spcBef>
                <a:spcPct val="0"/>
              </a:spcBef>
            </a:pPr>
            <a:r>
              <a:rPr lang="en-US" sz="2889">
                <a:solidFill>
                  <a:srgbClr val="FFFFFF"/>
                </a:solidFill>
                <a:latin typeface="Public Sans"/>
                <a:ea typeface="Public Sans"/>
                <a:cs typeface="Public Sans"/>
                <a:sym typeface="Public Sans"/>
              </a:rPr>
              <a:t> Ruben Ramirez16.020.185</a:t>
            </a:r>
          </a:p>
        </p:txBody>
      </p:sp>
      <p:sp>
        <p:nvSpPr>
          <p:cNvPr id="16" name="TextBox 16"/>
          <p:cNvSpPr txBox="1"/>
          <p:nvPr/>
        </p:nvSpPr>
        <p:spPr>
          <a:xfrm>
            <a:off x="2090097" y="1116583"/>
            <a:ext cx="8969739" cy="391287"/>
          </a:xfrm>
          <a:prstGeom prst="rect">
            <a:avLst/>
          </a:prstGeom>
        </p:spPr>
        <p:txBody>
          <a:bodyPr lIns="0" tIns="0" rIns="0" bIns="0" rtlCol="0" anchor="t">
            <a:spAutoFit/>
          </a:bodyPr>
          <a:lstStyle/>
          <a:p>
            <a:pPr marL="0" lvl="0" indent="0" algn="l">
              <a:lnSpc>
                <a:spcPts val="3108"/>
              </a:lnSpc>
            </a:pPr>
            <a:r>
              <a:rPr lang="en-US" sz="2220" b="1">
                <a:solidFill>
                  <a:srgbClr val="FFFFFF"/>
                </a:solidFill>
                <a:latin typeface="Public Sans Bold"/>
                <a:ea typeface="Public Sans Bold"/>
                <a:cs typeface="Public Sans Bold"/>
                <a:sym typeface="Public Sans Bold"/>
              </a:rPr>
              <a:t>Herramientas CASE para Desarrollo</a:t>
            </a:r>
          </a:p>
        </p:txBody>
      </p:sp>
      <p:sp>
        <p:nvSpPr>
          <p:cNvPr id="17" name="TextBox 17"/>
          <p:cNvSpPr txBox="1"/>
          <p:nvPr/>
        </p:nvSpPr>
        <p:spPr>
          <a:xfrm>
            <a:off x="6444222" y="8303426"/>
            <a:ext cx="8273064" cy="1002943"/>
          </a:xfrm>
          <a:prstGeom prst="rect">
            <a:avLst/>
          </a:prstGeom>
        </p:spPr>
        <p:txBody>
          <a:bodyPr lIns="0" tIns="0" rIns="0" bIns="0" rtlCol="0" anchor="t">
            <a:spAutoFit/>
          </a:bodyPr>
          <a:lstStyle/>
          <a:p>
            <a:pPr marL="0" lvl="0" indent="0" algn="r">
              <a:lnSpc>
                <a:spcPts val="4044"/>
              </a:lnSpc>
              <a:spcBef>
                <a:spcPct val="0"/>
              </a:spcBef>
            </a:pPr>
            <a:r>
              <a:rPr lang="en-US" sz="2889">
                <a:solidFill>
                  <a:srgbClr val="FFFFFF"/>
                </a:solidFill>
                <a:latin typeface="Public Sans"/>
                <a:ea typeface="Public Sans"/>
                <a:cs typeface="Public Sans"/>
                <a:sym typeface="Public Sans"/>
              </a:rPr>
              <a:t>Materia: Fundamentos de Ingeniería de Software</a:t>
            </a:r>
          </a:p>
          <a:p>
            <a:pPr marL="0" lvl="0" indent="0" algn="r">
              <a:lnSpc>
                <a:spcPts val="4044"/>
              </a:lnSpc>
              <a:spcBef>
                <a:spcPct val="0"/>
              </a:spcBef>
            </a:pPr>
            <a:r>
              <a:rPr lang="en-US" sz="2889">
                <a:solidFill>
                  <a:srgbClr val="FFFFFF"/>
                </a:solidFill>
                <a:latin typeface="Public Sans"/>
                <a:ea typeface="Public Sans"/>
                <a:cs typeface="Public Sans"/>
                <a:sym typeface="Public Sans"/>
              </a:rPr>
              <a:t>Profesora: Ruz A. Plaza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7DC9"/>
        </a:solidFill>
        <a:effectLst/>
      </p:bgPr>
    </p:bg>
    <p:spTree>
      <p:nvGrpSpPr>
        <p:cNvPr id="1" name=""/>
        <p:cNvGrpSpPr/>
        <p:nvPr/>
      </p:nvGrpSpPr>
      <p:grpSpPr>
        <a:xfrm>
          <a:off x="0" y="0"/>
          <a:ext cx="0" cy="0"/>
          <a:chOff x="0" y="0"/>
          <a:chExt cx="0" cy="0"/>
        </a:xfrm>
      </p:grpSpPr>
      <p:sp>
        <p:nvSpPr>
          <p:cNvPr id="2" name="AutoShape 2"/>
          <p:cNvSpPr/>
          <p:nvPr/>
        </p:nvSpPr>
        <p:spPr>
          <a:xfrm>
            <a:off x="9808253" y="0"/>
            <a:ext cx="8479747" cy="10287000"/>
          </a:xfrm>
          <a:prstGeom prst="rect">
            <a:avLst/>
          </a:prstGeom>
          <a:solidFill>
            <a:srgbClr val="002254"/>
          </a:solidFill>
        </p:spPr>
      </p:sp>
      <p:grpSp>
        <p:nvGrpSpPr>
          <p:cNvPr id="3" name="Group 3"/>
          <p:cNvGrpSpPr/>
          <p:nvPr/>
        </p:nvGrpSpPr>
        <p:grpSpPr>
          <a:xfrm>
            <a:off x="159844" y="4666225"/>
            <a:ext cx="9808253" cy="1803365"/>
            <a:chOff x="0" y="0"/>
            <a:chExt cx="13077671" cy="2404487"/>
          </a:xfrm>
        </p:grpSpPr>
        <p:sp>
          <p:nvSpPr>
            <p:cNvPr id="4" name="TextBox 4"/>
            <p:cNvSpPr txBox="1"/>
            <p:nvPr/>
          </p:nvSpPr>
          <p:spPr>
            <a:xfrm>
              <a:off x="0" y="-76200"/>
              <a:ext cx="13013047" cy="1358900"/>
            </a:xfrm>
            <a:prstGeom prst="rect">
              <a:avLst/>
            </a:prstGeom>
          </p:spPr>
          <p:txBody>
            <a:bodyPr lIns="0" tIns="0" rIns="0" bIns="0" rtlCol="0" anchor="t">
              <a:spAutoFit/>
            </a:bodyPr>
            <a:lstStyle/>
            <a:p>
              <a:pPr marL="0" lvl="0" indent="0" algn="l">
                <a:lnSpc>
                  <a:spcPts val="7631"/>
                </a:lnSpc>
              </a:pPr>
              <a:r>
                <a:rPr lang="en-US" sz="6359">
                  <a:solidFill>
                    <a:srgbClr val="FFFFFF"/>
                  </a:solidFill>
                  <a:latin typeface="Horizon"/>
                  <a:ea typeface="Horizon"/>
                  <a:cs typeface="Horizon"/>
                  <a:sym typeface="Horizon"/>
                </a:rPr>
                <a:t>Introduccion</a:t>
              </a:r>
            </a:p>
          </p:txBody>
        </p:sp>
        <p:sp>
          <p:nvSpPr>
            <p:cNvPr id="5" name="TextBox 5"/>
            <p:cNvSpPr txBox="1"/>
            <p:nvPr/>
          </p:nvSpPr>
          <p:spPr>
            <a:xfrm>
              <a:off x="0" y="1759010"/>
              <a:ext cx="13077671" cy="645477"/>
            </a:xfrm>
            <a:prstGeom prst="rect">
              <a:avLst/>
            </a:prstGeom>
          </p:spPr>
          <p:txBody>
            <a:bodyPr lIns="0" tIns="0" rIns="0" bIns="0" rtlCol="0" anchor="t">
              <a:spAutoFit/>
            </a:bodyPr>
            <a:lstStyle/>
            <a:p>
              <a:pPr marL="0" lvl="0" indent="0" algn="l">
                <a:lnSpc>
                  <a:spcPts val="3826"/>
                </a:lnSpc>
              </a:pPr>
              <a:endParaRPr/>
            </a:p>
          </p:txBody>
        </p:sp>
      </p:grpSp>
      <p:sp>
        <p:nvSpPr>
          <p:cNvPr id="6" name="TextBox 6"/>
          <p:cNvSpPr txBox="1"/>
          <p:nvPr/>
        </p:nvSpPr>
        <p:spPr>
          <a:xfrm>
            <a:off x="10461656" y="1489750"/>
            <a:ext cx="2355435" cy="1314450"/>
          </a:xfrm>
          <a:prstGeom prst="rect">
            <a:avLst/>
          </a:prstGeom>
        </p:spPr>
        <p:txBody>
          <a:bodyPr lIns="0" tIns="0" rIns="0" bIns="0" rtlCol="0" anchor="t">
            <a:spAutoFit/>
          </a:bodyPr>
          <a:lstStyle/>
          <a:p>
            <a:pPr algn="l">
              <a:lnSpc>
                <a:spcPts val="9600"/>
              </a:lnSpc>
            </a:pPr>
            <a:r>
              <a:rPr lang="en-US" sz="8000">
                <a:solidFill>
                  <a:srgbClr val="FFFFFF"/>
                </a:solidFill>
                <a:latin typeface="Horizon"/>
                <a:ea typeface="Horizon"/>
                <a:cs typeface="Horizon"/>
                <a:sym typeface="Horizon"/>
              </a:rPr>
              <a:t>01.</a:t>
            </a:r>
          </a:p>
        </p:txBody>
      </p:sp>
      <p:sp>
        <p:nvSpPr>
          <p:cNvPr id="7" name="TextBox 7"/>
          <p:cNvSpPr txBox="1"/>
          <p:nvPr/>
        </p:nvSpPr>
        <p:spPr>
          <a:xfrm>
            <a:off x="12648831" y="1679893"/>
            <a:ext cx="5101090" cy="981789"/>
          </a:xfrm>
          <a:prstGeom prst="rect">
            <a:avLst/>
          </a:prstGeom>
        </p:spPr>
        <p:txBody>
          <a:bodyPr lIns="0" tIns="0" rIns="0" bIns="0" rtlCol="0" anchor="t">
            <a:spAutoFit/>
          </a:bodyPr>
          <a:lstStyle/>
          <a:p>
            <a:pPr marL="0" lvl="0" indent="0" algn="l">
              <a:lnSpc>
                <a:spcPts val="3826"/>
              </a:lnSpc>
            </a:pPr>
            <a:r>
              <a:rPr lang="en-US" sz="2943">
                <a:solidFill>
                  <a:srgbClr val="FFFFFF"/>
                </a:solidFill>
                <a:latin typeface="Public Sans"/>
                <a:ea typeface="Public Sans"/>
                <a:cs typeface="Public Sans"/>
                <a:sym typeface="Public Sans"/>
              </a:rPr>
              <a:t>Definir qué son las herramientas CASE.</a:t>
            </a:r>
          </a:p>
        </p:txBody>
      </p:sp>
      <p:sp>
        <p:nvSpPr>
          <p:cNvPr id="8" name="TextBox 8"/>
          <p:cNvSpPr txBox="1"/>
          <p:nvPr/>
        </p:nvSpPr>
        <p:spPr>
          <a:xfrm>
            <a:off x="10293396" y="3961375"/>
            <a:ext cx="2355435" cy="1314450"/>
          </a:xfrm>
          <a:prstGeom prst="rect">
            <a:avLst/>
          </a:prstGeom>
        </p:spPr>
        <p:txBody>
          <a:bodyPr lIns="0" tIns="0" rIns="0" bIns="0" rtlCol="0" anchor="t">
            <a:spAutoFit/>
          </a:bodyPr>
          <a:lstStyle/>
          <a:p>
            <a:pPr algn="l">
              <a:lnSpc>
                <a:spcPts val="9600"/>
              </a:lnSpc>
            </a:pPr>
            <a:r>
              <a:rPr lang="en-US" sz="8000">
                <a:solidFill>
                  <a:srgbClr val="FFFFFF"/>
                </a:solidFill>
                <a:latin typeface="Horizon"/>
                <a:ea typeface="Horizon"/>
                <a:cs typeface="Horizon"/>
                <a:sym typeface="Horizon"/>
              </a:rPr>
              <a:t>02.</a:t>
            </a:r>
          </a:p>
        </p:txBody>
      </p:sp>
      <p:sp>
        <p:nvSpPr>
          <p:cNvPr id="9" name="TextBox 9"/>
          <p:cNvSpPr txBox="1"/>
          <p:nvPr/>
        </p:nvSpPr>
        <p:spPr>
          <a:xfrm>
            <a:off x="12648831" y="4294035"/>
            <a:ext cx="5101090" cy="981789"/>
          </a:xfrm>
          <a:prstGeom prst="rect">
            <a:avLst/>
          </a:prstGeom>
        </p:spPr>
        <p:txBody>
          <a:bodyPr lIns="0" tIns="0" rIns="0" bIns="0" rtlCol="0" anchor="t">
            <a:spAutoFit/>
          </a:bodyPr>
          <a:lstStyle/>
          <a:p>
            <a:pPr algn="l">
              <a:lnSpc>
                <a:spcPts val="3826"/>
              </a:lnSpc>
            </a:pPr>
            <a:r>
              <a:rPr lang="en-US" sz="2943">
                <a:solidFill>
                  <a:srgbClr val="FFFFFF"/>
                </a:solidFill>
                <a:latin typeface="Public Sans"/>
                <a:ea typeface="Public Sans"/>
                <a:cs typeface="Public Sans"/>
                <a:sym typeface="Public Sans"/>
              </a:rPr>
              <a:t>Explicar el modelado de sistemas.</a:t>
            </a:r>
          </a:p>
        </p:txBody>
      </p:sp>
      <p:sp>
        <p:nvSpPr>
          <p:cNvPr id="10" name="TextBox 10"/>
          <p:cNvSpPr txBox="1"/>
          <p:nvPr/>
        </p:nvSpPr>
        <p:spPr>
          <a:xfrm>
            <a:off x="10293396" y="6761010"/>
            <a:ext cx="2355435" cy="1314450"/>
          </a:xfrm>
          <a:prstGeom prst="rect">
            <a:avLst/>
          </a:prstGeom>
        </p:spPr>
        <p:txBody>
          <a:bodyPr lIns="0" tIns="0" rIns="0" bIns="0" rtlCol="0" anchor="t">
            <a:spAutoFit/>
          </a:bodyPr>
          <a:lstStyle/>
          <a:p>
            <a:pPr algn="l">
              <a:lnSpc>
                <a:spcPts val="9600"/>
              </a:lnSpc>
            </a:pPr>
            <a:r>
              <a:rPr lang="en-US" sz="8000">
                <a:solidFill>
                  <a:srgbClr val="FFFFFF"/>
                </a:solidFill>
                <a:latin typeface="Horizon"/>
                <a:ea typeface="Horizon"/>
                <a:cs typeface="Horizon"/>
                <a:sym typeface="Horizon"/>
              </a:rPr>
              <a:t>03.</a:t>
            </a:r>
          </a:p>
        </p:txBody>
      </p:sp>
      <p:sp>
        <p:nvSpPr>
          <p:cNvPr id="11" name="TextBox 11"/>
          <p:cNvSpPr txBox="1"/>
          <p:nvPr/>
        </p:nvSpPr>
        <p:spPr>
          <a:xfrm>
            <a:off x="12817091" y="6808635"/>
            <a:ext cx="5101090" cy="981789"/>
          </a:xfrm>
          <a:prstGeom prst="rect">
            <a:avLst/>
          </a:prstGeom>
        </p:spPr>
        <p:txBody>
          <a:bodyPr lIns="0" tIns="0" rIns="0" bIns="0" rtlCol="0" anchor="t">
            <a:spAutoFit/>
          </a:bodyPr>
          <a:lstStyle/>
          <a:p>
            <a:pPr algn="l">
              <a:lnSpc>
                <a:spcPts val="3826"/>
              </a:lnSpc>
            </a:pPr>
            <a:r>
              <a:rPr lang="en-US" sz="2943">
                <a:solidFill>
                  <a:srgbClr val="FFFFFF"/>
                </a:solidFill>
                <a:latin typeface="Public Sans"/>
                <a:ea typeface="Public Sans"/>
                <a:cs typeface="Public Sans"/>
                <a:sym typeface="Public Sans"/>
              </a:rPr>
              <a:t>Explicar el modelado de sistemas.</a:t>
            </a:r>
          </a:p>
        </p:txBody>
      </p:sp>
      <p:sp>
        <p:nvSpPr>
          <p:cNvPr id="12" name="Freeform 12"/>
          <p:cNvSpPr/>
          <p:nvPr/>
        </p:nvSpPr>
        <p:spPr>
          <a:xfrm>
            <a:off x="878367" y="5567907"/>
            <a:ext cx="8070540" cy="2186383"/>
          </a:xfrm>
          <a:custGeom>
            <a:avLst/>
            <a:gdLst/>
            <a:ahLst/>
            <a:cxnLst/>
            <a:rect l="l" t="t" r="r" b="b"/>
            <a:pathLst>
              <a:path w="8070540" h="2186383">
                <a:moveTo>
                  <a:pt x="0" y="0"/>
                </a:moveTo>
                <a:lnTo>
                  <a:pt x="8070540" y="0"/>
                </a:lnTo>
                <a:lnTo>
                  <a:pt x="8070540" y="2186383"/>
                </a:lnTo>
                <a:lnTo>
                  <a:pt x="0" y="21863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7DC9"/>
        </a:solidFill>
        <a:effectLst/>
      </p:bgPr>
    </p:bg>
    <p:spTree>
      <p:nvGrpSpPr>
        <p:cNvPr id="1" name=""/>
        <p:cNvGrpSpPr/>
        <p:nvPr/>
      </p:nvGrpSpPr>
      <p:grpSpPr>
        <a:xfrm>
          <a:off x="0" y="0"/>
          <a:ext cx="0" cy="0"/>
          <a:chOff x="0" y="0"/>
          <a:chExt cx="0" cy="0"/>
        </a:xfrm>
      </p:grpSpPr>
      <p:sp>
        <p:nvSpPr>
          <p:cNvPr id="2" name="AutoShape 2"/>
          <p:cNvSpPr/>
          <p:nvPr/>
        </p:nvSpPr>
        <p:spPr>
          <a:xfrm>
            <a:off x="0" y="0"/>
            <a:ext cx="8479747" cy="10287000"/>
          </a:xfrm>
          <a:prstGeom prst="rect">
            <a:avLst/>
          </a:prstGeom>
          <a:solidFill>
            <a:srgbClr val="002254"/>
          </a:solidFill>
        </p:spPr>
      </p:sp>
      <p:sp>
        <p:nvSpPr>
          <p:cNvPr id="3" name="Freeform 3"/>
          <p:cNvSpPr/>
          <p:nvPr/>
        </p:nvSpPr>
        <p:spPr>
          <a:xfrm>
            <a:off x="882181" y="7730658"/>
            <a:ext cx="2475954" cy="1539593"/>
          </a:xfrm>
          <a:custGeom>
            <a:avLst/>
            <a:gdLst/>
            <a:ahLst/>
            <a:cxnLst/>
            <a:rect l="l" t="t" r="r" b="b"/>
            <a:pathLst>
              <a:path w="2475954" h="1539593">
                <a:moveTo>
                  <a:pt x="0" y="0"/>
                </a:moveTo>
                <a:lnTo>
                  <a:pt x="2475954" y="0"/>
                </a:lnTo>
                <a:lnTo>
                  <a:pt x="2475954" y="1539593"/>
                </a:lnTo>
                <a:lnTo>
                  <a:pt x="0" y="15395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8479747" y="0"/>
            <a:ext cx="109163" cy="3531729"/>
          </a:xfrm>
          <a:custGeom>
            <a:avLst/>
            <a:gdLst/>
            <a:ahLst/>
            <a:cxnLst/>
            <a:rect l="l" t="t" r="r" b="b"/>
            <a:pathLst>
              <a:path w="109163" h="3531729">
                <a:moveTo>
                  <a:pt x="0" y="0"/>
                </a:moveTo>
                <a:lnTo>
                  <a:pt x="109163" y="0"/>
                </a:lnTo>
                <a:lnTo>
                  <a:pt x="109163" y="3531729"/>
                </a:lnTo>
                <a:lnTo>
                  <a:pt x="0" y="35317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8479747" y="3531729"/>
            <a:ext cx="109163" cy="3531729"/>
          </a:xfrm>
          <a:custGeom>
            <a:avLst/>
            <a:gdLst/>
            <a:ahLst/>
            <a:cxnLst/>
            <a:rect l="l" t="t" r="r" b="b"/>
            <a:pathLst>
              <a:path w="109163" h="3531729">
                <a:moveTo>
                  <a:pt x="0" y="0"/>
                </a:moveTo>
                <a:lnTo>
                  <a:pt x="109163" y="0"/>
                </a:lnTo>
                <a:lnTo>
                  <a:pt x="109163" y="3531729"/>
                </a:lnTo>
                <a:lnTo>
                  <a:pt x="0" y="35317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10800000">
            <a:off x="8479747" y="7063458"/>
            <a:ext cx="109163" cy="3531729"/>
          </a:xfrm>
          <a:custGeom>
            <a:avLst/>
            <a:gdLst/>
            <a:ahLst/>
            <a:cxnLst/>
            <a:rect l="l" t="t" r="r" b="b"/>
            <a:pathLst>
              <a:path w="109163" h="3531729">
                <a:moveTo>
                  <a:pt x="0" y="0"/>
                </a:moveTo>
                <a:lnTo>
                  <a:pt x="109163" y="0"/>
                </a:lnTo>
                <a:lnTo>
                  <a:pt x="109163" y="3531729"/>
                </a:lnTo>
                <a:lnTo>
                  <a:pt x="0" y="35317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8588910" y="7462601"/>
            <a:ext cx="9699090" cy="2556342"/>
            <a:chOff x="0" y="0"/>
            <a:chExt cx="7547274" cy="1989198"/>
          </a:xfrm>
        </p:grpSpPr>
        <p:sp>
          <p:nvSpPr>
            <p:cNvPr id="8" name="Freeform 8"/>
            <p:cNvSpPr/>
            <p:nvPr/>
          </p:nvSpPr>
          <p:spPr>
            <a:xfrm>
              <a:off x="-102743" y="-211963"/>
              <a:ext cx="7878617" cy="2233292"/>
            </a:xfrm>
            <a:custGeom>
              <a:avLst/>
              <a:gdLst/>
              <a:ahLst/>
              <a:cxnLst/>
              <a:rect l="l" t="t" r="r" b="b"/>
              <a:pathLst>
                <a:path w="7878617" h="2233292">
                  <a:moveTo>
                    <a:pt x="7649564" y="2177764"/>
                  </a:moveTo>
                  <a:cubicBezTo>
                    <a:pt x="7566356" y="9525"/>
                    <a:pt x="7878617" y="572409"/>
                    <a:pt x="6781849" y="590326"/>
                  </a:cubicBezTo>
                  <a:cubicBezTo>
                    <a:pt x="6781849" y="590642"/>
                    <a:pt x="6782000" y="590853"/>
                    <a:pt x="6782151" y="591274"/>
                  </a:cubicBezTo>
                  <a:cubicBezTo>
                    <a:pt x="6781849" y="591591"/>
                    <a:pt x="6781698" y="590958"/>
                    <a:pt x="6781397" y="590326"/>
                  </a:cubicBezTo>
                  <a:cubicBezTo>
                    <a:pt x="6748173" y="590853"/>
                    <a:pt x="6713592" y="590958"/>
                    <a:pt x="6677500" y="590537"/>
                  </a:cubicBezTo>
                  <a:cubicBezTo>
                    <a:pt x="6346784" y="643339"/>
                    <a:pt x="6705135" y="689923"/>
                    <a:pt x="6090517" y="582843"/>
                  </a:cubicBezTo>
                  <a:cubicBezTo>
                    <a:pt x="6053972" y="618044"/>
                    <a:pt x="5744699" y="543531"/>
                    <a:pt x="5676744" y="498528"/>
                  </a:cubicBezTo>
                  <a:cubicBezTo>
                    <a:pt x="5600181" y="538261"/>
                    <a:pt x="5221292" y="531306"/>
                    <a:pt x="5010026" y="484511"/>
                  </a:cubicBezTo>
                  <a:cubicBezTo>
                    <a:pt x="5010479" y="485143"/>
                    <a:pt x="5010328" y="486197"/>
                    <a:pt x="5009271" y="488094"/>
                  </a:cubicBezTo>
                  <a:cubicBezTo>
                    <a:pt x="5007308" y="487567"/>
                    <a:pt x="5005043" y="490097"/>
                    <a:pt x="5004590" y="484089"/>
                  </a:cubicBezTo>
                  <a:cubicBezTo>
                    <a:pt x="5005194" y="484195"/>
                    <a:pt x="5006251" y="483984"/>
                    <a:pt x="5007157" y="483878"/>
                  </a:cubicBezTo>
                  <a:cubicBezTo>
                    <a:pt x="4962760" y="473866"/>
                    <a:pt x="4925762" y="462167"/>
                    <a:pt x="4900996" y="448677"/>
                  </a:cubicBezTo>
                  <a:cubicBezTo>
                    <a:pt x="4466837" y="558181"/>
                    <a:pt x="4879552" y="702254"/>
                    <a:pt x="4079793" y="527301"/>
                  </a:cubicBezTo>
                  <a:cubicBezTo>
                    <a:pt x="3520898" y="663785"/>
                    <a:pt x="3426365" y="424120"/>
                    <a:pt x="3114072" y="500741"/>
                  </a:cubicBezTo>
                  <a:cubicBezTo>
                    <a:pt x="2830773" y="395980"/>
                    <a:pt x="2540226" y="412422"/>
                    <a:pt x="2225065" y="393240"/>
                  </a:cubicBezTo>
                  <a:cubicBezTo>
                    <a:pt x="2198487" y="358249"/>
                    <a:pt x="2175986" y="338119"/>
                    <a:pt x="2154089" y="328423"/>
                  </a:cubicBezTo>
                  <a:cubicBezTo>
                    <a:pt x="2154240" y="329266"/>
                    <a:pt x="2154240" y="330004"/>
                    <a:pt x="2153636" y="328212"/>
                  </a:cubicBezTo>
                  <a:cubicBezTo>
                    <a:pt x="2084321" y="297859"/>
                    <a:pt x="2018631" y="371213"/>
                    <a:pt x="1837719" y="414424"/>
                  </a:cubicBezTo>
                  <a:cubicBezTo>
                    <a:pt x="1799211" y="398404"/>
                    <a:pt x="1768405" y="387443"/>
                    <a:pt x="1741524" y="379960"/>
                  </a:cubicBezTo>
                  <a:lnTo>
                    <a:pt x="1741373" y="379960"/>
                  </a:lnTo>
                  <a:lnTo>
                    <a:pt x="1741222" y="379855"/>
                  </a:lnTo>
                  <a:cubicBezTo>
                    <a:pt x="1637628" y="350872"/>
                    <a:pt x="1593231" y="374901"/>
                    <a:pt x="1395707" y="372688"/>
                  </a:cubicBezTo>
                  <a:cubicBezTo>
                    <a:pt x="1247564" y="335484"/>
                    <a:pt x="1147595" y="457952"/>
                    <a:pt x="865957" y="331269"/>
                  </a:cubicBezTo>
                  <a:cubicBezTo>
                    <a:pt x="776105" y="328318"/>
                    <a:pt x="834547" y="278466"/>
                    <a:pt x="571937" y="276148"/>
                  </a:cubicBezTo>
                  <a:cubicBezTo>
                    <a:pt x="453846" y="245900"/>
                    <a:pt x="404012" y="228404"/>
                    <a:pt x="326241" y="223978"/>
                  </a:cubicBezTo>
                  <a:cubicBezTo>
                    <a:pt x="326241" y="224083"/>
                    <a:pt x="326241" y="224083"/>
                    <a:pt x="326241" y="224189"/>
                  </a:cubicBezTo>
                  <a:cubicBezTo>
                    <a:pt x="326090" y="224399"/>
                    <a:pt x="326090" y="224189"/>
                    <a:pt x="325939" y="223872"/>
                  </a:cubicBezTo>
                  <a:cubicBezTo>
                    <a:pt x="296793" y="222292"/>
                    <a:pt x="264024" y="222397"/>
                    <a:pt x="222042" y="224399"/>
                  </a:cubicBezTo>
                  <a:cubicBezTo>
                    <a:pt x="0" y="0"/>
                    <a:pt x="181722" y="2045600"/>
                    <a:pt x="174323" y="2195365"/>
                  </a:cubicBezTo>
                  <a:cubicBezTo>
                    <a:pt x="620412" y="2179450"/>
                    <a:pt x="7708690" y="2233292"/>
                    <a:pt x="7649564" y="2177764"/>
                  </a:cubicBezTo>
                  <a:close/>
                  <a:moveTo>
                    <a:pt x="686404" y="288795"/>
                  </a:moveTo>
                  <a:cubicBezTo>
                    <a:pt x="685498" y="288900"/>
                    <a:pt x="685649" y="284052"/>
                    <a:pt x="686404" y="288795"/>
                  </a:cubicBezTo>
                  <a:close/>
                </a:path>
              </a:pathLst>
            </a:custGeom>
            <a:blipFill>
              <a:blip r:embed="rId6"/>
              <a:stretch>
                <a:fillRect b="-2301"/>
              </a:stretch>
            </a:blipFill>
          </p:spPr>
        </p:sp>
      </p:grpSp>
      <p:grpSp>
        <p:nvGrpSpPr>
          <p:cNvPr id="9" name="Group 9"/>
          <p:cNvGrpSpPr/>
          <p:nvPr/>
        </p:nvGrpSpPr>
        <p:grpSpPr>
          <a:xfrm>
            <a:off x="8588910" y="4816815"/>
            <a:ext cx="9799715" cy="2645787"/>
            <a:chOff x="0" y="0"/>
            <a:chExt cx="10102196" cy="2727452"/>
          </a:xfrm>
        </p:grpSpPr>
        <p:sp>
          <p:nvSpPr>
            <p:cNvPr id="10" name="Freeform 10"/>
            <p:cNvSpPr/>
            <p:nvPr/>
          </p:nvSpPr>
          <p:spPr>
            <a:xfrm>
              <a:off x="-11938" y="-127"/>
              <a:ext cx="10167854" cy="2810129"/>
            </a:xfrm>
            <a:custGeom>
              <a:avLst/>
              <a:gdLst/>
              <a:ahLst/>
              <a:cxnLst/>
              <a:rect l="l" t="t" r="r" b="b"/>
              <a:pathLst>
                <a:path w="10167854" h="2810129">
                  <a:moveTo>
                    <a:pt x="10102194" y="2579370"/>
                  </a:moveTo>
                  <a:cubicBezTo>
                    <a:pt x="9911774" y="2610739"/>
                    <a:pt x="9768301" y="2542032"/>
                    <a:pt x="9603378" y="2579370"/>
                  </a:cubicBezTo>
                  <a:cubicBezTo>
                    <a:pt x="9470225" y="2622296"/>
                    <a:pt x="9193398" y="2581783"/>
                    <a:pt x="9015726" y="2716657"/>
                  </a:cubicBezTo>
                  <a:cubicBezTo>
                    <a:pt x="8931139" y="2650998"/>
                    <a:pt x="8803855" y="2747137"/>
                    <a:pt x="8419170" y="2713736"/>
                  </a:cubicBezTo>
                  <a:cubicBezTo>
                    <a:pt x="8417754" y="2762504"/>
                    <a:pt x="8332762" y="2660269"/>
                    <a:pt x="8291481" y="2710688"/>
                  </a:cubicBezTo>
                  <a:cubicBezTo>
                    <a:pt x="8248379" y="2724785"/>
                    <a:pt x="8281970" y="2729611"/>
                    <a:pt x="8229761" y="2681097"/>
                  </a:cubicBezTo>
                  <a:cubicBezTo>
                    <a:pt x="8202038" y="2710307"/>
                    <a:pt x="8177350" y="2744724"/>
                    <a:pt x="8057351" y="2718054"/>
                  </a:cubicBezTo>
                  <a:cubicBezTo>
                    <a:pt x="7782951" y="2675255"/>
                    <a:pt x="7967907" y="2555748"/>
                    <a:pt x="7547809" y="2711958"/>
                  </a:cubicBezTo>
                  <a:cubicBezTo>
                    <a:pt x="7466461" y="2773934"/>
                    <a:pt x="7285348" y="2529332"/>
                    <a:pt x="7192061" y="2727706"/>
                  </a:cubicBezTo>
                  <a:cubicBezTo>
                    <a:pt x="7156648" y="2703703"/>
                    <a:pt x="7166766" y="2678176"/>
                    <a:pt x="7059111" y="2724404"/>
                  </a:cubicBezTo>
                  <a:cubicBezTo>
                    <a:pt x="6928994" y="2583688"/>
                    <a:pt x="6986261" y="2810129"/>
                    <a:pt x="6732503" y="2630678"/>
                  </a:cubicBezTo>
                  <a:cubicBezTo>
                    <a:pt x="6564544" y="2733167"/>
                    <a:pt x="6593077" y="2647188"/>
                    <a:pt x="6290751" y="2673985"/>
                  </a:cubicBezTo>
                  <a:cubicBezTo>
                    <a:pt x="6281039" y="2686939"/>
                    <a:pt x="6145862" y="2546985"/>
                    <a:pt x="6080297" y="2592324"/>
                  </a:cubicBezTo>
                  <a:cubicBezTo>
                    <a:pt x="5959893" y="2663444"/>
                    <a:pt x="6086773" y="2470658"/>
                    <a:pt x="5774532" y="2613660"/>
                  </a:cubicBezTo>
                  <a:cubicBezTo>
                    <a:pt x="5648462" y="2616581"/>
                    <a:pt x="5448328" y="2593467"/>
                    <a:pt x="5327925" y="2620899"/>
                  </a:cubicBezTo>
                  <a:cubicBezTo>
                    <a:pt x="4977236" y="2659380"/>
                    <a:pt x="4564624" y="2391029"/>
                    <a:pt x="4347492" y="2578862"/>
                  </a:cubicBezTo>
                  <a:cubicBezTo>
                    <a:pt x="4129956" y="2573147"/>
                    <a:pt x="4348504" y="2490851"/>
                    <a:pt x="4168202" y="2569845"/>
                  </a:cubicBezTo>
                  <a:cubicBezTo>
                    <a:pt x="4040311" y="2564257"/>
                    <a:pt x="3865067" y="2507615"/>
                    <a:pt x="3594917" y="2601214"/>
                  </a:cubicBezTo>
                  <a:cubicBezTo>
                    <a:pt x="3440719" y="2507869"/>
                    <a:pt x="3105409" y="2629281"/>
                    <a:pt x="2830605" y="2674366"/>
                  </a:cubicBezTo>
                  <a:cubicBezTo>
                    <a:pt x="2630876" y="2620645"/>
                    <a:pt x="2752899" y="2585085"/>
                    <a:pt x="2427505" y="2577719"/>
                  </a:cubicBezTo>
                  <a:cubicBezTo>
                    <a:pt x="2419208" y="2618486"/>
                    <a:pt x="2225347" y="2431542"/>
                    <a:pt x="1973207" y="2514219"/>
                  </a:cubicBezTo>
                  <a:cubicBezTo>
                    <a:pt x="1836615" y="2447417"/>
                    <a:pt x="1831556" y="2426970"/>
                    <a:pt x="1610579" y="2392426"/>
                  </a:cubicBezTo>
                  <a:cubicBezTo>
                    <a:pt x="1592164" y="2341118"/>
                    <a:pt x="1468522" y="2455545"/>
                    <a:pt x="1287815" y="2341880"/>
                  </a:cubicBezTo>
                  <a:cubicBezTo>
                    <a:pt x="1305623" y="2369820"/>
                    <a:pt x="1024748" y="2384171"/>
                    <a:pt x="790213" y="2378456"/>
                  </a:cubicBezTo>
                  <a:cubicBezTo>
                    <a:pt x="710483" y="2418461"/>
                    <a:pt x="501041" y="2407412"/>
                    <a:pt x="449642" y="2297303"/>
                  </a:cubicBezTo>
                  <a:cubicBezTo>
                    <a:pt x="464819" y="2252853"/>
                    <a:pt x="81752" y="2355596"/>
                    <a:pt x="18009" y="2150237"/>
                  </a:cubicBezTo>
                  <a:cubicBezTo>
                    <a:pt x="27317" y="1811147"/>
                    <a:pt x="0" y="1459103"/>
                    <a:pt x="27924" y="1133348"/>
                  </a:cubicBezTo>
                  <a:cubicBezTo>
                    <a:pt x="10414" y="1100455"/>
                    <a:pt x="58481" y="1118235"/>
                    <a:pt x="248294" y="1068197"/>
                  </a:cubicBezTo>
                  <a:cubicBezTo>
                    <a:pt x="238986" y="1068832"/>
                    <a:pt x="361818" y="1060323"/>
                    <a:pt x="470080" y="963676"/>
                  </a:cubicBezTo>
                  <a:cubicBezTo>
                    <a:pt x="619826" y="954786"/>
                    <a:pt x="817127" y="920496"/>
                    <a:pt x="951089" y="876808"/>
                  </a:cubicBezTo>
                  <a:cubicBezTo>
                    <a:pt x="1264746" y="804291"/>
                    <a:pt x="1822652" y="861187"/>
                    <a:pt x="2707975" y="757936"/>
                  </a:cubicBezTo>
                  <a:cubicBezTo>
                    <a:pt x="2881802" y="727964"/>
                    <a:pt x="3153368" y="698119"/>
                    <a:pt x="3396807" y="653923"/>
                  </a:cubicBezTo>
                  <a:cubicBezTo>
                    <a:pt x="3472085" y="682625"/>
                    <a:pt x="3550196" y="484505"/>
                    <a:pt x="3899064" y="549148"/>
                  </a:cubicBezTo>
                  <a:cubicBezTo>
                    <a:pt x="4095757" y="459486"/>
                    <a:pt x="4509178" y="428244"/>
                    <a:pt x="4701015" y="370078"/>
                  </a:cubicBezTo>
                  <a:cubicBezTo>
                    <a:pt x="4884555" y="428371"/>
                    <a:pt x="5147015" y="359791"/>
                    <a:pt x="5355041" y="358521"/>
                  </a:cubicBezTo>
                  <a:cubicBezTo>
                    <a:pt x="5718074" y="353568"/>
                    <a:pt x="5219662" y="279781"/>
                    <a:pt x="6272742" y="246634"/>
                  </a:cubicBezTo>
                  <a:cubicBezTo>
                    <a:pt x="6457293" y="296799"/>
                    <a:pt x="6627478" y="290068"/>
                    <a:pt x="6920090" y="251460"/>
                  </a:cubicBezTo>
                  <a:cubicBezTo>
                    <a:pt x="7148149" y="280035"/>
                    <a:pt x="7238199" y="297434"/>
                    <a:pt x="7423561" y="260604"/>
                  </a:cubicBezTo>
                  <a:cubicBezTo>
                    <a:pt x="7757454" y="206375"/>
                    <a:pt x="8089323" y="124968"/>
                    <a:pt x="8624767" y="38989"/>
                  </a:cubicBezTo>
                  <a:cubicBezTo>
                    <a:pt x="8662001" y="11176"/>
                    <a:pt x="8622136" y="57404"/>
                    <a:pt x="9018963" y="40259"/>
                  </a:cubicBezTo>
                  <a:cubicBezTo>
                    <a:pt x="9044259" y="41783"/>
                    <a:pt x="9089789" y="123444"/>
                    <a:pt x="9240345" y="65024"/>
                  </a:cubicBezTo>
                  <a:cubicBezTo>
                    <a:pt x="9312183" y="93726"/>
                    <a:pt x="9664895" y="63373"/>
                    <a:pt x="9810190" y="0"/>
                  </a:cubicBezTo>
                  <a:cubicBezTo>
                    <a:pt x="9844388" y="2413"/>
                    <a:pt x="10020036" y="50419"/>
                    <a:pt x="10052616" y="7874"/>
                  </a:cubicBezTo>
                  <a:cubicBezTo>
                    <a:pt x="10167855" y="480187"/>
                    <a:pt x="10014775" y="967359"/>
                    <a:pt x="10113931" y="1457198"/>
                  </a:cubicBezTo>
                  <a:cubicBezTo>
                    <a:pt x="10066984" y="1836928"/>
                    <a:pt x="10101790" y="2161159"/>
                    <a:pt x="10102194" y="2579370"/>
                  </a:cubicBezTo>
                  <a:close/>
                </a:path>
              </a:pathLst>
            </a:custGeom>
            <a:blipFill>
              <a:blip r:embed="rId7"/>
              <a:stretch>
                <a:fillRect r="-4248"/>
              </a:stretch>
            </a:blipFill>
          </p:spPr>
        </p:sp>
      </p:grpSp>
      <p:sp>
        <p:nvSpPr>
          <p:cNvPr id="11" name="TextBox 11"/>
          <p:cNvSpPr txBox="1"/>
          <p:nvPr/>
        </p:nvSpPr>
        <p:spPr>
          <a:xfrm>
            <a:off x="12158210" y="756880"/>
            <a:ext cx="5101090" cy="496014"/>
          </a:xfrm>
          <a:prstGeom prst="rect">
            <a:avLst/>
          </a:prstGeom>
        </p:spPr>
        <p:txBody>
          <a:bodyPr lIns="0" tIns="0" rIns="0" bIns="0" rtlCol="0" anchor="t">
            <a:spAutoFit/>
          </a:bodyPr>
          <a:lstStyle/>
          <a:p>
            <a:pPr marL="0" lvl="0" indent="0" algn="l">
              <a:lnSpc>
                <a:spcPts val="3826"/>
              </a:lnSpc>
            </a:pPr>
            <a:r>
              <a:rPr lang="en-US" sz="2943">
                <a:solidFill>
                  <a:srgbClr val="FFFFFF"/>
                </a:solidFill>
                <a:latin typeface="Public Sans"/>
                <a:ea typeface="Public Sans"/>
                <a:cs typeface="Public Sans"/>
                <a:sym typeface="Public Sans"/>
              </a:rPr>
              <a:t>Upper CASE</a:t>
            </a:r>
          </a:p>
        </p:txBody>
      </p:sp>
      <p:sp>
        <p:nvSpPr>
          <p:cNvPr id="12" name="TextBox 12"/>
          <p:cNvSpPr txBox="1"/>
          <p:nvPr/>
        </p:nvSpPr>
        <p:spPr>
          <a:xfrm>
            <a:off x="9409322" y="451415"/>
            <a:ext cx="2355435" cy="1314450"/>
          </a:xfrm>
          <a:prstGeom prst="rect">
            <a:avLst/>
          </a:prstGeom>
        </p:spPr>
        <p:txBody>
          <a:bodyPr lIns="0" tIns="0" rIns="0" bIns="0" rtlCol="0" anchor="t">
            <a:spAutoFit/>
          </a:bodyPr>
          <a:lstStyle/>
          <a:p>
            <a:pPr algn="l">
              <a:lnSpc>
                <a:spcPts val="9600"/>
              </a:lnSpc>
            </a:pPr>
            <a:r>
              <a:rPr lang="en-US" sz="8000">
                <a:solidFill>
                  <a:srgbClr val="FFFFFF"/>
                </a:solidFill>
                <a:latin typeface="Horizon"/>
                <a:ea typeface="Horizon"/>
                <a:cs typeface="Horizon"/>
                <a:sym typeface="Horizon"/>
              </a:rPr>
              <a:t>01.</a:t>
            </a:r>
          </a:p>
        </p:txBody>
      </p:sp>
      <p:sp>
        <p:nvSpPr>
          <p:cNvPr id="13" name="TextBox 13"/>
          <p:cNvSpPr txBox="1"/>
          <p:nvPr/>
        </p:nvSpPr>
        <p:spPr>
          <a:xfrm>
            <a:off x="9409322" y="2169592"/>
            <a:ext cx="2355435" cy="1314450"/>
          </a:xfrm>
          <a:prstGeom prst="rect">
            <a:avLst/>
          </a:prstGeom>
        </p:spPr>
        <p:txBody>
          <a:bodyPr lIns="0" tIns="0" rIns="0" bIns="0" rtlCol="0" anchor="t">
            <a:spAutoFit/>
          </a:bodyPr>
          <a:lstStyle/>
          <a:p>
            <a:pPr algn="l">
              <a:lnSpc>
                <a:spcPts val="9600"/>
              </a:lnSpc>
            </a:pPr>
            <a:r>
              <a:rPr lang="en-US" sz="8000">
                <a:solidFill>
                  <a:srgbClr val="FFFFFF"/>
                </a:solidFill>
                <a:latin typeface="Horizon"/>
                <a:ea typeface="Horizon"/>
                <a:cs typeface="Horizon"/>
                <a:sym typeface="Horizon"/>
              </a:rPr>
              <a:t>02.</a:t>
            </a:r>
          </a:p>
        </p:txBody>
      </p:sp>
      <p:sp>
        <p:nvSpPr>
          <p:cNvPr id="14" name="TextBox 14"/>
          <p:cNvSpPr txBox="1"/>
          <p:nvPr/>
        </p:nvSpPr>
        <p:spPr>
          <a:xfrm>
            <a:off x="9409322" y="3887770"/>
            <a:ext cx="2355435" cy="1314450"/>
          </a:xfrm>
          <a:prstGeom prst="rect">
            <a:avLst/>
          </a:prstGeom>
        </p:spPr>
        <p:txBody>
          <a:bodyPr lIns="0" tIns="0" rIns="0" bIns="0" rtlCol="0" anchor="t">
            <a:spAutoFit/>
          </a:bodyPr>
          <a:lstStyle/>
          <a:p>
            <a:pPr algn="l">
              <a:lnSpc>
                <a:spcPts val="9600"/>
              </a:lnSpc>
            </a:pPr>
            <a:r>
              <a:rPr lang="en-US" sz="8000">
                <a:solidFill>
                  <a:srgbClr val="FFFFFF"/>
                </a:solidFill>
                <a:latin typeface="Horizon"/>
                <a:ea typeface="Horizon"/>
                <a:cs typeface="Horizon"/>
                <a:sym typeface="Horizon"/>
              </a:rPr>
              <a:t>03.</a:t>
            </a:r>
          </a:p>
        </p:txBody>
      </p:sp>
      <p:grpSp>
        <p:nvGrpSpPr>
          <p:cNvPr id="15" name="Group 15"/>
          <p:cNvGrpSpPr/>
          <p:nvPr/>
        </p:nvGrpSpPr>
        <p:grpSpPr>
          <a:xfrm>
            <a:off x="1028700" y="1028700"/>
            <a:ext cx="6715384" cy="5908640"/>
            <a:chOff x="0" y="0"/>
            <a:chExt cx="8953846" cy="7878187"/>
          </a:xfrm>
        </p:grpSpPr>
        <p:sp>
          <p:nvSpPr>
            <p:cNvPr id="16" name="TextBox 16"/>
            <p:cNvSpPr txBox="1"/>
            <p:nvPr/>
          </p:nvSpPr>
          <p:spPr>
            <a:xfrm>
              <a:off x="0" y="-57150"/>
              <a:ext cx="8909600" cy="4222750"/>
            </a:xfrm>
            <a:prstGeom prst="rect">
              <a:avLst/>
            </a:prstGeom>
          </p:spPr>
          <p:txBody>
            <a:bodyPr lIns="0" tIns="0" rIns="0" bIns="0" rtlCol="0" anchor="t">
              <a:spAutoFit/>
            </a:bodyPr>
            <a:lstStyle/>
            <a:p>
              <a:pPr marL="0" lvl="0" indent="0" algn="l">
                <a:lnSpc>
                  <a:spcPts val="6191"/>
                </a:lnSpc>
              </a:pPr>
              <a:r>
                <a:rPr lang="en-US" sz="5159">
                  <a:solidFill>
                    <a:srgbClr val="FFFFFF"/>
                  </a:solidFill>
                  <a:latin typeface="Horizon"/>
                  <a:ea typeface="Horizon"/>
                  <a:cs typeface="Horizon"/>
                  <a:sym typeface="Horizon"/>
                </a:rPr>
                <a:t>¿Qué son las herramientas CASE? </a:t>
              </a:r>
            </a:p>
          </p:txBody>
        </p:sp>
        <p:sp>
          <p:nvSpPr>
            <p:cNvPr id="17" name="TextBox 17"/>
            <p:cNvSpPr txBox="1"/>
            <p:nvPr/>
          </p:nvSpPr>
          <p:spPr>
            <a:xfrm>
              <a:off x="0" y="4641910"/>
              <a:ext cx="8953846" cy="3236277"/>
            </a:xfrm>
            <a:prstGeom prst="rect">
              <a:avLst/>
            </a:prstGeom>
          </p:spPr>
          <p:txBody>
            <a:bodyPr lIns="0" tIns="0" rIns="0" bIns="0" rtlCol="0" anchor="t">
              <a:spAutoFit/>
            </a:bodyPr>
            <a:lstStyle/>
            <a:p>
              <a:pPr marL="0" lvl="0" indent="0" algn="l">
                <a:lnSpc>
                  <a:spcPts val="3826"/>
                </a:lnSpc>
              </a:pPr>
              <a:r>
                <a:rPr lang="en-US" sz="2943">
                  <a:solidFill>
                    <a:srgbClr val="FFFFFF"/>
                  </a:solidFill>
                  <a:latin typeface="Public Sans"/>
                  <a:ea typeface="Public Sans"/>
                  <a:cs typeface="Public Sans"/>
                  <a:sym typeface="Public Sans"/>
                </a:rPr>
                <a:t>Las herramientas CASE son programas o entornos que ayudan a los desarrolladores a diseñar y construir software de manera más estructurada y automatizada</a:t>
              </a:r>
            </a:p>
          </p:txBody>
        </p:sp>
      </p:grpSp>
      <p:sp>
        <p:nvSpPr>
          <p:cNvPr id="18" name="TextBox 18"/>
          <p:cNvSpPr txBox="1"/>
          <p:nvPr/>
        </p:nvSpPr>
        <p:spPr>
          <a:xfrm>
            <a:off x="12158210" y="2650310"/>
            <a:ext cx="5101090" cy="496014"/>
          </a:xfrm>
          <a:prstGeom prst="rect">
            <a:avLst/>
          </a:prstGeom>
        </p:spPr>
        <p:txBody>
          <a:bodyPr lIns="0" tIns="0" rIns="0" bIns="0" rtlCol="0" anchor="t">
            <a:spAutoFit/>
          </a:bodyPr>
          <a:lstStyle/>
          <a:p>
            <a:pPr marL="0" lvl="0" indent="0" algn="l">
              <a:lnSpc>
                <a:spcPts val="3826"/>
              </a:lnSpc>
            </a:pPr>
            <a:r>
              <a:rPr lang="en-US" sz="2943">
                <a:solidFill>
                  <a:srgbClr val="FFFFFF"/>
                </a:solidFill>
                <a:latin typeface="Public Sans"/>
                <a:ea typeface="Public Sans"/>
                <a:cs typeface="Public Sans"/>
                <a:sym typeface="Public Sans"/>
              </a:rPr>
              <a:t>Middle CASE</a:t>
            </a:r>
          </a:p>
        </p:txBody>
      </p:sp>
      <p:sp>
        <p:nvSpPr>
          <p:cNvPr id="19" name="TextBox 19"/>
          <p:cNvSpPr txBox="1"/>
          <p:nvPr/>
        </p:nvSpPr>
        <p:spPr>
          <a:xfrm>
            <a:off x="12158210" y="4320801"/>
            <a:ext cx="5101090" cy="496014"/>
          </a:xfrm>
          <a:prstGeom prst="rect">
            <a:avLst/>
          </a:prstGeom>
        </p:spPr>
        <p:txBody>
          <a:bodyPr lIns="0" tIns="0" rIns="0" bIns="0" rtlCol="0" anchor="t">
            <a:spAutoFit/>
          </a:bodyPr>
          <a:lstStyle/>
          <a:p>
            <a:pPr marL="0" lvl="0" indent="0" algn="l">
              <a:lnSpc>
                <a:spcPts val="3826"/>
              </a:lnSpc>
            </a:pPr>
            <a:r>
              <a:rPr lang="en-US" sz="2943">
                <a:solidFill>
                  <a:srgbClr val="FFFFFF"/>
                </a:solidFill>
                <a:latin typeface="Public Sans"/>
                <a:ea typeface="Public Sans"/>
                <a:cs typeface="Public Sans"/>
                <a:sym typeface="Public Sans"/>
              </a:rPr>
              <a:t>Lower CASE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7DC9"/>
        </a:solidFill>
        <a:effectLst/>
      </p:bgPr>
    </p:bg>
    <p:spTree>
      <p:nvGrpSpPr>
        <p:cNvPr id="1" name=""/>
        <p:cNvGrpSpPr/>
        <p:nvPr/>
      </p:nvGrpSpPr>
      <p:grpSpPr>
        <a:xfrm>
          <a:off x="0" y="0"/>
          <a:ext cx="0" cy="0"/>
          <a:chOff x="0" y="0"/>
          <a:chExt cx="0" cy="0"/>
        </a:xfrm>
      </p:grpSpPr>
      <p:grpSp>
        <p:nvGrpSpPr>
          <p:cNvPr id="2" name="Group 2"/>
          <p:cNvGrpSpPr/>
          <p:nvPr/>
        </p:nvGrpSpPr>
        <p:grpSpPr>
          <a:xfrm>
            <a:off x="-310444" y="5646151"/>
            <a:ext cx="18288000" cy="4589738"/>
            <a:chOff x="0" y="0"/>
            <a:chExt cx="4816593" cy="1208820"/>
          </a:xfrm>
        </p:grpSpPr>
        <p:sp>
          <p:nvSpPr>
            <p:cNvPr id="3" name="Freeform 3"/>
            <p:cNvSpPr/>
            <p:nvPr/>
          </p:nvSpPr>
          <p:spPr>
            <a:xfrm>
              <a:off x="0" y="0"/>
              <a:ext cx="4816592" cy="1208820"/>
            </a:xfrm>
            <a:custGeom>
              <a:avLst/>
              <a:gdLst/>
              <a:ahLst/>
              <a:cxnLst/>
              <a:rect l="l" t="t" r="r" b="b"/>
              <a:pathLst>
                <a:path w="4816592" h="1208820">
                  <a:moveTo>
                    <a:pt x="0" y="0"/>
                  </a:moveTo>
                  <a:lnTo>
                    <a:pt x="4816592" y="0"/>
                  </a:lnTo>
                  <a:lnTo>
                    <a:pt x="4816592" y="1208820"/>
                  </a:lnTo>
                  <a:lnTo>
                    <a:pt x="0" y="1208820"/>
                  </a:lnTo>
                  <a:close/>
                </a:path>
              </a:pathLst>
            </a:custGeom>
            <a:solidFill>
              <a:srgbClr val="002254"/>
            </a:solidFill>
          </p:spPr>
        </p:sp>
        <p:sp>
          <p:nvSpPr>
            <p:cNvPr id="4" name="TextBox 4"/>
            <p:cNvSpPr txBox="1"/>
            <p:nvPr/>
          </p:nvSpPr>
          <p:spPr>
            <a:xfrm>
              <a:off x="0" y="-57150"/>
              <a:ext cx="4816593" cy="1265970"/>
            </a:xfrm>
            <a:prstGeom prst="rect">
              <a:avLst/>
            </a:prstGeom>
          </p:spPr>
          <p:txBody>
            <a:bodyPr lIns="50800" tIns="50800" rIns="50800" bIns="50800" rtlCol="0" anchor="ctr"/>
            <a:lstStyle/>
            <a:p>
              <a:pPr algn="ctr">
                <a:lnSpc>
                  <a:spcPts val="3080"/>
                </a:lnSpc>
              </a:pPr>
              <a:endParaRPr/>
            </a:p>
          </p:txBody>
        </p:sp>
      </p:grpSp>
      <p:sp>
        <p:nvSpPr>
          <p:cNvPr id="5" name="AutoShape 5"/>
          <p:cNvSpPr/>
          <p:nvPr/>
        </p:nvSpPr>
        <p:spPr>
          <a:xfrm>
            <a:off x="1" y="9498452"/>
            <a:ext cx="18288000" cy="4762"/>
          </a:xfrm>
          <a:prstGeom prst="line">
            <a:avLst/>
          </a:prstGeom>
          <a:ln w="9525" cap="rnd">
            <a:solidFill>
              <a:srgbClr val="FFFFFF"/>
            </a:solidFill>
            <a:prstDash val="solid"/>
            <a:headEnd type="none" w="sm" len="sm"/>
            <a:tailEnd type="none" w="sm" len="sm"/>
          </a:ln>
        </p:spPr>
      </p:sp>
      <p:sp>
        <p:nvSpPr>
          <p:cNvPr id="6" name="AutoShape 6"/>
          <p:cNvSpPr/>
          <p:nvPr/>
        </p:nvSpPr>
        <p:spPr>
          <a:xfrm>
            <a:off x="3652838" y="5687737"/>
            <a:ext cx="0" cy="4599263"/>
          </a:xfrm>
          <a:prstGeom prst="line">
            <a:avLst/>
          </a:prstGeom>
          <a:ln w="9525" cap="rnd">
            <a:solidFill>
              <a:srgbClr val="FFFFFF"/>
            </a:solidFill>
            <a:prstDash val="solid"/>
            <a:headEnd type="none" w="sm" len="sm"/>
            <a:tailEnd type="none" w="sm" len="sm"/>
          </a:ln>
        </p:spPr>
      </p:sp>
      <p:sp>
        <p:nvSpPr>
          <p:cNvPr id="7" name="AutoShape 7"/>
          <p:cNvSpPr/>
          <p:nvPr/>
        </p:nvSpPr>
        <p:spPr>
          <a:xfrm>
            <a:off x="7310438" y="5687737"/>
            <a:ext cx="0" cy="4599263"/>
          </a:xfrm>
          <a:prstGeom prst="line">
            <a:avLst/>
          </a:prstGeom>
          <a:ln w="9525" cap="rnd">
            <a:solidFill>
              <a:srgbClr val="FFFFFF"/>
            </a:solidFill>
            <a:prstDash val="solid"/>
            <a:headEnd type="none" w="sm" len="sm"/>
            <a:tailEnd type="none" w="sm" len="sm"/>
          </a:ln>
        </p:spPr>
      </p:sp>
      <p:sp>
        <p:nvSpPr>
          <p:cNvPr id="8" name="AutoShape 8"/>
          <p:cNvSpPr/>
          <p:nvPr/>
        </p:nvSpPr>
        <p:spPr>
          <a:xfrm>
            <a:off x="10968037" y="5687737"/>
            <a:ext cx="0" cy="4599263"/>
          </a:xfrm>
          <a:prstGeom prst="line">
            <a:avLst/>
          </a:prstGeom>
          <a:ln w="9525" cap="rnd">
            <a:solidFill>
              <a:srgbClr val="FFFFFF"/>
            </a:solidFill>
            <a:prstDash val="solid"/>
            <a:headEnd type="none" w="sm" len="sm"/>
            <a:tailEnd type="none" w="sm" len="sm"/>
          </a:ln>
        </p:spPr>
      </p:sp>
      <p:sp>
        <p:nvSpPr>
          <p:cNvPr id="9" name="AutoShape 9"/>
          <p:cNvSpPr/>
          <p:nvPr/>
        </p:nvSpPr>
        <p:spPr>
          <a:xfrm>
            <a:off x="14625637" y="5687737"/>
            <a:ext cx="0" cy="4599263"/>
          </a:xfrm>
          <a:prstGeom prst="line">
            <a:avLst/>
          </a:prstGeom>
          <a:ln w="9525" cap="rnd">
            <a:solidFill>
              <a:srgbClr val="FFFFFF"/>
            </a:solidFill>
            <a:prstDash val="solid"/>
            <a:headEnd type="none" w="sm" len="sm"/>
            <a:tailEnd type="none" w="sm" len="sm"/>
          </a:ln>
        </p:spPr>
      </p:sp>
      <p:sp>
        <p:nvSpPr>
          <p:cNvPr id="10" name="Freeform 10"/>
          <p:cNvSpPr/>
          <p:nvPr/>
        </p:nvSpPr>
        <p:spPr>
          <a:xfrm>
            <a:off x="7785692" y="6179051"/>
            <a:ext cx="1047864" cy="1047864"/>
          </a:xfrm>
          <a:custGeom>
            <a:avLst/>
            <a:gdLst/>
            <a:ahLst/>
            <a:cxnLst/>
            <a:rect l="l" t="t" r="r" b="b"/>
            <a:pathLst>
              <a:path w="1047864" h="1047864">
                <a:moveTo>
                  <a:pt x="0" y="0"/>
                </a:moveTo>
                <a:lnTo>
                  <a:pt x="1047864" y="0"/>
                </a:lnTo>
                <a:lnTo>
                  <a:pt x="1047864" y="1047864"/>
                </a:lnTo>
                <a:lnTo>
                  <a:pt x="0" y="104786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1" name="Freeform 11"/>
          <p:cNvSpPr/>
          <p:nvPr/>
        </p:nvSpPr>
        <p:spPr>
          <a:xfrm>
            <a:off x="770394" y="6179051"/>
            <a:ext cx="1047864" cy="1047864"/>
          </a:xfrm>
          <a:custGeom>
            <a:avLst/>
            <a:gdLst/>
            <a:ahLst/>
            <a:cxnLst/>
            <a:rect l="l" t="t" r="r" b="b"/>
            <a:pathLst>
              <a:path w="1047864" h="1047864">
                <a:moveTo>
                  <a:pt x="0" y="0"/>
                </a:moveTo>
                <a:lnTo>
                  <a:pt x="1047863" y="0"/>
                </a:lnTo>
                <a:lnTo>
                  <a:pt x="1047863" y="1047864"/>
                </a:lnTo>
                <a:lnTo>
                  <a:pt x="0" y="104786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2" name="Freeform 12"/>
          <p:cNvSpPr/>
          <p:nvPr/>
        </p:nvSpPr>
        <p:spPr>
          <a:xfrm>
            <a:off x="11449050" y="6179051"/>
            <a:ext cx="1047864" cy="1047864"/>
          </a:xfrm>
          <a:custGeom>
            <a:avLst/>
            <a:gdLst/>
            <a:ahLst/>
            <a:cxnLst/>
            <a:rect l="l" t="t" r="r" b="b"/>
            <a:pathLst>
              <a:path w="1047864" h="1047864">
                <a:moveTo>
                  <a:pt x="0" y="0"/>
                </a:moveTo>
                <a:lnTo>
                  <a:pt x="1047864" y="0"/>
                </a:lnTo>
                <a:lnTo>
                  <a:pt x="1047864" y="1047864"/>
                </a:lnTo>
                <a:lnTo>
                  <a:pt x="0" y="1047864"/>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13" name="Freeform 13"/>
          <p:cNvSpPr/>
          <p:nvPr/>
        </p:nvSpPr>
        <p:spPr>
          <a:xfrm>
            <a:off x="4129468" y="6179051"/>
            <a:ext cx="1047864" cy="1047864"/>
          </a:xfrm>
          <a:custGeom>
            <a:avLst/>
            <a:gdLst/>
            <a:ahLst/>
            <a:cxnLst/>
            <a:rect l="l" t="t" r="r" b="b"/>
            <a:pathLst>
              <a:path w="1047864" h="1047864">
                <a:moveTo>
                  <a:pt x="0" y="0"/>
                </a:moveTo>
                <a:lnTo>
                  <a:pt x="1047864" y="0"/>
                </a:lnTo>
                <a:lnTo>
                  <a:pt x="1047864" y="1047864"/>
                </a:lnTo>
                <a:lnTo>
                  <a:pt x="0" y="1047864"/>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4" name="Freeform 14"/>
          <p:cNvSpPr/>
          <p:nvPr/>
        </p:nvSpPr>
        <p:spPr>
          <a:xfrm>
            <a:off x="14625637" y="5750182"/>
            <a:ext cx="3269085" cy="3570563"/>
          </a:xfrm>
          <a:custGeom>
            <a:avLst/>
            <a:gdLst/>
            <a:ahLst/>
            <a:cxnLst/>
            <a:rect l="l" t="t" r="r" b="b"/>
            <a:pathLst>
              <a:path w="3269085" h="3570563">
                <a:moveTo>
                  <a:pt x="0" y="0"/>
                </a:moveTo>
                <a:lnTo>
                  <a:pt x="3269086" y="0"/>
                </a:lnTo>
                <a:lnTo>
                  <a:pt x="3269086" y="3570563"/>
                </a:lnTo>
                <a:lnTo>
                  <a:pt x="0" y="3570563"/>
                </a:lnTo>
                <a:lnTo>
                  <a:pt x="0" y="0"/>
                </a:lnTo>
                <a:close/>
              </a:path>
            </a:pathLst>
          </a:custGeom>
          <a:blipFill>
            <a:blip r:embed="rId10"/>
            <a:stretch>
              <a:fillRect l="-14605" r="-16461"/>
            </a:stretch>
          </a:blipFill>
        </p:spPr>
      </p:sp>
      <p:grpSp>
        <p:nvGrpSpPr>
          <p:cNvPr id="15" name="Group 15"/>
          <p:cNvGrpSpPr/>
          <p:nvPr/>
        </p:nvGrpSpPr>
        <p:grpSpPr>
          <a:xfrm>
            <a:off x="1028700" y="1028700"/>
            <a:ext cx="16230600" cy="2436526"/>
            <a:chOff x="0" y="0"/>
            <a:chExt cx="21640800" cy="3248701"/>
          </a:xfrm>
        </p:grpSpPr>
        <p:sp>
          <p:nvSpPr>
            <p:cNvPr id="16" name="TextBox 16"/>
            <p:cNvSpPr txBox="1"/>
            <p:nvPr/>
          </p:nvSpPr>
          <p:spPr>
            <a:xfrm>
              <a:off x="0" y="743626"/>
              <a:ext cx="21640800" cy="2505075"/>
            </a:xfrm>
            <a:prstGeom prst="rect">
              <a:avLst/>
            </a:prstGeom>
          </p:spPr>
          <p:txBody>
            <a:bodyPr lIns="0" tIns="0" rIns="0" bIns="0" rtlCol="0" anchor="t">
              <a:spAutoFit/>
            </a:bodyPr>
            <a:lstStyle/>
            <a:p>
              <a:pPr marL="0" lvl="0" indent="0" algn="l">
                <a:lnSpc>
                  <a:spcPts val="7223"/>
                </a:lnSpc>
              </a:pPr>
              <a:r>
                <a:rPr lang="en-US" sz="6019">
                  <a:solidFill>
                    <a:srgbClr val="FFFFFF"/>
                  </a:solidFill>
                  <a:latin typeface="Horizon"/>
                  <a:ea typeface="Horizon"/>
                  <a:cs typeface="Horizon"/>
                  <a:sym typeface="Horizon"/>
                </a:rPr>
                <a:t>¿Qué es el modelado de sistemas?</a:t>
              </a:r>
            </a:p>
          </p:txBody>
        </p:sp>
        <p:sp>
          <p:nvSpPr>
            <p:cNvPr id="17" name="TextBox 17"/>
            <p:cNvSpPr txBox="1"/>
            <p:nvPr/>
          </p:nvSpPr>
          <p:spPr>
            <a:xfrm>
              <a:off x="0" y="-38100"/>
              <a:ext cx="10940299" cy="518025"/>
            </a:xfrm>
            <a:prstGeom prst="rect">
              <a:avLst/>
            </a:prstGeom>
          </p:spPr>
          <p:txBody>
            <a:bodyPr lIns="0" tIns="0" rIns="0" bIns="0" rtlCol="0" anchor="t">
              <a:spAutoFit/>
            </a:bodyPr>
            <a:lstStyle/>
            <a:p>
              <a:pPr marL="0" lvl="0" indent="0" algn="l">
                <a:lnSpc>
                  <a:spcPts val="3130"/>
                </a:lnSpc>
              </a:pPr>
              <a:endParaRPr/>
            </a:p>
          </p:txBody>
        </p:sp>
      </p:grpSp>
      <p:sp>
        <p:nvSpPr>
          <p:cNvPr id="18" name="TextBox 18"/>
          <p:cNvSpPr txBox="1"/>
          <p:nvPr/>
        </p:nvSpPr>
        <p:spPr>
          <a:xfrm>
            <a:off x="770394" y="7670604"/>
            <a:ext cx="2356123" cy="715427"/>
          </a:xfrm>
          <a:prstGeom prst="rect">
            <a:avLst/>
          </a:prstGeom>
        </p:spPr>
        <p:txBody>
          <a:bodyPr lIns="0" tIns="0" rIns="0" bIns="0" rtlCol="0" anchor="t">
            <a:spAutoFit/>
          </a:bodyPr>
          <a:lstStyle/>
          <a:p>
            <a:pPr marL="0" lvl="0" indent="0" algn="l">
              <a:lnSpc>
                <a:spcPts val="2817"/>
              </a:lnSpc>
            </a:pPr>
            <a:r>
              <a:rPr lang="en-US" sz="2167">
                <a:solidFill>
                  <a:srgbClr val="FFFFFF"/>
                </a:solidFill>
                <a:latin typeface="Public Sans"/>
                <a:ea typeface="Public Sans"/>
                <a:cs typeface="Public Sans"/>
                <a:sym typeface="Public Sans"/>
              </a:rPr>
              <a:t>Modelado de requerimientos</a:t>
            </a:r>
          </a:p>
        </p:txBody>
      </p:sp>
      <p:sp>
        <p:nvSpPr>
          <p:cNvPr id="19" name="TextBox 19"/>
          <p:cNvSpPr txBox="1"/>
          <p:nvPr/>
        </p:nvSpPr>
        <p:spPr>
          <a:xfrm>
            <a:off x="4129468" y="7670604"/>
            <a:ext cx="2653272" cy="715427"/>
          </a:xfrm>
          <a:prstGeom prst="rect">
            <a:avLst/>
          </a:prstGeom>
        </p:spPr>
        <p:txBody>
          <a:bodyPr lIns="0" tIns="0" rIns="0" bIns="0" rtlCol="0" anchor="t">
            <a:spAutoFit/>
          </a:bodyPr>
          <a:lstStyle/>
          <a:p>
            <a:pPr marL="0" lvl="0" indent="0" algn="l">
              <a:lnSpc>
                <a:spcPts val="2817"/>
              </a:lnSpc>
            </a:pPr>
            <a:r>
              <a:rPr lang="en-US" sz="2167">
                <a:solidFill>
                  <a:srgbClr val="FFFFFF"/>
                </a:solidFill>
                <a:latin typeface="Public Sans"/>
                <a:ea typeface="Public Sans"/>
                <a:cs typeface="Public Sans"/>
                <a:sym typeface="Public Sans"/>
              </a:rPr>
              <a:t>Modelado estructural</a:t>
            </a:r>
          </a:p>
        </p:txBody>
      </p:sp>
      <p:sp>
        <p:nvSpPr>
          <p:cNvPr id="20" name="TextBox 20"/>
          <p:cNvSpPr txBox="1"/>
          <p:nvPr/>
        </p:nvSpPr>
        <p:spPr>
          <a:xfrm>
            <a:off x="7785692" y="7670604"/>
            <a:ext cx="2653272" cy="715427"/>
          </a:xfrm>
          <a:prstGeom prst="rect">
            <a:avLst/>
          </a:prstGeom>
        </p:spPr>
        <p:txBody>
          <a:bodyPr lIns="0" tIns="0" rIns="0" bIns="0" rtlCol="0" anchor="t">
            <a:spAutoFit/>
          </a:bodyPr>
          <a:lstStyle/>
          <a:p>
            <a:pPr marL="0" lvl="0" indent="0" algn="l">
              <a:lnSpc>
                <a:spcPts val="2817"/>
              </a:lnSpc>
            </a:pPr>
            <a:r>
              <a:rPr lang="en-US" sz="2167">
                <a:solidFill>
                  <a:srgbClr val="FFFFFF"/>
                </a:solidFill>
                <a:latin typeface="Public Sans"/>
                <a:ea typeface="Public Sans"/>
                <a:cs typeface="Public Sans"/>
                <a:sym typeface="Public Sans"/>
              </a:rPr>
              <a:t>Modelado de comportamiento</a:t>
            </a:r>
          </a:p>
        </p:txBody>
      </p:sp>
      <p:sp>
        <p:nvSpPr>
          <p:cNvPr id="21" name="TextBox 21"/>
          <p:cNvSpPr txBox="1"/>
          <p:nvPr/>
        </p:nvSpPr>
        <p:spPr>
          <a:xfrm>
            <a:off x="11203781" y="7334912"/>
            <a:ext cx="3186112" cy="363002"/>
          </a:xfrm>
          <a:prstGeom prst="rect">
            <a:avLst/>
          </a:prstGeom>
        </p:spPr>
        <p:txBody>
          <a:bodyPr lIns="0" tIns="0" rIns="0" bIns="0" rtlCol="0" anchor="t">
            <a:spAutoFit/>
          </a:bodyPr>
          <a:lstStyle/>
          <a:p>
            <a:pPr marL="0" lvl="0" indent="0" algn="ctr">
              <a:lnSpc>
                <a:spcPts val="2817"/>
              </a:lnSpc>
            </a:pPr>
            <a:r>
              <a:rPr lang="en-US" sz="2167">
                <a:solidFill>
                  <a:srgbClr val="FFFFFF"/>
                </a:solidFill>
                <a:latin typeface="Public Sans"/>
                <a:ea typeface="Public Sans"/>
                <a:cs typeface="Public Sans"/>
                <a:sym typeface="Public Sans"/>
              </a:rPr>
              <a:t>UML </a:t>
            </a:r>
          </a:p>
        </p:txBody>
      </p:sp>
      <p:sp>
        <p:nvSpPr>
          <p:cNvPr id="22" name="TextBox 22"/>
          <p:cNvSpPr txBox="1"/>
          <p:nvPr/>
        </p:nvSpPr>
        <p:spPr>
          <a:xfrm>
            <a:off x="1476196" y="3427126"/>
            <a:ext cx="15603427" cy="1008797"/>
          </a:xfrm>
          <a:prstGeom prst="rect">
            <a:avLst/>
          </a:prstGeom>
        </p:spPr>
        <p:txBody>
          <a:bodyPr lIns="0" tIns="0" rIns="0" bIns="0" rtlCol="0" anchor="t">
            <a:spAutoFit/>
          </a:bodyPr>
          <a:lstStyle/>
          <a:p>
            <a:pPr marL="0" lvl="0" indent="0" algn="l">
              <a:lnSpc>
                <a:spcPts val="3987"/>
              </a:lnSpc>
            </a:pPr>
            <a:r>
              <a:rPr lang="en-US" sz="3067">
                <a:solidFill>
                  <a:srgbClr val="FFFFFF"/>
                </a:solidFill>
                <a:latin typeface="Public Sans"/>
                <a:ea typeface="Public Sans"/>
                <a:cs typeface="Public Sans"/>
                <a:sym typeface="Public Sans"/>
              </a:rPr>
              <a:t>El modelado de sistemas consiste en crear representaciones visuales y conceptuales de cómo debe funcionar un sistema de software</a:t>
            </a:r>
          </a:p>
        </p:txBody>
      </p:sp>
      <p:sp>
        <p:nvSpPr>
          <p:cNvPr id="23" name="TextBox 23"/>
          <p:cNvSpPr txBox="1"/>
          <p:nvPr/>
        </p:nvSpPr>
        <p:spPr>
          <a:xfrm>
            <a:off x="1476196" y="5201545"/>
            <a:ext cx="8140145" cy="486192"/>
          </a:xfrm>
          <a:prstGeom prst="rect">
            <a:avLst/>
          </a:prstGeom>
        </p:spPr>
        <p:txBody>
          <a:bodyPr lIns="0" tIns="0" rIns="0" bIns="0" rtlCol="0" anchor="t">
            <a:spAutoFit/>
          </a:bodyPr>
          <a:lstStyle/>
          <a:p>
            <a:pPr marL="0" lvl="0" indent="0" algn="ctr">
              <a:lnSpc>
                <a:spcPts val="3857"/>
              </a:lnSpc>
            </a:pPr>
            <a:r>
              <a:rPr lang="en-US" sz="2967">
                <a:solidFill>
                  <a:srgbClr val="FFFFFF"/>
                </a:solidFill>
                <a:latin typeface="Public Sans"/>
                <a:ea typeface="Public Sans"/>
                <a:cs typeface="Public Sans"/>
                <a:sym typeface="Public Sans"/>
              </a:rPr>
              <a:t>Tipos de modelado</a:t>
            </a:r>
          </a:p>
        </p:txBody>
      </p:sp>
      <p:sp>
        <p:nvSpPr>
          <p:cNvPr id="24" name="TextBox 24"/>
          <p:cNvSpPr txBox="1"/>
          <p:nvPr/>
        </p:nvSpPr>
        <p:spPr>
          <a:xfrm>
            <a:off x="11449050" y="4930724"/>
            <a:ext cx="2653272" cy="715427"/>
          </a:xfrm>
          <a:prstGeom prst="rect">
            <a:avLst/>
          </a:prstGeom>
        </p:spPr>
        <p:txBody>
          <a:bodyPr lIns="0" tIns="0" rIns="0" bIns="0" rtlCol="0" anchor="t">
            <a:spAutoFit/>
          </a:bodyPr>
          <a:lstStyle/>
          <a:p>
            <a:pPr marL="0" lvl="0" indent="0" algn="ctr">
              <a:lnSpc>
                <a:spcPts val="2817"/>
              </a:lnSpc>
            </a:pPr>
            <a:r>
              <a:rPr lang="en-US" sz="2167">
                <a:solidFill>
                  <a:srgbClr val="FFFFFF"/>
                </a:solidFill>
                <a:latin typeface="Public Sans"/>
                <a:ea typeface="Public Sans"/>
                <a:cs typeface="Public Sans"/>
                <a:sym typeface="Public Sans"/>
              </a:rPr>
              <a:t>Herramientas y lenguajes comunes</a:t>
            </a:r>
          </a:p>
        </p:txBody>
      </p:sp>
      <p:sp>
        <p:nvSpPr>
          <p:cNvPr id="25" name="TextBox 25"/>
          <p:cNvSpPr txBox="1"/>
          <p:nvPr/>
        </p:nvSpPr>
        <p:spPr>
          <a:xfrm>
            <a:off x="11500878" y="8009268"/>
            <a:ext cx="2653272" cy="363002"/>
          </a:xfrm>
          <a:prstGeom prst="rect">
            <a:avLst/>
          </a:prstGeom>
        </p:spPr>
        <p:txBody>
          <a:bodyPr lIns="0" tIns="0" rIns="0" bIns="0" rtlCol="0" anchor="t">
            <a:spAutoFit/>
          </a:bodyPr>
          <a:lstStyle/>
          <a:p>
            <a:pPr marL="0" lvl="0" indent="0" algn="ctr">
              <a:lnSpc>
                <a:spcPts val="2817"/>
              </a:lnSpc>
            </a:pPr>
            <a:r>
              <a:rPr lang="en-US" sz="2167">
                <a:solidFill>
                  <a:srgbClr val="FFFFFF"/>
                </a:solidFill>
                <a:latin typeface="Public Sans"/>
                <a:ea typeface="Public Sans"/>
                <a:cs typeface="Public Sans"/>
                <a:sym typeface="Public Sans"/>
              </a:rPr>
              <a:t>BPMN</a:t>
            </a:r>
          </a:p>
        </p:txBody>
      </p:sp>
      <p:sp>
        <p:nvSpPr>
          <p:cNvPr id="26" name="TextBox 26"/>
          <p:cNvSpPr txBox="1"/>
          <p:nvPr/>
        </p:nvSpPr>
        <p:spPr>
          <a:xfrm>
            <a:off x="11470202" y="8686595"/>
            <a:ext cx="2653272" cy="363002"/>
          </a:xfrm>
          <a:prstGeom prst="rect">
            <a:avLst/>
          </a:prstGeom>
        </p:spPr>
        <p:txBody>
          <a:bodyPr lIns="0" tIns="0" rIns="0" bIns="0" rtlCol="0" anchor="t">
            <a:spAutoFit/>
          </a:bodyPr>
          <a:lstStyle/>
          <a:p>
            <a:pPr marL="0" lvl="0" indent="0" algn="ctr">
              <a:lnSpc>
                <a:spcPts val="2817"/>
              </a:lnSpc>
            </a:pPr>
            <a:r>
              <a:rPr lang="en-US" sz="2167">
                <a:solidFill>
                  <a:srgbClr val="FFFFFF"/>
                </a:solidFill>
                <a:latin typeface="Public Sans"/>
                <a:ea typeface="Public Sans"/>
                <a:cs typeface="Public Sans"/>
                <a:sym typeface="Public Sans"/>
              </a:rPr>
              <a:t>DFD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254"/>
        </a:solidFill>
        <a:effectLst/>
      </p:bgPr>
    </p:bg>
    <p:spTree>
      <p:nvGrpSpPr>
        <p:cNvPr id="1" name=""/>
        <p:cNvGrpSpPr/>
        <p:nvPr/>
      </p:nvGrpSpPr>
      <p:grpSpPr>
        <a:xfrm>
          <a:off x="0" y="0"/>
          <a:ext cx="0" cy="0"/>
          <a:chOff x="0" y="0"/>
          <a:chExt cx="0" cy="0"/>
        </a:xfrm>
      </p:grpSpPr>
      <p:sp>
        <p:nvSpPr>
          <p:cNvPr id="2" name="AutoShape 2"/>
          <p:cNvSpPr/>
          <p:nvPr/>
        </p:nvSpPr>
        <p:spPr>
          <a:xfrm>
            <a:off x="9727419" y="0"/>
            <a:ext cx="8560581" cy="10287000"/>
          </a:xfrm>
          <a:prstGeom prst="rect">
            <a:avLst/>
          </a:prstGeom>
          <a:solidFill>
            <a:srgbClr val="447DC9"/>
          </a:solidFill>
        </p:spPr>
      </p:sp>
      <p:sp>
        <p:nvSpPr>
          <p:cNvPr id="3" name="Freeform 3"/>
          <p:cNvSpPr/>
          <p:nvPr/>
        </p:nvSpPr>
        <p:spPr>
          <a:xfrm rot="-5400000">
            <a:off x="9529879" y="1463537"/>
            <a:ext cx="8955662" cy="7359926"/>
          </a:xfrm>
          <a:custGeom>
            <a:avLst/>
            <a:gdLst/>
            <a:ahLst/>
            <a:cxnLst/>
            <a:rect l="l" t="t" r="r" b="b"/>
            <a:pathLst>
              <a:path w="8955662" h="7359926">
                <a:moveTo>
                  <a:pt x="0" y="0"/>
                </a:moveTo>
                <a:lnTo>
                  <a:pt x="8955662" y="0"/>
                </a:lnTo>
                <a:lnTo>
                  <a:pt x="8955662" y="7359926"/>
                </a:lnTo>
                <a:lnTo>
                  <a:pt x="0" y="73599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1212715" y="1028700"/>
            <a:ext cx="6046585" cy="7897700"/>
            <a:chOff x="0" y="0"/>
            <a:chExt cx="872486" cy="1139591"/>
          </a:xfrm>
        </p:grpSpPr>
        <p:sp>
          <p:nvSpPr>
            <p:cNvPr id="5" name="Freeform 5"/>
            <p:cNvSpPr/>
            <p:nvPr/>
          </p:nvSpPr>
          <p:spPr>
            <a:xfrm>
              <a:off x="0" y="0"/>
              <a:ext cx="872486" cy="1139591"/>
            </a:xfrm>
            <a:custGeom>
              <a:avLst/>
              <a:gdLst/>
              <a:ahLst/>
              <a:cxnLst/>
              <a:rect l="l" t="t" r="r" b="b"/>
              <a:pathLst>
                <a:path w="872486" h="1139591">
                  <a:moveTo>
                    <a:pt x="0" y="0"/>
                  </a:moveTo>
                  <a:lnTo>
                    <a:pt x="872486" y="0"/>
                  </a:lnTo>
                  <a:lnTo>
                    <a:pt x="872486" y="1139591"/>
                  </a:lnTo>
                  <a:lnTo>
                    <a:pt x="0" y="1139591"/>
                  </a:lnTo>
                  <a:close/>
                </a:path>
              </a:pathLst>
            </a:custGeom>
            <a:blipFill>
              <a:blip r:embed="rId4"/>
              <a:stretch>
                <a:fillRect l="-15307" r="-15307"/>
              </a:stretch>
            </a:blipFill>
          </p:spPr>
        </p:sp>
      </p:grpSp>
      <p:grpSp>
        <p:nvGrpSpPr>
          <p:cNvPr id="6" name="Group 6"/>
          <p:cNvGrpSpPr/>
          <p:nvPr/>
        </p:nvGrpSpPr>
        <p:grpSpPr>
          <a:xfrm>
            <a:off x="0" y="6722033"/>
            <a:ext cx="9727419" cy="3564967"/>
            <a:chOff x="0" y="0"/>
            <a:chExt cx="876562" cy="321248"/>
          </a:xfrm>
        </p:grpSpPr>
        <p:sp>
          <p:nvSpPr>
            <p:cNvPr id="7" name="Freeform 7"/>
            <p:cNvSpPr/>
            <p:nvPr/>
          </p:nvSpPr>
          <p:spPr>
            <a:xfrm>
              <a:off x="0" y="0"/>
              <a:ext cx="876562" cy="321248"/>
            </a:xfrm>
            <a:custGeom>
              <a:avLst/>
              <a:gdLst/>
              <a:ahLst/>
              <a:cxnLst/>
              <a:rect l="l" t="t" r="r" b="b"/>
              <a:pathLst>
                <a:path w="876562" h="321248">
                  <a:moveTo>
                    <a:pt x="876562" y="0"/>
                  </a:moveTo>
                  <a:lnTo>
                    <a:pt x="0" y="0"/>
                  </a:lnTo>
                  <a:lnTo>
                    <a:pt x="101600" y="160624"/>
                  </a:lnTo>
                  <a:lnTo>
                    <a:pt x="0" y="321248"/>
                  </a:lnTo>
                  <a:lnTo>
                    <a:pt x="876562" y="321248"/>
                  </a:lnTo>
                  <a:lnTo>
                    <a:pt x="774962" y="160624"/>
                  </a:lnTo>
                  <a:lnTo>
                    <a:pt x="876562" y="0"/>
                  </a:lnTo>
                  <a:close/>
                </a:path>
              </a:pathLst>
            </a:custGeom>
            <a:blipFill>
              <a:blip r:embed="rId5"/>
              <a:stretch>
                <a:fillRect t="-15805" b="-37492"/>
              </a:stretch>
            </a:blipFill>
          </p:spPr>
        </p:sp>
      </p:grpSp>
      <p:sp>
        <p:nvSpPr>
          <p:cNvPr id="8" name="TextBox 8"/>
          <p:cNvSpPr txBox="1"/>
          <p:nvPr/>
        </p:nvSpPr>
        <p:spPr>
          <a:xfrm>
            <a:off x="1028700" y="262835"/>
            <a:ext cx="7434573" cy="3629025"/>
          </a:xfrm>
          <a:prstGeom prst="rect">
            <a:avLst/>
          </a:prstGeom>
        </p:spPr>
        <p:txBody>
          <a:bodyPr lIns="0" tIns="0" rIns="0" bIns="0" rtlCol="0" anchor="t">
            <a:spAutoFit/>
          </a:bodyPr>
          <a:lstStyle/>
          <a:p>
            <a:pPr marL="0" lvl="0" indent="0" algn="l">
              <a:lnSpc>
                <a:spcPts val="5670"/>
              </a:lnSpc>
            </a:pPr>
            <a:r>
              <a:rPr lang="en-US" sz="4725">
                <a:solidFill>
                  <a:srgbClr val="FFFFFF"/>
                </a:solidFill>
                <a:latin typeface="Horizon"/>
                <a:ea typeface="Horizon"/>
                <a:cs typeface="Horizon"/>
                <a:sym typeface="Horizon"/>
              </a:rPr>
              <a:t>Aplicación de las herramientas CASE en el modelado</a:t>
            </a:r>
          </a:p>
        </p:txBody>
      </p:sp>
      <p:grpSp>
        <p:nvGrpSpPr>
          <p:cNvPr id="9" name="Group 9"/>
          <p:cNvGrpSpPr/>
          <p:nvPr/>
        </p:nvGrpSpPr>
        <p:grpSpPr>
          <a:xfrm>
            <a:off x="11341572" y="2279263"/>
            <a:ext cx="6046585" cy="4973425"/>
            <a:chOff x="0" y="0"/>
            <a:chExt cx="8062113" cy="6631234"/>
          </a:xfrm>
        </p:grpSpPr>
        <p:sp>
          <p:nvSpPr>
            <p:cNvPr id="10" name="TextBox 10"/>
            <p:cNvSpPr txBox="1"/>
            <p:nvPr/>
          </p:nvSpPr>
          <p:spPr>
            <a:xfrm>
              <a:off x="0" y="-38100"/>
              <a:ext cx="8062113" cy="1234694"/>
            </a:xfrm>
            <a:prstGeom prst="rect">
              <a:avLst/>
            </a:prstGeom>
          </p:spPr>
          <p:txBody>
            <a:bodyPr lIns="0" tIns="0" rIns="0" bIns="0" rtlCol="0" anchor="t">
              <a:spAutoFit/>
            </a:bodyPr>
            <a:lstStyle/>
            <a:p>
              <a:pPr marL="0" lvl="0" indent="0" algn="l">
                <a:lnSpc>
                  <a:spcPts val="3685"/>
                </a:lnSpc>
              </a:pPr>
              <a:r>
                <a:rPr lang="en-US" sz="2835" b="1">
                  <a:solidFill>
                    <a:srgbClr val="FFFFFF"/>
                  </a:solidFill>
                  <a:latin typeface="Public Sans Bold"/>
                  <a:ea typeface="Public Sans Bold"/>
                  <a:cs typeface="Public Sans Bold"/>
                  <a:sym typeface="Public Sans Bold"/>
                </a:rPr>
                <a:t>Beneficios del uso de herramientas CASE en el modelado</a:t>
              </a:r>
            </a:p>
          </p:txBody>
        </p:sp>
        <p:sp>
          <p:nvSpPr>
            <p:cNvPr id="11" name="TextBox 11"/>
            <p:cNvSpPr txBox="1"/>
            <p:nvPr/>
          </p:nvSpPr>
          <p:spPr>
            <a:xfrm>
              <a:off x="0" y="1662740"/>
              <a:ext cx="8062113" cy="4968494"/>
            </a:xfrm>
            <a:prstGeom prst="rect">
              <a:avLst/>
            </a:prstGeom>
          </p:spPr>
          <p:txBody>
            <a:bodyPr lIns="0" tIns="0" rIns="0" bIns="0" rtlCol="0" anchor="t">
              <a:spAutoFit/>
            </a:bodyPr>
            <a:lstStyle/>
            <a:p>
              <a:pPr algn="l">
                <a:lnSpc>
                  <a:spcPts val="3685"/>
                </a:lnSpc>
              </a:pPr>
              <a:r>
                <a:rPr lang="en-US" sz="2835">
                  <a:solidFill>
                    <a:srgbClr val="FFFFFF"/>
                  </a:solidFill>
                  <a:latin typeface="Public Sans"/>
                  <a:ea typeface="Public Sans"/>
                  <a:cs typeface="Public Sans"/>
                  <a:sym typeface="Public Sans"/>
                </a:rPr>
                <a:t>Estandarización del diseño</a:t>
              </a:r>
            </a:p>
            <a:p>
              <a:pPr algn="l">
                <a:lnSpc>
                  <a:spcPts val="3685"/>
                </a:lnSpc>
              </a:pPr>
              <a:endParaRPr lang="en-US" sz="2835">
                <a:solidFill>
                  <a:srgbClr val="FFFFFF"/>
                </a:solidFill>
                <a:latin typeface="Public Sans"/>
                <a:ea typeface="Public Sans"/>
                <a:cs typeface="Public Sans"/>
                <a:sym typeface="Public Sans"/>
              </a:endParaRPr>
            </a:p>
            <a:p>
              <a:pPr algn="l">
                <a:lnSpc>
                  <a:spcPts val="3685"/>
                </a:lnSpc>
              </a:pPr>
              <a:r>
                <a:rPr lang="en-US" sz="2835">
                  <a:solidFill>
                    <a:srgbClr val="FFFFFF"/>
                  </a:solidFill>
                  <a:latin typeface="Public Sans"/>
                  <a:ea typeface="Public Sans"/>
                  <a:cs typeface="Public Sans"/>
                  <a:sym typeface="Public Sans"/>
                </a:rPr>
                <a:t>Reducción de errores humanos</a:t>
              </a:r>
            </a:p>
            <a:p>
              <a:pPr algn="l">
                <a:lnSpc>
                  <a:spcPts val="3685"/>
                </a:lnSpc>
              </a:pPr>
              <a:endParaRPr lang="en-US" sz="2835">
                <a:solidFill>
                  <a:srgbClr val="FFFFFF"/>
                </a:solidFill>
                <a:latin typeface="Public Sans"/>
                <a:ea typeface="Public Sans"/>
                <a:cs typeface="Public Sans"/>
                <a:sym typeface="Public Sans"/>
              </a:endParaRPr>
            </a:p>
            <a:p>
              <a:pPr marL="0" lvl="0" indent="0" algn="l">
                <a:lnSpc>
                  <a:spcPts val="3685"/>
                </a:lnSpc>
              </a:pPr>
              <a:r>
                <a:rPr lang="en-US" sz="2835">
                  <a:solidFill>
                    <a:srgbClr val="FFFFFF"/>
                  </a:solidFill>
                  <a:latin typeface="Public Sans"/>
                  <a:ea typeface="Public Sans"/>
                  <a:cs typeface="Public Sans"/>
                  <a:sym typeface="Public Sans"/>
                </a:rPr>
                <a:t>Documentación automática</a:t>
              </a:r>
            </a:p>
            <a:p>
              <a:pPr marL="0" lvl="0" indent="0" algn="l">
                <a:lnSpc>
                  <a:spcPts val="3685"/>
                </a:lnSpc>
              </a:pPr>
              <a:endParaRPr lang="en-US" sz="2835">
                <a:solidFill>
                  <a:srgbClr val="FFFFFF"/>
                </a:solidFill>
                <a:latin typeface="Public Sans"/>
                <a:ea typeface="Public Sans"/>
                <a:cs typeface="Public Sans"/>
                <a:sym typeface="Public Sans"/>
              </a:endParaRPr>
            </a:p>
            <a:p>
              <a:pPr marL="0" lvl="0" indent="0" algn="l">
                <a:lnSpc>
                  <a:spcPts val="3685"/>
                </a:lnSpc>
              </a:pPr>
              <a:r>
                <a:rPr lang="en-US" sz="2835">
                  <a:solidFill>
                    <a:srgbClr val="FFFFFF"/>
                  </a:solidFill>
                  <a:latin typeface="Public Sans"/>
                  <a:ea typeface="Public Sans"/>
                  <a:cs typeface="Public Sans"/>
                  <a:sym typeface="Public Sans"/>
                </a:rPr>
                <a:t>Colaboración eficiente</a:t>
              </a:r>
            </a:p>
            <a:p>
              <a:pPr marL="0" lvl="0" indent="0" algn="l">
                <a:lnSpc>
                  <a:spcPts val="3685"/>
                </a:lnSpc>
              </a:pPr>
              <a:endParaRPr lang="en-US" sz="2835">
                <a:solidFill>
                  <a:srgbClr val="FFFFFF"/>
                </a:solidFill>
                <a:latin typeface="Public Sans"/>
                <a:ea typeface="Public Sans"/>
                <a:cs typeface="Public Sans"/>
                <a:sym typeface="Public Sans"/>
              </a:endParaRPr>
            </a:p>
          </p:txBody>
        </p:sp>
      </p:grpSp>
      <p:grpSp>
        <p:nvGrpSpPr>
          <p:cNvPr id="12" name="Group 12"/>
          <p:cNvGrpSpPr/>
          <p:nvPr/>
        </p:nvGrpSpPr>
        <p:grpSpPr>
          <a:xfrm>
            <a:off x="1507730" y="4154487"/>
            <a:ext cx="6476513" cy="3327407"/>
            <a:chOff x="0" y="0"/>
            <a:chExt cx="8635350" cy="4436543"/>
          </a:xfrm>
        </p:grpSpPr>
        <p:sp>
          <p:nvSpPr>
            <p:cNvPr id="13" name="TextBox 13"/>
            <p:cNvSpPr txBox="1"/>
            <p:nvPr/>
          </p:nvSpPr>
          <p:spPr>
            <a:xfrm>
              <a:off x="0" y="-47625"/>
              <a:ext cx="8635350" cy="3328941"/>
            </a:xfrm>
            <a:prstGeom prst="rect">
              <a:avLst/>
            </a:prstGeom>
          </p:spPr>
          <p:txBody>
            <a:bodyPr lIns="0" tIns="0" rIns="0" bIns="0" rtlCol="0" anchor="t">
              <a:spAutoFit/>
            </a:bodyPr>
            <a:lstStyle/>
            <a:p>
              <a:pPr marL="0" lvl="0" indent="0" algn="l">
                <a:lnSpc>
                  <a:spcPts val="3947"/>
                </a:lnSpc>
              </a:pPr>
              <a:r>
                <a:rPr lang="en-US" sz="3036" b="1">
                  <a:solidFill>
                    <a:srgbClr val="FFFFFF"/>
                  </a:solidFill>
                  <a:latin typeface="Public Sans Bold"/>
                  <a:ea typeface="Public Sans Bold"/>
                  <a:cs typeface="Public Sans Bold"/>
                  <a:sym typeface="Public Sans Bold"/>
                </a:rPr>
                <a:t>Las herramientas CASE ofrecen un entorno especializado para la creación, validación y mantenimiento de modelos de software</a:t>
              </a:r>
            </a:p>
          </p:txBody>
        </p:sp>
        <p:sp>
          <p:nvSpPr>
            <p:cNvPr id="14" name="TextBox 14"/>
            <p:cNvSpPr txBox="1"/>
            <p:nvPr/>
          </p:nvSpPr>
          <p:spPr>
            <a:xfrm>
              <a:off x="0" y="3773790"/>
              <a:ext cx="8635350" cy="662753"/>
            </a:xfrm>
            <a:prstGeom prst="rect">
              <a:avLst/>
            </a:prstGeom>
          </p:spPr>
          <p:txBody>
            <a:bodyPr lIns="0" tIns="0" rIns="0" bIns="0" rtlCol="0" anchor="t">
              <a:spAutoFit/>
            </a:bodyPr>
            <a:lstStyle/>
            <a:p>
              <a:pPr marL="0" lvl="0" indent="0" algn="l">
                <a:lnSpc>
                  <a:spcPts val="3947"/>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254"/>
        </a:solidFill>
        <a:effectLst/>
      </p:bgPr>
    </p:bg>
    <p:spTree>
      <p:nvGrpSpPr>
        <p:cNvPr id="1" name=""/>
        <p:cNvGrpSpPr/>
        <p:nvPr/>
      </p:nvGrpSpPr>
      <p:grpSpPr>
        <a:xfrm>
          <a:off x="0" y="0"/>
          <a:ext cx="0" cy="0"/>
          <a:chOff x="0" y="0"/>
          <a:chExt cx="0" cy="0"/>
        </a:xfrm>
      </p:grpSpPr>
      <p:sp>
        <p:nvSpPr>
          <p:cNvPr id="2" name="AutoShape 2"/>
          <p:cNvSpPr/>
          <p:nvPr/>
        </p:nvSpPr>
        <p:spPr>
          <a:xfrm>
            <a:off x="0" y="0"/>
            <a:ext cx="18288000" cy="3378975"/>
          </a:xfrm>
          <a:prstGeom prst="rect">
            <a:avLst/>
          </a:prstGeom>
          <a:solidFill>
            <a:srgbClr val="447DC9"/>
          </a:solidFill>
        </p:spPr>
      </p:sp>
      <p:sp>
        <p:nvSpPr>
          <p:cNvPr id="3" name="Freeform 3"/>
          <p:cNvSpPr/>
          <p:nvPr/>
        </p:nvSpPr>
        <p:spPr>
          <a:xfrm>
            <a:off x="17839113" y="0"/>
            <a:ext cx="448887" cy="10287000"/>
          </a:xfrm>
          <a:custGeom>
            <a:avLst/>
            <a:gdLst/>
            <a:ahLst/>
            <a:cxnLst/>
            <a:rect l="l" t="t" r="r" b="b"/>
            <a:pathLst>
              <a:path w="448887" h="10287000">
                <a:moveTo>
                  <a:pt x="0" y="0"/>
                </a:moveTo>
                <a:lnTo>
                  <a:pt x="448887" y="0"/>
                </a:lnTo>
                <a:lnTo>
                  <a:pt x="448887"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025046" y="1107671"/>
            <a:ext cx="2271303" cy="2271303"/>
          </a:xfrm>
          <a:custGeom>
            <a:avLst/>
            <a:gdLst/>
            <a:ahLst/>
            <a:cxnLst/>
            <a:rect l="l" t="t" r="r" b="b"/>
            <a:pathLst>
              <a:path w="2271303" h="2271303">
                <a:moveTo>
                  <a:pt x="0" y="0"/>
                </a:moveTo>
                <a:lnTo>
                  <a:pt x="2271303" y="0"/>
                </a:lnTo>
                <a:lnTo>
                  <a:pt x="2271303" y="2271304"/>
                </a:lnTo>
                <a:lnTo>
                  <a:pt x="0" y="22713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4086088" y="3378975"/>
            <a:ext cx="2271303" cy="2271303"/>
          </a:xfrm>
          <a:custGeom>
            <a:avLst/>
            <a:gdLst/>
            <a:ahLst/>
            <a:cxnLst/>
            <a:rect l="l" t="t" r="r" b="b"/>
            <a:pathLst>
              <a:path w="2271303" h="2271303">
                <a:moveTo>
                  <a:pt x="0" y="0"/>
                </a:moveTo>
                <a:lnTo>
                  <a:pt x="2271303" y="0"/>
                </a:lnTo>
                <a:lnTo>
                  <a:pt x="2271303" y="2271303"/>
                </a:lnTo>
                <a:lnTo>
                  <a:pt x="0" y="22713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a:grpSpLocks noChangeAspect="1"/>
          </p:cNvGrpSpPr>
          <p:nvPr/>
        </p:nvGrpSpPr>
        <p:grpSpPr>
          <a:xfrm>
            <a:off x="5870316" y="3378975"/>
            <a:ext cx="2651460" cy="5246370"/>
            <a:chOff x="0" y="0"/>
            <a:chExt cx="2620010" cy="5184140"/>
          </a:xfrm>
        </p:grpSpPr>
        <p:sp>
          <p:nvSpPr>
            <p:cNvPr id="7" name="Freeform 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8" name="Freeform 8"/>
            <p:cNvSpPr/>
            <p:nvPr/>
          </p:nvSpPr>
          <p:spPr>
            <a:xfrm rot="-5400000">
              <a:off x="-1127754" y="1469384"/>
              <a:ext cx="4876800" cy="2251710"/>
            </a:xfrm>
            <a:custGeom>
              <a:avLst/>
              <a:gdLst/>
              <a:ahLst/>
              <a:cxnLst/>
              <a:rect l="l" t="t" r="r" b="b"/>
              <a:pathLst>
                <a:path w="4876800" h="2251710">
                  <a:moveTo>
                    <a:pt x="4876800" y="2040889"/>
                  </a:moveTo>
                  <a:lnTo>
                    <a:pt x="4876800" y="1769110"/>
                  </a:lnTo>
                  <a:lnTo>
                    <a:pt x="4819650" y="1769110"/>
                  </a:lnTo>
                  <a:cubicBezTo>
                    <a:pt x="4754880" y="1769110"/>
                    <a:pt x="4701540" y="1715770"/>
                    <a:pt x="4701540" y="1650999"/>
                  </a:cubicBezTo>
                  <a:lnTo>
                    <a:pt x="4701540" y="601980"/>
                  </a:lnTo>
                  <a:cubicBezTo>
                    <a:pt x="4701540" y="537210"/>
                    <a:pt x="4754880" y="483870"/>
                    <a:pt x="4819650" y="483870"/>
                  </a:cubicBezTo>
                  <a:lnTo>
                    <a:pt x="4876800" y="483870"/>
                  </a:lnTo>
                  <a:lnTo>
                    <a:pt x="4876800" y="209550"/>
                  </a:lnTo>
                  <a:cubicBezTo>
                    <a:pt x="4876800" y="93980"/>
                    <a:pt x="4782820" y="0"/>
                    <a:pt x="4667250" y="0"/>
                  </a:cubicBezTo>
                  <a:lnTo>
                    <a:pt x="209550" y="0"/>
                  </a:lnTo>
                  <a:cubicBezTo>
                    <a:pt x="93980" y="0"/>
                    <a:pt x="0" y="93980"/>
                    <a:pt x="0" y="209550"/>
                  </a:cubicBezTo>
                  <a:lnTo>
                    <a:pt x="0" y="2040889"/>
                  </a:lnTo>
                  <a:cubicBezTo>
                    <a:pt x="0" y="2156460"/>
                    <a:pt x="93980" y="2250439"/>
                    <a:pt x="209550" y="2250439"/>
                  </a:cubicBezTo>
                  <a:lnTo>
                    <a:pt x="4667250" y="2250439"/>
                  </a:lnTo>
                  <a:cubicBezTo>
                    <a:pt x="4782820" y="2251710"/>
                    <a:pt x="4876800" y="2157729"/>
                    <a:pt x="4876800" y="2040889"/>
                  </a:cubicBezTo>
                  <a:close/>
                </a:path>
              </a:pathLst>
            </a:custGeom>
            <a:blipFill>
              <a:blip r:embed="rId8"/>
              <a:stretch>
                <a:fillRect l="-2610" t="-5118" b="-11083"/>
              </a:stretch>
            </a:blipFill>
          </p:spPr>
        </p:sp>
        <p:sp>
          <p:nvSpPr>
            <p:cNvPr id="9" name="Freeform 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0" name="Freeform 10"/>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1" name="Freeform 1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2" name="Freeform 1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3" name="Freeform 1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4" name="Freeform 1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5" name="Freeform 1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6" name="Group 16"/>
          <p:cNvGrpSpPr>
            <a:grpSpLocks noChangeAspect="1"/>
          </p:cNvGrpSpPr>
          <p:nvPr/>
        </p:nvGrpSpPr>
        <p:grpSpPr>
          <a:xfrm>
            <a:off x="1028700" y="3378975"/>
            <a:ext cx="2651460" cy="5246370"/>
            <a:chOff x="0" y="0"/>
            <a:chExt cx="2620010" cy="5184140"/>
          </a:xfrm>
        </p:grpSpPr>
        <p:sp>
          <p:nvSpPr>
            <p:cNvPr id="17" name="Freeform 1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8" name="Freeform 18"/>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9"/>
              <a:stretch>
                <a:fillRect l="-61920" r="-56262" b="-683"/>
              </a:stretch>
            </a:blipFill>
          </p:spPr>
        </p:sp>
        <p:sp>
          <p:nvSpPr>
            <p:cNvPr id="19" name="Freeform 1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20" name="Freeform 20"/>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1" name="Freeform 2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2" name="Freeform 2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3" name="Freeform 2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4" name="Freeform 2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5" name="Freeform 2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26" name="Group 26"/>
          <p:cNvGrpSpPr>
            <a:grpSpLocks noChangeAspect="1"/>
          </p:cNvGrpSpPr>
          <p:nvPr/>
        </p:nvGrpSpPr>
        <p:grpSpPr>
          <a:xfrm>
            <a:off x="10712526" y="3378975"/>
            <a:ext cx="2651460" cy="5246370"/>
            <a:chOff x="0" y="0"/>
            <a:chExt cx="2620010" cy="5184140"/>
          </a:xfrm>
        </p:grpSpPr>
        <p:sp>
          <p:nvSpPr>
            <p:cNvPr id="27" name="Freeform 2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28" name="Freeform 28"/>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10"/>
              <a:stretch>
                <a:fillRect l="-58351" r="-58351"/>
              </a:stretch>
            </a:blipFill>
          </p:spPr>
        </p:sp>
        <p:sp>
          <p:nvSpPr>
            <p:cNvPr id="29" name="Freeform 2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30" name="Freeform 30"/>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31" name="Freeform 3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32" name="Freeform 3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33" name="Freeform 3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34" name="Freeform 3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35" name="Freeform 3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36" name="TextBox 36"/>
          <p:cNvSpPr txBox="1"/>
          <p:nvPr/>
        </p:nvSpPr>
        <p:spPr>
          <a:xfrm>
            <a:off x="815360" y="214498"/>
            <a:ext cx="6894434" cy="2028825"/>
          </a:xfrm>
          <a:prstGeom prst="rect">
            <a:avLst/>
          </a:prstGeom>
        </p:spPr>
        <p:txBody>
          <a:bodyPr lIns="0" tIns="0" rIns="0" bIns="0" rtlCol="0" anchor="t">
            <a:spAutoFit/>
          </a:bodyPr>
          <a:lstStyle/>
          <a:p>
            <a:pPr marL="0" lvl="0" indent="0" algn="l">
              <a:lnSpc>
                <a:spcPts val="5220"/>
              </a:lnSpc>
            </a:pPr>
            <a:r>
              <a:rPr lang="en-US" sz="4350">
                <a:solidFill>
                  <a:srgbClr val="FFFFFF"/>
                </a:solidFill>
                <a:latin typeface="Horizon"/>
                <a:ea typeface="Horizon"/>
                <a:cs typeface="Horizon"/>
                <a:sym typeface="Horizon"/>
              </a:rPr>
              <a:t>EJEMPLOS DE HERRAMIENTAS CASE</a:t>
            </a:r>
          </a:p>
        </p:txBody>
      </p:sp>
      <p:sp>
        <p:nvSpPr>
          <p:cNvPr id="37" name="TextBox 37"/>
          <p:cNvSpPr txBox="1"/>
          <p:nvPr/>
        </p:nvSpPr>
        <p:spPr>
          <a:xfrm>
            <a:off x="773816" y="8804322"/>
            <a:ext cx="3161228" cy="771525"/>
          </a:xfrm>
          <a:prstGeom prst="rect">
            <a:avLst/>
          </a:prstGeom>
        </p:spPr>
        <p:txBody>
          <a:bodyPr lIns="0" tIns="0" rIns="0" bIns="0" rtlCol="0" anchor="t">
            <a:spAutoFit/>
          </a:bodyPr>
          <a:lstStyle/>
          <a:p>
            <a:pPr marL="0" lvl="0" indent="0" algn="ctr">
              <a:lnSpc>
                <a:spcPts val="2940"/>
              </a:lnSpc>
            </a:pPr>
            <a:r>
              <a:rPr lang="en-US" sz="2450">
                <a:solidFill>
                  <a:srgbClr val="FFFFFF"/>
                </a:solidFill>
                <a:latin typeface="Horizon"/>
                <a:ea typeface="Horizon"/>
                <a:cs typeface="Horizon"/>
                <a:sym typeface="Horizon"/>
              </a:rPr>
              <a:t>VISUAL PARADIGM</a:t>
            </a:r>
          </a:p>
        </p:txBody>
      </p:sp>
      <p:sp>
        <p:nvSpPr>
          <p:cNvPr id="38" name="TextBox 38"/>
          <p:cNvSpPr txBox="1"/>
          <p:nvPr/>
        </p:nvSpPr>
        <p:spPr>
          <a:xfrm>
            <a:off x="5417453" y="8794797"/>
            <a:ext cx="3793613" cy="485775"/>
          </a:xfrm>
          <a:prstGeom prst="rect">
            <a:avLst/>
          </a:prstGeom>
        </p:spPr>
        <p:txBody>
          <a:bodyPr lIns="0" tIns="0" rIns="0" bIns="0" rtlCol="0" anchor="t">
            <a:spAutoFit/>
          </a:bodyPr>
          <a:lstStyle/>
          <a:p>
            <a:pPr marL="0" lvl="0" indent="0" algn="l">
              <a:lnSpc>
                <a:spcPts val="3540"/>
              </a:lnSpc>
            </a:pPr>
            <a:r>
              <a:rPr lang="en-US" sz="2950">
                <a:solidFill>
                  <a:srgbClr val="FFFFFF"/>
                </a:solidFill>
                <a:latin typeface="Horizon"/>
                <a:ea typeface="Horizon"/>
                <a:cs typeface="Horizon"/>
                <a:sym typeface="Horizon"/>
              </a:rPr>
              <a:t>LUCIDCHART</a:t>
            </a:r>
          </a:p>
        </p:txBody>
      </p:sp>
      <p:sp>
        <p:nvSpPr>
          <p:cNvPr id="39" name="TextBox 39"/>
          <p:cNvSpPr txBox="1"/>
          <p:nvPr/>
        </p:nvSpPr>
        <p:spPr>
          <a:xfrm>
            <a:off x="10201710" y="8782050"/>
            <a:ext cx="4081051" cy="904875"/>
          </a:xfrm>
          <a:prstGeom prst="rect">
            <a:avLst/>
          </a:prstGeom>
        </p:spPr>
        <p:txBody>
          <a:bodyPr lIns="0" tIns="0" rIns="0" bIns="0" rtlCol="0" anchor="t">
            <a:spAutoFit/>
          </a:bodyPr>
          <a:lstStyle/>
          <a:p>
            <a:pPr marL="0" lvl="0" indent="0" algn="ctr">
              <a:lnSpc>
                <a:spcPts val="3420"/>
              </a:lnSpc>
            </a:pPr>
            <a:r>
              <a:rPr lang="en-US" sz="2850">
                <a:solidFill>
                  <a:srgbClr val="FFFFFF"/>
                </a:solidFill>
                <a:latin typeface="Horizon"/>
                <a:ea typeface="Horizon"/>
                <a:cs typeface="Horizon"/>
                <a:sym typeface="Horizon"/>
              </a:rPr>
              <a:t>IBM RATIONAL ROSE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254"/>
        </a:solidFill>
        <a:effectLst/>
      </p:bgPr>
    </p:bg>
    <p:spTree>
      <p:nvGrpSpPr>
        <p:cNvPr id="1" name=""/>
        <p:cNvGrpSpPr/>
        <p:nvPr/>
      </p:nvGrpSpPr>
      <p:grpSpPr>
        <a:xfrm>
          <a:off x="0" y="0"/>
          <a:ext cx="0" cy="0"/>
          <a:chOff x="0" y="0"/>
          <a:chExt cx="0" cy="0"/>
        </a:xfrm>
      </p:grpSpPr>
      <p:sp>
        <p:nvSpPr>
          <p:cNvPr id="2" name="AutoShape 2"/>
          <p:cNvSpPr/>
          <p:nvPr/>
        </p:nvSpPr>
        <p:spPr>
          <a:xfrm>
            <a:off x="0" y="0"/>
            <a:ext cx="9594741" cy="10287000"/>
          </a:xfrm>
          <a:prstGeom prst="rect">
            <a:avLst/>
          </a:prstGeom>
          <a:solidFill>
            <a:srgbClr val="447DC9"/>
          </a:solidFill>
        </p:spPr>
      </p:sp>
      <p:sp>
        <p:nvSpPr>
          <p:cNvPr id="3" name="Freeform 3"/>
          <p:cNvSpPr/>
          <p:nvPr/>
        </p:nvSpPr>
        <p:spPr>
          <a:xfrm rot="-10800000">
            <a:off x="9594741" y="0"/>
            <a:ext cx="109163" cy="3531729"/>
          </a:xfrm>
          <a:custGeom>
            <a:avLst/>
            <a:gdLst/>
            <a:ahLst/>
            <a:cxnLst/>
            <a:rect l="l" t="t" r="r" b="b"/>
            <a:pathLst>
              <a:path w="109163" h="3531729">
                <a:moveTo>
                  <a:pt x="0" y="0"/>
                </a:moveTo>
                <a:lnTo>
                  <a:pt x="109162" y="0"/>
                </a:lnTo>
                <a:lnTo>
                  <a:pt x="109162" y="3531729"/>
                </a:lnTo>
                <a:lnTo>
                  <a:pt x="0" y="35317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10800000">
            <a:off x="9594741" y="3531729"/>
            <a:ext cx="109163" cy="3531729"/>
          </a:xfrm>
          <a:custGeom>
            <a:avLst/>
            <a:gdLst/>
            <a:ahLst/>
            <a:cxnLst/>
            <a:rect l="l" t="t" r="r" b="b"/>
            <a:pathLst>
              <a:path w="109163" h="3531729">
                <a:moveTo>
                  <a:pt x="0" y="0"/>
                </a:moveTo>
                <a:lnTo>
                  <a:pt x="109162" y="0"/>
                </a:lnTo>
                <a:lnTo>
                  <a:pt x="109162" y="3531729"/>
                </a:lnTo>
                <a:lnTo>
                  <a:pt x="0" y="35317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9594741" y="7063458"/>
            <a:ext cx="109163" cy="3531729"/>
          </a:xfrm>
          <a:custGeom>
            <a:avLst/>
            <a:gdLst/>
            <a:ahLst/>
            <a:cxnLst/>
            <a:rect l="l" t="t" r="r" b="b"/>
            <a:pathLst>
              <a:path w="109163" h="3531729">
                <a:moveTo>
                  <a:pt x="0" y="0"/>
                </a:moveTo>
                <a:lnTo>
                  <a:pt x="109162" y="0"/>
                </a:lnTo>
                <a:lnTo>
                  <a:pt x="109162" y="3531729"/>
                </a:lnTo>
                <a:lnTo>
                  <a:pt x="0" y="35317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870717" y="7473154"/>
            <a:ext cx="1913899" cy="1785146"/>
          </a:xfrm>
          <a:custGeom>
            <a:avLst/>
            <a:gdLst/>
            <a:ahLst/>
            <a:cxnLst/>
            <a:rect l="l" t="t" r="r" b="b"/>
            <a:pathLst>
              <a:path w="1913899" h="1785146">
                <a:moveTo>
                  <a:pt x="0" y="0"/>
                </a:moveTo>
                <a:lnTo>
                  <a:pt x="1913900" y="0"/>
                </a:lnTo>
                <a:lnTo>
                  <a:pt x="1913900" y="1785146"/>
                </a:lnTo>
                <a:lnTo>
                  <a:pt x="0" y="17851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0800000">
            <a:off x="2883471" y="7473154"/>
            <a:ext cx="1913899" cy="1785146"/>
          </a:xfrm>
          <a:custGeom>
            <a:avLst/>
            <a:gdLst/>
            <a:ahLst/>
            <a:cxnLst/>
            <a:rect l="l" t="t" r="r" b="b"/>
            <a:pathLst>
              <a:path w="1913899" h="1785146">
                <a:moveTo>
                  <a:pt x="0" y="0"/>
                </a:moveTo>
                <a:lnTo>
                  <a:pt x="1913899" y="0"/>
                </a:lnTo>
                <a:lnTo>
                  <a:pt x="1913899" y="1785146"/>
                </a:lnTo>
                <a:lnTo>
                  <a:pt x="0" y="17851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a:grpSpLocks noChangeAspect="1"/>
          </p:cNvGrpSpPr>
          <p:nvPr/>
        </p:nvGrpSpPr>
        <p:grpSpPr>
          <a:xfrm>
            <a:off x="6685520" y="2859688"/>
            <a:ext cx="12385083" cy="7103934"/>
            <a:chOff x="0" y="0"/>
            <a:chExt cx="7981950" cy="4578350"/>
          </a:xfrm>
        </p:grpSpPr>
        <p:sp>
          <p:nvSpPr>
            <p:cNvPr id="9" name="Freeform 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0" name="Freeform 1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1" name="Freeform 1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2" name="Freeform 1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3" name="Freeform 13"/>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8"/>
              <a:stretch>
                <a:fillRect l="-5630" r="-5630"/>
              </a:stretch>
            </a:blipFill>
          </p:spPr>
          <p:txBody>
            <a:bodyPr/>
            <a:lstStyle/>
            <a:p>
              <a:endParaRPr lang="es-VE" dirty="0"/>
            </a:p>
          </p:txBody>
        </p:sp>
      </p:grpSp>
      <p:grpSp>
        <p:nvGrpSpPr>
          <p:cNvPr id="14" name="Group 14"/>
          <p:cNvGrpSpPr/>
          <p:nvPr/>
        </p:nvGrpSpPr>
        <p:grpSpPr>
          <a:xfrm>
            <a:off x="870717" y="1028700"/>
            <a:ext cx="7853306" cy="1830988"/>
            <a:chOff x="0" y="0"/>
            <a:chExt cx="10471075" cy="2441317"/>
          </a:xfrm>
        </p:grpSpPr>
        <p:sp>
          <p:nvSpPr>
            <p:cNvPr id="15" name="TextBox 15"/>
            <p:cNvSpPr txBox="1"/>
            <p:nvPr/>
          </p:nvSpPr>
          <p:spPr>
            <a:xfrm>
              <a:off x="0" y="-47625"/>
              <a:ext cx="10471075" cy="936625"/>
            </a:xfrm>
            <a:prstGeom prst="rect">
              <a:avLst/>
            </a:prstGeom>
          </p:spPr>
          <p:txBody>
            <a:bodyPr lIns="0" tIns="0" rIns="0" bIns="0" rtlCol="0" anchor="t">
              <a:spAutoFit/>
            </a:bodyPr>
            <a:lstStyle/>
            <a:p>
              <a:pPr marL="0" lvl="0" indent="0" algn="l">
                <a:lnSpc>
                  <a:spcPts val="5316"/>
                </a:lnSpc>
              </a:pPr>
              <a:r>
                <a:rPr lang="en-US" sz="4430">
                  <a:solidFill>
                    <a:srgbClr val="FFFFFF"/>
                  </a:solidFill>
                  <a:latin typeface="Horizon"/>
                  <a:ea typeface="Horizon"/>
                  <a:cs typeface="Horizon"/>
                  <a:sym typeface="Horizon"/>
                </a:rPr>
                <a:t>Conclusiones</a:t>
              </a:r>
            </a:p>
          </p:txBody>
        </p:sp>
        <p:sp>
          <p:nvSpPr>
            <p:cNvPr id="16" name="TextBox 16"/>
            <p:cNvSpPr txBox="1"/>
            <p:nvPr/>
          </p:nvSpPr>
          <p:spPr>
            <a:xfrm>
              <a:off x="0" y="1279831"/>
              <a:ext cx="9275370" cy="1161486"/>
            </a:xfrm>
            <a:prstGeom prst="rect">
              <a:avLst/>
            </a:prstGeom>
          </p:spPr>
          <p:txBody>
            <a:bodyPr lIns="0" tIns="0" rIns="0" bIns="0" rtlCol="0" anchor="t">
              <a:spAutoFit/>
            </a:bodyPr>
            <a:lstStyle/>
            <a:p>
              <a:pPr marL="0" lvl="0" indent="0" algn="l">
                <a:lnSpc>
                  <a:spcPts val="3455"/>
                </a:lnSpc>
              </a:pPr>
              <a:r>
                <a:rPr lang="en-US" sz="2658">
                  <a:solidFill>
                    <a:srgbClr val="FFFFFF"/>
                  </a:solidFill>
                  <a:latin typeface="Public Sans"/>
                  <a:ea typeface="Public Sans"/>
                  <a:cs typeface="Public Sans"/>
                  <a:sym typeface="Public Sans"/>
                </a:rPr>
                <a:t>La importancia de las herramientas CASE en modelado de sistemas</a:t>
              </a:r>
            </a:p>
          </p:txBody>
        </p:sp>
      </p:grpSp>
      <p:grpSp>
        <p:nvGrpSpPr>
          <p:cNvPr id="17" name="Group 17"/>
          <p:cNvGrpSpPr/>
          <p:nvPr/>
        </p:nvGrpSpPr>
        <p:grpSpPr>
          <a:xfrm>
            <a:off x="340717" y="3362134"/>
            <a:ext cx="7381399" cy="2750030"/>
            <a:chOff x="0" y="0"/>
            <a:chExt cx="9841866" cy="3666707"/>
          </a:xfrm>
        </p:grpSpPr>
        <p:sp>
          <p:nvSpPr>
            <p:cNvPr id="18" name="TextBox 18"/>
            <p:cNvSpPr txBox="1"/>
            <p:nvPr/>
          </p:nvSpPr>
          <p:spPr>
            <a:xfrm>
              <a:off x="0" y="783198"/>
              <a:ext cx="9841866" cy="2883508"/>
            </a:xfrm>
            <a:prstGeom prst="rect">
              <a:avLst/>
            </a:prstGeom>
          </p:spPr>
          <p:txBody>
            <a:bodyPr lIns="0" tIns="0" rIns="0" bIns="0" rtlCol="0" anchor="t">
              <a:spAutoFit/>
            </a:bodyPr>
            <a:lstStyle/>
            <a:p>
              <a:pPr marL="0" lvl="0" indent="0" algn="l">
                <a:lnSpc>
                  <a:spcPts val="2915"/>
                </a:lnSpc>
              </a:pPr>
              <a:r>
                <a:rPr lang="en-US" sz="2242">
                  <a:solidFill>
                    <a:srgbClr val="FFFFFF"/>
                  </a:solidFill>
                  <a:latin typeface="Public Sans"/>
                  <a:ea typeface="Public Sans"/>
                  <a:cs typeface="Public Sans"/>
                  <a:sym typeface="Public Sans"/>
                </a:rPr>
                <a:t>Estas herramientas no solo facilitan el trabajo técnico, sino que también fortalecen la comunicación entre los distintos actores del proyecto. Su implementación adecuada puede marcar la diferencia entre un proyecto exitoso y uno lleno de retrabajo, errores o desorganización</a:t>
              </a:r>
            </a:p>
          </p:txBody>
        </p:sp>
        <p:sp>
          <p:nvSpPr>
            <p:cNvPr id="19" name="TextBox 19"/>
            <p:cNvSpPr txBox="1"/>
            <p:nvPr/>
          </p:nvSpPr>
          <p:spPr>
            <a:xfrm>
              <a:off x="0" y="-38100"/>
              <a:ext cx="9694272" cy="606712"/>
            </a:xfrm>
            <a:prstGeom prst="rect">
              <a:avLst/>
            </a:prstGeom>
          </p:spPr>
          <p:txBody>
            <a:bodyPr lIns="0" tIns="0" rIns="0" bIns="0" rtlCol="0" anchor="t">
              <a:spAutoFit/>
            </a:bodyPr>
            <a:lstStyle/>
            <a:p>
              <a:pPr marL="0" lvl="0" indent="0" algn="l">
                <a:lnSpc>
                  <a:spcPts val="3644"/>
                </a:lnSpc>
              </a:pPr>
              <a:endParaRPr/>
            </a:p>
          </p:txBody>
        </p:sp>
      </p:grpSp>
      <p:pic>
        <p:nvPicPr>
          <p:cNvPr id="20" name="Untitled design">
            <a:hlinkClick r:id="" action="ppaction://media"/>
            <a:extLst>
              <a:ext uri="{FF2B5EF4-FFF2-40B4-BE49-F238E27FC236}">
                <a16:creationId xmlns:a16="http://schemas.microsoft.com/office/drawing/2014/main" id="{FC44B793-2BDF-95B4-CF77-CE65F5A653B4}"/>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8179217" y="3287303"/>
            <a:ext cx="9395716" cy="58821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823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7DC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0035281" cy="10287000"/>
            <a:chOff x="0" y="0"/>
            <a:chExt cx="2643037" cy="2709333"/>
          </a:xfrm>
        </p:grpSpPr>
        <p:sp>
          <p:nvSpPr>
            <p:cNvPr id="3" name="Freeform 3"/>
            <p:cNvSpPr/>
            <p:nvPr/>
          </p:nvSpPr>
          <p:spPr>
            <a:xfrm>
              <a:off x="0" y="0"/>
              <a:ext cx="2643037" cy="2709333"/>
            </a:xfrm>
            <a:custGeom>
              <a:avLst/>
              <a:gdLst/>
              <a:ahLst/>
              <a:cxnLst/>
              <a:rect l="l" t="t" r="r" b="b"/>
              <a:pathLst>
                <a:path w="2643037" h="2709333">
                  <a:moveTo>
                    <a:pt x="0" y="0"/>
                  </a:moveTo>
                  <a:lnTo>
                    <a:pt x="2643037" y="0"/>
                  </a:lnTo>
                  <a:lnTo>
                    <a:pt x="2643037" y="2709333"/>
                  </a:lnTo>
                  <a:lnTo>
                    <a:pt x="0" y="2709333"/>
                  </a:lnTo>
                  <a:close/>
                </a:path>
              </a:pathLst>
            </a:custGeom>
            <a:solidFill>
              <a:srgbClr val="002254"/>
            </a:solidFill>
          </p:spPr>
        </p:sp>
        <p:sp>
          <p:nvSpPr>
            <p:cNvPr id="4" name="TextBox 4"/>
            <p:cNvSpPr txBox="1"/>
            <p:nvPr/>
          </p:nvSpPr>
          <p:spPr>
            <a:xfrm>
              <a:off x="0" y="-57150"/>
              <a:ext cx="2643037" cy="2766483"/>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1028700" y="7681517"/>
            <a:ext cx="5820339" cy="1576783"/>
          </a:xfrm>
          <a:custGeom>
            <a:avLst/>
            <a:gdLst/>
            <a:ahLst/>
            <a:cxnLst/>
            <a:rect l="l" t="t" r="r" b="b"/>
            <a:pathLst>
              <a:path w="5820339" h="1576783">
                <a:moveTo>
                  <a:pt x="0" y="0"/>
                </a:moveTo>
                <a:lnTo>
                  <a:pt x="5820339" y="0"/>
                </a:lnTo>
                <a:lnTo>
                  <a:pt x="5820339" y="1576783"/>
                </a:lnTo>
                <a:lnTo>
                  <a:pt x="0" y="1576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6860998" y="7681517"/>
            <a:ext cx="5820339" cy="1576783"/>
          </a:xfrm>
          <a:custGeom>
            <a:avLst/>
            <a:gdLst/>
            <a:ahLst/>
            <a:cxnLst/>
            <a:rect l="l" t="t" r="r" b="b"/>
            <a:pathLst>
              <a:path w="5820339" h="1576783">
                <a:moveTo>
                  <a:pt x="0" y="0"/>
                </a:moveTo>
                <a:lnTo>
                  <a:pt x="5820339" y="0"/>
                </a:lnTo>
                <a:lnTo>
                  <a:pt x="5820339" y="1576783"/>
                </a:lnTo>
                <a:lnTo>
                  <a:pt x="0" y="1576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2696494" y="7681517"/>
            <a:ext cx="5820339" cy="1576783"/>
          </a:xfrm>
          <a:custGeom>
            <a:avLst/>
            <a:gdLst/>
            <a:ahLst/>
            <a:cxnLst/>
            <a:rect l="l" t="t" r="r" b="b"/>
            <a:pathLst>
              <a:path w="5820339" h="1576783">
                <a:moveTo>
                  <a:pt x="0" y="0"/>
                </a:moveTo>
                <a:lnTo>
                  <a:pt x="5820339" y="0"/>
                </a:lnTo>
                <a:lnTo>
                  <a:pt x="5820339" y="1576783"/>
                </a:lnTo>
                <a:lnTo>
                  <a:pt x="0" y="15767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28700" y="4951528"/>
            <a:ext cx="8115300" cy="1885950"/>
          </a:xfrm>
          <a:prstGeom prst="rect">
            <a:avLst/>
          </a:prstGeom>
        </p:spPr>
        <p:txBody>
          <a:bodyPr lIns="0" tIns="0" rIns="0" bIns="0" rtlCol="0" anchor="t">
            <a:spAutoFit/>
          </a:bodyPr>
          <a:lstStyle/>
          <a:p>
            <a:pPr marL="0" lvl="0" indent="0" algn="l">
              <a:lnSpc>
                <a:spcPts val="7159"/>
              </a:lnSpc>
            </a:pPr>
            <a:r>
              <a:rPr lang="en-US" sz="5966">
                <a:solidFill>
                  <a:srgbClr val="FFFFFF"/>
                </a:solidFill>
                <a:latin typeface="Horizon"/>
                <a:ea typeface="Horizon"/>
                <a:cs typeface="Horizon"/>
                <a:sym typeface="Horizon"/>
              </a:rPr>
              <a:t>¡Gracias por 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278</Words>
  <Application>Microsoft Office PowerPoint</Application>
  <PresentationFormat>Personalizado</PresentationFormat>
  <Paragraphs>51</Paragraphs>
  <Slides>8</Slides>
  <Notes>0</Notes>
  <HiddenSlides>0</HiddenSlides>
  <MMClips>1</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Horizon</vt:lpstr>
      <vt:lpstr>Calibri</vt:lpstr>
      <vt:lpstr>Public Sans</vt:lpstr>
      <vt:lpstr>Public Sans 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Modelado de Sistemas Efectivo</dc:title>
  <cp:lastModifiedBy>Angel Peña</cp:lastModifiedBy>
  <cp:revision>2</cp:revision>
  <dcterms:created xsi:type="dcterms:W3CDTF">2006-08-16T00:00:00Z</dcterms:created>
  <dcterms:modified xsi:type="dcterms:W3CDTF">2025-04-24T23:13:50Z</dcterms:modified>
  <dc:identifier>DAGlZ9U3oLM</dc:identifier>
</cp:coreProperties>
</file>