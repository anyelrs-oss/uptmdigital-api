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MU Serif" charset="1" panose="02000603000000000000"/>
      <p:regular r:id="rId12"/>
    </p:embeddedFont>
    <p:embeddedFont>
      <p:font typeface="Nourd Light" charset="1" panose="000004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jpe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C0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05860" y="5808145"/>
            <a:ext cx="5977773" cy="5771268"/>
          </a:xfrm>
          <a:custGeom>
            <a:avLst/>
            <a:gdLst/>
            <a:ahLst/>
            <a:cxnLst/>
            <a:rect r="r" b="b" t="t" l="l"/>
            <a:pathLst>
              <a:path h="5771268" w="5977773">
                <a:moveTo>
                  <a:pt x="0" y="0"/>
                </a:moveTo>
                <a:lnTo>
                  <a:pt x="5977773" y="0"/>
                </a:lnTo>
                <a:lnTo>
                  <a:pt x="5977773" y="5771268"/>
                </a:lnTo>
                <a:lnTo>
                  <a:pt x="0" y="5771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950887" y="-1349922"/>
            <a:ext cx="5977773" cy="5771268"/>
          </a:xfrm>
          <a:custGeom>
            <a:avLst/>
            <a:gdLst/>
            <a:ahLst/>
            <a:cxnLst/>
            <a:rect r="r" b="b" t="t" l="l"/>
            <a:pathLst>
              <a:path h="5771268" w="5977773">
                <a:moveTo>
                  <a:pt x="0" y="0"/>
                </a:moveTo>
                <a:lnTo>
                  <a:pt x="5977773" y="0"/>
                </a:lnTo>
                <a:lnTo>
                  <a:pt x="5977773" y="5771268"/>
                </a:lnTo>
                <a:lnTo>
                  <a:pt x="0" y="5771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8007588" y="1407063"/>
            <a:ext cx="10468317" cy="7851237"/>
            <a:chOff x="0" y="0"/>
            <a:chExt cx="8128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606" y="504825"/>
            <a:ext cx="9001241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315">
                <a:solidFill>
                  <a:srgbClr val="141112"/>
                </a:solidFill>
                <a:latin typeface="CMU Serif"/>
                <a:ea typeface="CMU Serif"/>
                <a:cs typeface="CMU Serif"/>
                <a:sym typeface="CMU Serif"/>
              </a:rPr>
              <a:t>Enfoque Sistémico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814" y="7839698"/>
            <a:ext cx="6862567" cy="177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-122">
                <a:solidFill>
                  <a:srgbClr val="141112"/>
                </a:solidFill>
                <a:latin typeface="CMU Serif"/>
                <a:ea typeface="CMU Serif"/>
                <a:cs typeface="CMU Serif"/>
                <a:sym typeface="CMU Serif"/>
              </a:rPr>
              <a:t> Angel Peña 24.349.651</a:t>
            </a:r>
          </a:p>
          <a:p>
            <a:pPr algn="l">
              <a:lnSpc>
                <a:spcPts val="3500"/>
              </a:lnSpc>
            </a:pPr>
            <a:r>
              <a:rPr lang="en-US" sz="3500" spc="-122">
                <a:solidFill>
                  <a:srgbClr val="141112"/>
                </a:solidFill>
                <a:latin typeface="CMU Serif"/>
                <a:ea typeface="CMU Serif"/>
                <a:cs typeface="CMU Serif"/>
                <a:sym typeface="CMU Serif"/>
              </a:rPr>
              <a:t> Gladys Vielma 15.174.323</a:t>
            </a:r>
          </a:p>
          <a:p>
            <a:pPr algn="l">
              <a:lnSpc>
                <a:spcPts val="3500"/>
              </a:lnSpc>
            </a:pPr>
            <a:r>
              <a:rPr lang="en-US" sz="3500" spc="-122">
                <a:solidFill>
                  <a:srgbClr val="141112"/>
                </a:solidFill>
                <a:latin typeface="CMU Serif"/>
                <a:ea typeface="CMU Serif"/>
                <a:cs typeface="CMU Serif"/>
                <a:sym typeface="CMU Serif"/>
              </a:rPr>
              <a:t> Maria Victoria Meza 15.031.343</a:t>
            </a:r>
          </a:p>
          <a:p>
            <a:pPr algn="l" marL="0" indent="0" lvl="0">
              <a:lnSpc>
                <a:spcPts val="3500"/>
              </a:lnSpc>
            </a:pPr>
            <a:r>
              <a:rPr lang="en-US" sz="3500" spc="-122">
                <a:solidFill>
                  <a:srgbClr val="141112"/>
                </a:solidFill>
                <a:latin typeface="CMU Serif"/>
                <a:ea typeface="CMU Serif"/>
                <a:cs typeface="CMU Serif"/>
                <a:sym typeface="CMU Serif"/>
              </a:rPr>
              <a:t> Ruben Ramirez  16.020.185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8814" y="7131683"/>
            <a:ext cx="5386882" cy="46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</a:pPr>
            <a:r>
              <a:rPr lang="en-US" sz="3500" spc="-122">
                <a:solidFill>
                  <a:srgbClr val="141112"/>
                </a:solidFill>
                <a:latin typeface="CMU Serif"/>
                <a:ea typeface="CMU Serif"/>
                <a:cs typeface="CMU Serif"/>
                <a:sym typeface="CMU Serif"/>
              </a:rPr>
              <a:t>Grupo #2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C0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94413" y="5827939"/>
            <a:ext cx="4262034" cy="4114800"/>
          </a:xfrm>
          <a:custGeom>
            <a:avLst/>
            <a:gdLst/>
            <a:ahLst/>
            <a:cxnLst/>
            <a:rect r="r" b="b" t="t" l="l"/>
            <a:pathLst>
              <a:path h="4114800" w="4262034">
                <a:moveTo>
                  <a:pt x="0" y="0"/>
                </a:moveTo>
                <a:lnTo>
                  <a:pt x="4262034" y="0"/>
                </a:lnTo>
                <a:lnTo>
                  <a:pt x="42620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69908"/>
            <a:ext cx="5836591" cy="8229600"/>
            <a:chOff x="0" y="0"/>
            <a:chExt cx="11737823" cy="165503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37823" cy="16550345"/>
            </a:xfrm>
            <a:custGeom>
              <a:avLst/>
              <a:gdLst/>
              <a:ahLst/>
              <a:cxnLst/>
              <a:rect r="r" b="b" t="t" l="l"/>
              <a:pathLst>
                <a:path h="16550345" w="11737823">
                  <a:moveTo>
                    <a:pt x="0" y="15711794"/>
                  </a:moveTo>
                  <a:lnTo>
                    <a:pt x="0" y="838551"/>
                  </a:lnTo>
                  <a:cubicBezTo>
                    <a:pt x="0" y="375141"/>
                    <a:pt x="399086" y="0"/>
                    <a:pt x="892075" y="0"/>
                  </a:cubicBezTo>
                  <a:lnTo>
                    <a:pt x="10845748" y="0"/>
                  </a:lnTo>
                  <a:cubicBezTo>
                    <a:pt x="11338737" y="0"/>
                    <a:pt x="11737823" y="377348"/>
                    <a:pt x="11737823" y="838551"/>
                  </a:cubicBezTo>
                  <a:lnTo>
                    <a:pt x="11737823" y="15711794"/>
                  </a:lnTo>
                  <a:cubicBezTo>
                    <a:pt x="11737823" y="16175203"/>
                    <a:pt x="11338737" y="16550345"/>
                    <a:pt x="10845748" y="16550345"/>
                  </a:cubicBezTo>
                  <a:lnTo>
                    <a:pt x="892075" y="16550345"/>
                  </a:lnTo>
                  <a:cubicBezTo>
                    <a:pt x="401434" y="16550345"/>
                    <a:pt x="0" y="16175203"/>
                    <a:pt x="0" y="15711794"/>
                  </a:cubicBezTo>
                  <a:close/>
                </a:path>
              </a:pathLst>
            </a:custGeom>
            <a:blipFill>
              <a:blip r:embed="rId4"/>
              <a:stretch>
                <a:fillRect l="-50714" t="0" r="-50714" b="0"/>
              </a:stretch>
            </a:blipFill>
            <a:ln w="38100" cap="sq">
              <a:solidFill>
                <a:srgbClr val="E6D98E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01505" y="172528"/>
            <a:ext cx="2795224" cy="3386285"/>
          </a:xfrm>
          <a:custGeom>
            <a:avLst/>
            <a:gdLst/>
            <a:ahLst/>
            <a:cxnLst/>
            <a:rect r="r" b="b" t="t" l="l"/>
            <a:pathLst>
              <a:path h="3386285" w="2795224">
                <a:moveTo>
                  <a:pt x="0" y="0"/>
                </a:moveTo>
                <a:lnTo>
                  <a:pt x="2795225" y="0"/>
                </a:lnTo>
                <a:lnTo>
                  <a:pt x="2795225" y="3386285"/>
                </a:lnTo>
                <a:lnTo>
                  <a:pt x="0" y="33862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8961120" y="5919641"/>
            <a:ext cx="9326880" cy="4012341"/>
            <a:chOff x="0" y="0"/>
            <a:chExt cx="6340094" cy="27274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1938" y="-127"/>
              <a:ext cx="6405753" cy="2810129"/>
            </a:xfrm>
            <a:custGeom>
              <a:avLst/>
              <a:gdLst/>
              <a:ahLst/>
              <a:cxnLst/>
              <a:rect r="r" b="b" t="t" l="l"/>
              <a:pathLst>
                <a:path h="2810129" w="6405753">
                  <a:moveTo>
                    <a:pt x="6344539" y="2579370"/>
                  </a:moveTo>
                  <a:cubicBezTo>
                    <a:pt x="6225032" y="2610739"/>
                    <a:pt x="6134989" y="2542032"/>
                    <a:pt x="6031484" y="2579370"/>
                  </a:cubicBezTo>
                  <a:cubicBezTo>
                    <a:pt x="5947918" y="2622296"/>
                    <a:pt x="5774182" y="2581783"/>
                    <a:pt x="5662676" y="2716657"/>
                  </a:cubicBezTo>
                  <a:cubicBezTo>
                    <a:pt x="5609590" y="2650998"/>
                    <a:pt x="5529707" y="2747137"/>
                    <a:pt x="5288280" y="2713736"/>
                  </a:cubicBezTo>
                  <a:cubicBezTo>
                    <a:pt x="5287391" y="2762504"/>
                    <a:pt x="5234051" y="2660269"/>
                    <a:pt x="5208143" y="2710688"/>
                  </a:cubicBezTo>
                  <a:cubicBezTo>
                    <a:pt x="5181092" y="2724785"/>
                    <a:pt x="5202174" y="2729611"/>
                    <a:pt x="5169408" y="2681097"/>
                  </a:cubicBezTo>
                  <a:cubicBezTo>
                    <a:pt x="5152009" y="2710307"/>
                    <a:pt x="5136515" y="2744724"/>
                    <a:pt x="5061204" y="2718054"/>
                  </a:cubicBezTo>
                  <a:cubicBezTo>
                    <a:pt x="4888992" y="2675255"/>
                    <a:pt x="5005070" y="2555748"/>
                    <a:pt x="4741418" y="2711958"/>
                  </a:cubicBezTo>
                  <a:cubicBezTo>
                    <a:pt x="4690364" y="2773934"/>
                    <a:pt x="4576699" y="2529332"/>
                    <a:pt x="4518152" y="2727706"/>
                  </a:cubicBezTo>
                  <a:cubicBezTo>
                    <a:pt x="4495927" y="2703703"/>
                    <a:pt x="4502277" y="2678176"/>
                    <a:pt x="4434713" y="2724404"/>
                  </a:cubicBezTo>
                  <a:cubicBezTo>
                    <a:pt x="4353052" y="2583688"/>
                    <a:pt x="4388993" y="2810129"/>
                    <a:pt x="4229735" y="2630678"/>
                  </a:cubicBezTo>
                  <a:cubicBezTo>
                    <a:pt x="4124325" y="2733167"/>
                    <a:pt x="4142232" y="2647188"/>
                    <a:pt x="3952494" y="2673985"/>
                  </a:cubicBezTo>
                  <a:cubicBezTo>
                    <a:pt x="3946398" y="2686939"/>
                    <a:pt x="3861562" y="2546985"/>
                    <a:pt x="3820414" y="2592324"/>
                  </a:cubicBezTo>
                  <a:cubicBezTo>
                    <a:pt x="3744849" y="2663444"/>
                    <a:pt x="3824478" y="2470658"/>
                    <a:pt x="3628517" y="2613660"/>
                  </a:cubicBezTo>
                  <a:cubicBezTo>
                    <a:pt x="3549396" y="2616581"/>
                    <a:pt x="3423793" y="2593467"/>
                    <a:pt x="3348228" y="2620899"/>
                  </a:cubicBezTo>
                  <a:cubicBezTo>
                    <a:pt x="3128137" y="2659380"/>
                    <a:pt x="2869184" y="2391029"/>
                    <a:pt x="2732913" y="2578862"/>
                  </a:cubicBezTo>
                  <a:cubicBezTo>
                    <a:pt x="2596388" y="2573147"/>
                    <a:pt x="2733548" y="2490851"/>
                    <a:pt x="2620391" y="2569845"/>
                  </a:cubicBezTo>
                  <a:cubicBezTo>
                    <a:pt x="2540127" y="2564257"/>
                    <a:pt x="2430145" y="2507615"/>
                    <a:pt x="2260600" y="2601214"/>
                  </a:cubicBezTo>
                  <a:cubicBezTo>
                    <a:pt x="2163826" y="2507869"/>
                    <a:pt x="1953387" y="2629281"/>
                    <a:pt x="1780921" y="2674366"/>
                  </a:cubicBezTo>
                  <a:cubicBezTo>
                    <a:pt x="1655572" y="2620645"/>
                    <a:pt x="1732153" y="2585085"/>
                    <a:pt x="1527937" y="2577719"/>
                  </a:cubicBezTo>
                  <a:cubicBezTo>
                    <a:pt x="1522730" y="2618486"/>
                    <a:pt x="1401064" y="2431542"/>
                    <a:pt x="1242822" y="2514219"/>
                  </a:cubicBezTo>
                  <a:cubicBezTo>
                    <a:pt x="1157097" y="2447417"/>
                    <a:pt x="1153922" y="2426970"/>
                    <a:pt x="1015238" y="2392426"/>
                  </a:cubicBezTo>
                  <a:cubicBezTo>
                    <a:pt x="1003681" y="2341118"/>
                    <a:pt x="926084" y="2455545"/>
                    <a:pt x="812673" y="2341880"/>
                  </a:cubicBezTo>
                  <a:cubicBezTo>
                    <a:pt x="823849" y="2369820"/>
                    <a:pt x="647573" y="2384171"/>
                    <a:pt x="500380" y="2378456"/>
                  </a:cubicBezTo>
                  <a:cubicBezTo>
                    <a:pt x="450342" y="2418461"/>
                    <a:pt x="318897" y="2407412"/>
                    <a:pt x="286639" y="2297303"/>
                  </a:cubicBezTo>
                  <a:cubicBezTo>
                    <a:pt x="296164" y="2252853"/>
                    <a:pt x="55753" y="2355596"/>
                    <a:pt x="15748" y="2150237"/>
                  </a:cubicBezTo>
                  <a:cubicBezTo>
                    <a:pt x="21590" y="1811147"/>
                    <a:pt x="0" y="1459103"/>
                    <a:pt x="21971" y="1133348"/>
                  </a:cubicBezTo>
                  <a:cubicBezTo>
                    <a:pt x="10414" y="1100455"/>
                    <a:pt x="41148" y="1118235"/>
                    <a:pt x="160274" y="1068197"/>
                  </a:cubicBezTo>
                  <a:cubicBezTo>
                    <a:pt x="154432" y="1068832"/>
                    <a:pt x="231521" y="1060323"/>
                    <a:pt x="299466" y="963676"/>
                  </a:cubicBezTo>
                  <a:cubicBezTo>
                    <a:pt x="393446" y="954786"/>
                    <a:pt x="517271" y="920496"/>
                    <a:pt x="601345" y="876808"/>
                  </a:cubicBezTo>
                  <a:cubicBezTo>
                    <a:pt x="798195" y="804291"/>
                    <a:pt x="1148334" y="861187"/>
                    <a:pt x="1703959" y="757936"/>
                  </a:cubicBezTo>
                  <a:cubicBezTo>
                    <a:pt x="1813052" y="727964"/>
                    <a:pt x="1983486" y="698119"/>
                    <a:pt x="2136267" y="653923"/>
                  </a:cubicBezTo>
                  <a:cubicBezTo>
                    <a:pt x="2183511" y="682625"/>
                    <a:pt x="2232533" y="484505"/>
                    <a:pt x="2451481" y="549148"/>
                  </a:cubicBezTo>
                  <a:cubicBezTo>
                    <a:pt x="2574925" y="459486"/>
                    <a:pt x="2834386" y="428244"/>
                    <a:pt x="2954782" y="370078"/>
                  </a:cubicBezTo>
                  <a:cubicBezTo>
                    <a:pt x="3069971" y="428371"/>
                    <a:pt x="3234690" y="359791"/>
                    <a:pt x="3365246" y="358521"/>
                  </a:cubicBezTo>
                  <a:cubicBezTo>
                    <a:pt x="3593084" y="353568"/>
                    <a:pt x="3280283" y="279781"/>
                    <a:pt x="3941191" y="246634"/>
                  </a:cubicBezTo>
                  <a:cubicBezTo>
                    <a:pt x="4057015" y="296799"/>
                    <a:pt x="4163822" y="290068"/>
                    <a:pt x="4347464" y="251460"/>
                  </a:cubicBezTo>
                  <a:cubicBezTo>
                    <a:pt x="4490593" y="280035"/>
                    <a:pt x="4547108" y="297434"/>
                    <a:pt x="4663440" y="260604"/>
                  </a:cubicBezTo>
                  <a:cubicBezTo>
                    <a:pt x="4872990" y="206375"/>
                    <a:pt x="5081270" y="124968"/>
                    <a:pt x="5417312" y="38989"/>
                  </a:cubicBezTo>
                  <a:cubicBezTo>
                    <a:pt x="5440680" y="11176"/>
                    <a:pt x="5415661" y="57404"/>
                    <a:pt x="5664708" y="40259"/>
                  </a:cubicBezTo>
                  <a:cubicBezTo>
                    <a:pt x="5680583" y="41783"/>
                    <a:pt x="5709158" y="123444"/>
                    <a:pt x="5803646" y="65024"/>
                  </a:cubicBezTo>
                  <a:cubicBezTo>
                    <a:pt x="5848731" y="93726"/>
                    <a:pt x="6070092" y="63373"/>
                    <a:pt x="6161278" y="0"/>
                  </a:cubicBezTo>
                  <a:cubicBezTo>
                    <a:pt x="6182741" y="2413"/>
                    <a:pt x="6292977" y="50419"/>
                    <a:pt x="6313424" y="7874"/>
                  </a:cubicBezTo>
                  <a:cubicBezTo>
                    <a:pt x="6405753" y="480187"/>
                    <a:pt x="6289675" y="967359"/>
                    <a:pt x="6351905" y="1457198"/>
                  </a:cubicBezTo>
                  <a:cubicBezTo>
                    <a:pt x="6322441" y="1836928"/>
                    <a:pt x="6344285" y="2161159"/>
                    <a:pt x="6344539" y="2579370"/>
                  </a:cubicBezTo>
                  <a:close/>
                </a:path>
              </a:pathLst>
            </a:custGeom>
            <a:blipFill>
              <a:blip r:embed="rId7"/>
              <a:stretch>
                <a:fillRect l="0" t="-5446" r="0" b="-6134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09192" y="1440856"/>
            <a:ext cx="8818723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pc="-252">
                <a:solidFill>
                  <a:srgbClr val="141112"/>
                </a:solidFill>
                <a:latin typeface="CMU Serif"/>
                <a:ea typeface="CMU Serif"/>
                <a:cs typeface="CMU Serif"/>
                <a:sym typeface="CMU Serif"/>
              </a:rPr>
              <a:t>El Enfoque Sistémico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37904" y="5704693"/>
            <a:ext cx="380761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41112"/>
                </a:solidFill>
                <a:latin typeface="Nourd Light"/>
                <a:ea typeface="Nourd Light"/>
                <a:cs typeface="Nourd Light"/>
                <a:sym typeface="Nourd Light"/>
              </a:rPr>
              <a:t>Teoría General de Sistema 1937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01300" y="2691363"/>
            <a:ext cx="5744223" cy="245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7"/>
              </a:lnSpc>
              <a:spcBef>
                <a:spcPct val="0"/>
              </a:spcBef>
            </a:pPr>
            <a:r>
              <a:rPr lang="en-US" sz="2834">
                <a:solidFill>
                  <a:srgbClr val="141112"/>
                </a:solidFill>
                <a:latin typeface="Nourd Light"/>
                <a:ea typeface="Nourd Light"/>
                <a:cs typeface="Nourd Light"/>
                <a:sym typeface="Nourd Light"/>
              </a:rPr>
              <a:t>Es una perspectiva que analiza los sistemas como un todo integrado, considerando las interrelaciones y dependencias entre sus componentes.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C0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250951" y="3087332"/>
            <a:ext cx="4429546" cy="4825215"/>
            <a:chOff x="0" y="0"/>
            <a:chExt cx="4197095" cy="457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24295" y="-86437"/>
              <a:ext cx="4273710" cy="4662895"/>
            </a:xfrm>
            <a:custGeom>
              <a:avLst/>
              <a:gdLst/>
              <a:ahLst/>
              <a:cxnLst/>
              <a:rect r="r" b="b" t="t" l="l"/>
              <a:pathLst>
                <a:path h="4662895" w="4273710">
                  <a:moveTo>
                    <a:pt x="67221" y="2844944"/>
                  </a:moveTo>
                  <a:cubicBezTo>
                    <a:pt x="22448" y="2400963"/>
                    <a:pt x="0" y="1929090"/>
                    <a:pt x="71114" y="1551846"/>
                  </a:cubicBezTo>
                  <a:cubicBezTo>
                    <a:pt x="150461" y="1130919"/>
                    <a:pt x="329910" y="716290"/>
                    <a:pt x="646904" y="428214"/>
                  </a:cubicBezTo>
                  <a:cubicBezTo>
                    <a:pt x="963898" y="140139"/>
                    <a:pt x="1432970" y="0"/>
                    <a:pt x="1836723" y="143018"/>
                  </a:cubicBezTo>
                  <a:cubicBezTo>
                    <a:pt x="2054627" y="220205"/>
                    <a:pt x="2260078" y="469731"/>
                    <a:pt x="2475923" y="552498"/>
                  </a:cubicBezTo>
                  <a:cubicBezTo>
                    <a:pt x="2799369" y="676525"/>
                    <a:pt x="3138090" y="460911"/>
                    <a:pt x="3464321" y="577415"/>
                  </a:cubicBezTo>
                  <a:cubicBezTo>
                    <a:pt x="3828455" y="707454"/>
                    <a:pt x="4121772" y="1116796"/>
                    <a:pt x="4197742" y="1495920"/>
                  </a:cubicBezTo>
                  <a:cubicBezTo>
                    <a:pt x="4273710" y="1875046"/>
                    <a:pt x="4148921" y="2219182"/>
                    <a:pt x="3863003" y="2479483"/>
                  </a:cubicBezTo>
                  <a:cubicBezTo>
                    <a:pt x="3502939" y="2807285"/>
                    <a:pt x="3004478" y="3058937"/>
                    <a:pt x="2650346" y="3393139"/>
                  </a:cubicBezTo>
                  <a:cubicBezTo>
                    <a:pt x="2348033" y="3678439"/>
                    <a:pt x="2162226" y="4015086"/>
                    <a:pt x="1817752" y="4247739"/>
                  </a:cubicBezTo>
                  <a:cubicBezTo>
                    <a:pt x="1452137" y="4494671"/>
                    <a:pt x="970647" y="4405437"/>
                    <a:pt x="634767" y="4150309"/>
                  </a:cubicBezTo>
                  <a:cubicBezTo>
                    <a:pt x="226878" y="3840483"/>
                    <a:pt x="116018" y="3328845"/>
                    <a:pt x="67221" y="2844944"/>
                  </a:cubicBezTo>
                  <a:close/>
                  <a:moveTo>
                    <a:pt x="3463856" y="4459325"/>
                  </a:moveTo>
                  <a:cubicBezTo>
                    <a:pt x="3632307" y="4347385"/>
                    <a:pt x="3856375" y="4353815"/>
                    <a:pt x="4012548" y="4229041"/>
                  </a:cubicBezTo>
                  <a:cubicBezTo>
                    <a:pt x="4155118" y="4115132"/>
                    <a:pt x="4234164" y="3923682"/>
                    <a:pt x="4195875" y="3744836"/>
                  </a:cubicBezTo>
                  <a:cubicBezTo>
                    <a:pt x="4133197" y="3452074"/>
                    <a:pt x="3808939" y="3299542"/>
                    <a:pt x="3537030" y="3398102"/>
                  </a:cubicBezTo>
                  <a:cubicBezTo>
                    <a:pt x="3157304" y="3535742"/>
                    <a:pt x="2773814" y="3927012"/>
                    <a:pt x="2668989" y="4319438"/>
                  </a:cubicBezTo>
                  <a:cubicBezTo>
                    <a:pt x="2617580" y="4511898"/>
                    <a:pt x="2769885" y="4621190"/>
                    <a:pt x="2939077" y="4651454"/>
                  </a:cubicBezTo>
                  <a:cubicBezTo>
                    <a:pt x="3003034" y="4662895"/>
                    <a:pt x="3061599" y="4659572"/>
                    <a:pt x="3116782" y="4646329"/>
                  </a:cubicBezTo>
                  <a:cubicBezTo>
                    <a:pt x="3242079" y="4616257"/>
                    <a:pt x="3349933" y="4535031"/>
                    <a:pt x="3463856" y="4459325"/>
                  </a:cubicBezTo>
                  <a:close/>
                </a:path>
              </a:pathLst>
            </a:custGeom>
            <a:blipFill>
              <a:blip r:embed="rId2"/>
              <a:stretch>
                <a:fillRect l="-43180" t="0" r="-26615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10"/>
              <a:ext cx="4197095" cy="4571979"/>
            </a:xfrm>
            <a:custGeom>
              <a:avLst/>
              <a:gdLst/>
              <a:ahLst/>
              <a:cxnLst/>
              <a:rect r="r" b="b" t="t" l="l"/>
              <a:pathLst>
                <a:path h="4571979" w="4197095">
                  <a:moveTo>
                    <a:pt x="4197095" y="4571980"/>
                  </a:moveTo>
                  <a:lnTo>
                    <a:pt x="0" y="4571980"/>
                  </a:lnTo>
                  <a:lnTo>
                    <a:pt x="0" y="0"/>
                  </a:lnTo>
                  <a:lnTo>
                    <a:pt x="4197095" y="0"/>
                  </a:lnTo>
                  <a:lnTo>
                    <a:pt x="4197095" y="4571980"/>
                  </a:lnTo>
                  <a:close/>
                </a:path>
              </a:pathLst>
            </a:custGeom>
            <a:blipFill>
              <a:blip r:embed="rId3"/>
              <a:stretch>
                <a:fillRect l="-40" t="0" r="-40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061556" y="3354466"/>
            <a:ext cx="5642238" cy="4548146"/>
            <a:chOff x="0" y="0"/>
            <a:chExt cx="4605527" cy="37124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5527" cy="3712464"/>
            </a:xfrm>
            <a:custGeom>
              <a:avLst/>
              <a:gdLst/>
              <a:ahLst/>
              <a:cxnLst/>
              <a:rect r="r" b="b" t="t" l="l"/>
              <a:pathLst>
                <a:path h="3712464" w="4605527">
                  <a:moveTo>
                    <a:pt x="4605527" y="3712464"/>
                  </a:moveTo>
                  <a:lnTo>
                    <a:pt x="0" y="3712464"/>
                  </a:lnTo>
                  <a:lnTo>
                    <a:pt x="0" y="0"/>
                  </a:lnTo>
                  <a:lnTo>
                    <a:pt x="4605527" y="0"/>
                  </a:lnTo>
                  <a:lnTo>
                    <a:pt x="4605527" y="3712464"/>
                  </a:lnTo>
                  <a:close/>
                </a:path>
              </a:pathLst>
            </a:custGeom>
            <a:blipFill>
              <a:blip r:embed="rId4"/>
              <a:stretch>
                <a:fillRect l="-67" t="0" r="-67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4741" y="-24384"/>
              <a:ext cx="4526947" cy="3651107"/>
            </a:xfrm>
            <a:custGeom>
              <a:avLst/>
              <a:gdLst/>
              <a:ahLst/>
              <a:cxnLst/>
              <a:rect r="r" b="b" t="t" l="l"/>
              <a:pathLst>
                <a:path h="3651107" w="4526947">
                  <a:moveTo>
                    <a:pt x="2641386" y="3618544"/>
                  </a:moveTo>
                  <a:cubicBezTo>
                    <a:pt x="2240620" y="3651108"/>
                    <a:pt x="1838727" y="3569536"/>
                    <a:pt x="1453413" y="3454612"/>
                  </a:cubicBezTo>
                  <a:cubicBezTo>
                    <a:pt x="1161920" y="3367672"/>
                    <a:pt x="870095" y="3257995"/>
                    <a:pt x="635273" y="3064637"/>
                  </a:cubicBezTo>
                  <a:cubicBezTo>
                    <a:pt x="300543" y="2789014"/>
                    <a:pt x="112896" y="2363359"/>
                    <a:pt x="58919" y="1933123"/>
                  </a:cubicBezTo>
                  <a:cubicBezTo>
                    <a:pt x="0" y="1463506"/>
                    <a:pt x="97051" y="962320"/>
                    <a:pt x="389363" y="590080"/>
                  </a:cubicBezTo>
                  <a:cubicBezTo>
                    <a:pt x="681674" y="217839"/>
                    <a:pt x="1184181" y="0"/>
                    <a:pt x="1644781" y="108864"/>
                  </a:cubicBezTo>
                  <a:cubicBezTo>
                    <a:pt x="1961698" y="183769"/>
                    <a:pt x="2227591" y="396412"/>
                    <a:pt x="2459922" y="624599"/>
                  </a:cubicBezTo>
                  <a:cubicBezTo>
                    <a:pt x="2692255" y="852789"/>
                    <a:pt x="2905450" y="1104561"/>
                    <a:pt x="3173128" y="1290023"/>
                  </a:cubicBezTo>
                  <a:cubicBezTo>
                    <a:pt x="3393050" y="1442396"/>
                    <a:pt x="3643019" y="1545182"/>
                    <a:pt x="3874124" y="1679990"/>
                  </a:cubicBezTo>
                  <a:cubicBezTo>
                    <a:pt x="4105232" y="1814798"/>
                    <a:pt x="4325731" y="1992340"/>
                    <a:pt x="4432106" y="2237839"/>
                  </a:cubicBezTo>
                  <a:cubicBezTo>
                    <a:pt x="4526947" y="2456722"/>
                    <a:pt x="4479206" y="2666180"/>
                    <a:pt x="4356655" y="2859725"/>
                  </a:cubicBezTo>
                  <a:cubicBezTo>
                    <a:pt x="4333250" y="2896688"/>
                    <a:pt x="4308155" y="2931855"/>
                    <a:pt x="4281520" y="2965317"/>
                  </a:cubicBezTo>
                  <a:cubicBezTo>
                    <a:pt x="3903003" y="3440859"/>
                    <a:pt x="3213362" y="3572068"/>
                    <a:pt x="2641386" y="3618544"/>
                  </a:cubicBezTo>
                  <a:close/>
                  <a:moveTo>
                    <a:pt x="4223409" y="1187779"/>
                  </a:moveTo>
                  <a:cubicBezTo>
                    <a:pt x="4291389" y="1161310"/>
                    <a:pt x="4355485" y="1108141"/>
                    <a:pt x="4362212" y="1031173"/>
                  </a:cubicBezTo>
                  <a:cubicBezTo>
                    <a:pt x="4365996" y="987881"/>
                    <a:pt x="4355004" y="944757"/>
                    <a:pt x="4342804" y="903049"/>
                  </a:cubicBezTo>
                  <a:cubicBezTo>
                    <a:pt x="4247225" y="576292"/>
                    <a:pt x="4015401" y="20573"/>
                    <a:pt x="3585291" y="86123"/>
                  </a:cubicBezTo>
                  <a:cubicBezTo>
                    <a:pt x="3477023" y="102624"/>
                    <a:pt x="3376057" y="151054"/>
                    <a:pt x="3282599" y="208149"/>
                  </a:cubicBezTo>
                  <a:cubicBezTo>
                    <a:pt x="3172632" y="275330"/>
                    <a:pt x="3062352" y="368672"/>
                    <a:pt x="3044759" y="496331"/>
                  </a:cubicBezTo>
                  <a:cubicBezTo>
                    <a:pt x="3027857" y="618964"/>
                    <a:pt x="3102238" y="735455"/>
                    <a:pt x="3186304" y="826324"/>
                  </a:cubicBezTo>
                  <a:cubicBezTo>
                    <a:pt x="3332401" y="984246"/>
                    <a:pt x="3530408" y="1091965"/>
                    <a:pt x="3737932" y="1144730"/>
                  </a:cubicBezTo>
                  <a:cubicBezTo>
                    <a:pt x="3858914" y="1175490"/>
                    <a:pt x="3992751" y="1213094"/>
                    <a:pt x="4118093" y="1209270"/>
                  </a:cubicBezTo>
                  <a:cubicBezTo>
                    <a:pt x="4153352" y="1208193"/>
                    <a:pt x="4189754" y="1200880"/>
                    <a:pt x="4223409" y="1187779"/>
                  </a:cubicBezTo>
                  <a:close/>
                </a:path>
              </a:pathLst>
            </a:custGeom>
            <a:blipFill>
              <a:blip r:embed="rId5"/>
              <a:stretch>
                <a:fillRect l="-42119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734657"/>
            <a:ext cx="16230600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  <a:spcBef>
                <a:spcPct val="0"/>
              </a:spcBef>
            </a:pPr>
            <a:r>
              <a:rPr lang="en-US" sz="9000" spc="-315">
                <a:solidFill>
                  <a:srgbClr val="141112"/>
                </a:solidFill>
                <a:latin typeface="CMU Serif"/>
                <a:ea typeface="CMU Serif"/>
                <a:cs typeface="CMU Serif"/>
                <a:sym typeface="CMU Serif"/>
              </a:rPr>
              <a:t>Sistema y Tecnologías de la Información para la Gestión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425780" y="8444361"/>
            <a:ext cx="6079888" cy="1627877"/>
            <a:chOff x="0" y="0"/>
            <a:chExt cx="8106518" cy="217050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353382" y="1654883"/>
              <a:ext cx="5399754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6675"/>
              <a:ext cx="8106518" cy="1386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900" spc="-136">
                  <a:solidFill>
                    <a:srgbClr val="141112"/>
                  </a:solidFill>
                  <a:latin typeface="CMU Serif"/>
                  <a:ea typeface="CMU Serif"/>
                  <a:cs typeface="CMU Serif"/>
                  <a:sym typeface="CMU Serif"/>
                </a:rPr>
                <a:t>Los sistemas de información gerencial (SIG)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07429" y="8169312"/>
            <a:ext cx="5950492" cy="1627877"/>
            <a:chOff x="0" y="0"/>
            <a:chExt cx="7933989" cy="217050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324578" y="1654883"/>
              <a:ext cx="5284833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6675"/>
              <a:ext cx="7933989" cy="1386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900" spc="-136">
                  <a:solidFill>
                    <a:srgbClr val="141112"/>
                  </a:solidFill>
                  <a:latin typeface="CMU Serif"/>
                  <a:ea typeface="CMU Serif"/>
                  <a:cs typeface="CMU Serif"/>
                  <a:sym typeface="CMU Serif"/>
                </a:rPr>
                <a:t>La tecnología de la información (TI)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C0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523612" y="876856"/>
            <a:ext cx="6534348" cy="5246370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39006" r="0" b="-39006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06728" y="5653417"/>
            <a:ext cx="8416408" cy="4180149"/>
            <a:chOff x="0" y="0"/>
            <a:chExt cx="19050000" cy="9461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38074" y="404876"/>
              <a:ext cx="18373979" cy="8616823"/>
            </a:xfrm>
            <a:custGeom>
              <a:avLst/>
              <a:gdLst/>
              <a:ahLst/>
              <a:cxnLst/>
              <a:rect r="r" b="b" t="t" l="l"/>
              <a:pathLst>
                <a:path h="8616823" w="18373979">
                  <a:moveTo>
                    <a:pt x="17339945" y="8616823"/>
                  </a:moveTo>
                  <a:lnTo>
                    <a:pt x="1033907" y="8616823"/>
                  </a:lnTo>
                  <a:cubicBezTo>
                    <a:pt x="462915" y="8616823"/>
                    <a:pt x="0" y="8153908"/>
                    <a:pt x="0" y="7582916"/>
                  </a:cubicBezTo>
                  <a:lnTo>
                    <a:pt x="0" y="1033907"/>
                  </a:lnTo>
                  <a:cubicBezTo>
                    <a:pt x="0" y="462915"/>
                    <a:pt x="462915" y="0"/>
                    <a:pt x="1033907" y="0"/>
                  </a:cubicBezTo>
                  <a:lnTo>
                    <a:pt x="17340072" y="0"/>
                  </a:lnTo>
                  <a:cubicBezTo>
                    <a:pt x="17911063" y="0"/>
                    <a:pt x="18373979" y="462915"/>
                    <a:pt x="18373979" y="1033907"/>
                  </a:cubicBezTo>
                  <a:lnTo>
                    <a:pt x="18373979" y="7582916"/>
                  </a:lnTo>
                  <a:cubicBezTo>
                    <a:pt x="18373852" y="8153908"/>
                    <a:pt x="17910938" y="8616823"/>
                    <a:pt x="17339945" y="8616823"/>
                  </a:cubicBezTo>
                  <a:close/>
                </a:path>
              </a:pathLst>
            </a:custGeom>
            <a:blipFill>
              <a:blip r:embed="rId3"/>
              <a:stretch>
                <a:fillRect l="0" t="-9972" r="0" b="-9972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000" cy="9461500"/>
            </a:xfrm>
            <a:custGeom>
              <a:avLst/>
              <a:gdLst/>
              <a:ahLst/>
              <a:cxnLst/>
              <a:rect r="r" b="b" t="t" l="l"/>
              <a:pathLst>
                <a:path h="94615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9461500"/>
                  </a:lnTo>
                  <a:lnTo>
                    <a:pt x="0" y="946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" t="0" r="-4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06728" y="2007995"/>
            <a:ext cx="8401118" cy="280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pc="-252">
                <a:solidFill>
                  <a:srgbClr val="141112"/>
                </a:solidFill>
                <a:latin typeface="CMU Serif"/>
                <a:ea typeface="CMU Serif"/>
                <a:cs typeface="CMU Serif"/>
                <a:sym typeface="CMU Serif"/>
              </a:rPr>
              <a:t>Planificación de la Información en la Organización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C0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70700" y="3130435"/>
            <a:ext cx="2935419" cy="2834013"/>
          </a:xfrm>
          <a:custGeom>
            <a:avLst/>
            <a:gdLst/>
            <a:ahLst/>
            <a:cxnLst/>
            <a:rect r="r" b="b" t="t" l="l"/>
            <a:pathLst>
              <a:path h="2834013" w="2935419">
                <a:moveTo>
                  <a:pt x="0" y="0"/>
                </a:moveTo>
                <a:lnTo>
                  <a:pt x="2935419" y="0"/>
                </a:lnTo>
                <a:lnTo>
                  <a:pt x="2935419" y="2834013"/>
                </a:lnTo>
                <a:lnTo>
                  <a:pt x="0" y="2834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530747" y="4153721"/>
            <a:ext cx="2935419" cy="2834013"/>
          </a:xfrm>
          <a:custGeom>
            <a:avLst/>
            <a:gdLst/>
            <a:ahLst/>
            <a:cxnLst/>
            <a:rect r="r" b="b" t="t" l="l"/>
            <a:pathLst>
              <a:path h="2834013" w="2935419">
                <a:moveTo>
                  <a:pt x="0" y="0"/>
                </a:moveTo>
                <a:lnTo>
                  <a:pt x="2935419" y="0"/>
                </a:lnTo>
                <a:lnTo>
                  <a:pt x="2935419" y="2834014"/>
                </a:lnTo>
                <a:lnTo>
                  <a:pt x="0" y="2834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655713" y="3130435"/>
            <a:ext cx="2935419" cy="2834013"/>
          </a:xfrm>
          <a:custGeom>
            <a:avLst/>
            <a:gdLst/>
            <a:ahLst/>
            <a:cxnLst/>
            <a:rect r="r" b="b" t="t" l="l"/>
            <a:pathLst>
              <a:path h="2834013" w="2935419">
                <a:moveTo>
                  <a:pt x="0" y="0"/>
                </a:moveTo>
                <a:lnTo>
                  <a:pt x="2935419" y="0"/>
                </a:lnTo>
                <a:lnTo>
                  <a:pt x="2935419" y="2834013"/>
                </a:lnTo>
                <a:lnTo>
                  <a:pt x="0" y="2834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2082591" y="3380858"/>
            <a:ext cx="3537806" cy="35378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7901" t="0" r="-17901" b="0"/>
              </a:stretch>
            </a:blipFill>
            <a:ln w="19050" cap="sq">
              <a:solidFill>
                <a:srgbClr val="67603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375097" y="3380858"/>
            <a:ext cx="3537806" cy="353780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9050" cap="sq">
              <a:solidFill>
                <a:srgbClr val="67603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667604" y="3380858"/>
            <a:ext cx="3537806" cy="35378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-77935" b="0"/>
              </a:stretch>
            </a:blipFill>
            <a:ln w="19050" cap="sq">
              <a:solidFill>
                <a:srgbClr val="676039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02058" y="7303543"/>
            <a:ext cx="5098871" cy="1880607"/>
            <a:chOff x="0" y="0"/>
            <a:chExt cx="6798494" cy="250747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2013658"/>
              <a:ext cx="6798494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6675"/>
              <a:ext cx="6798494" cy="1762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99"/>
                </a:lnSpc>
                <a:spcBef>
                  <a:spcPct val="0"/>
                </a:spcBef>
              </a:pPr>
              <a:r>
                <a:rPr lang="en-US" sz="3399" spc="-118">
                  <a:solidFill>
                    <a:srgbClr val="141112"/>
                  </a:solidFill>
                  <a:latin typeface="CMU Serif"/>
                  <a:ea typeface="CMU Serif"/>
                  <a:cs typeface="CMU Serif"/>
                  <a:sym typeface="CMU Serif"/>
                </a:rPr>
                <a:t>"El enfoque sistémico y sistemático en un proyecto" - INCAE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94565" y="7303543"/>
            <a:ext cx="5098871" cy="2309232"/>
            <a:chOff x="0" y="0"/>
            <a:chExt cx="6798494" cy="307897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2585158"/>
              <a:ext cx="6798494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6675"/>
              <a:ext cx="6798494" cy="2334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99"/>
                </a:lnSpc>
                <a:spcBef>
                  <a:spcPct val="0"/>
                </a:spcBef>
              </a:pPr>
              <a:r>
                <a:rPr lang="en-US" sz="3399" spc="-118">
                  <a:solidFill>
                    <a:srgbClr val="141112"/>
                  </a:solidFill>
                  <a:latin typeface="CMU Serif"/>
                  <a:ea typeface="CMU Serif"/>
                  <a:cs typeface="CMU Serif"/>
                  <a:sym typeface="CMU Serif"/>
                </a:rPr>
                <a:t>"Pensamiento sistémico y dinámica de sistemas para el análisis de políticas públicas" - CIDE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071" y="7303543"/>
            <a:ext cx="5098871" cy="2309232"/>
            <a:chOff x="0" y="0"/>
            <a:chExt cx="6798494" cy="307897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2585158"/>
              <a:ext cx="6798494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6675"/>
              <a:ext cx="6798494" cy="2334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99"/>
                </a:lnSpc>
                <a:spcBef>
                  <a:spcPct val="0"/>
                </a:spcBef>
              </a:pPr>
              <a:r>
                <a:rPr lang="en-US" sz="3399" spc="-118">
                  <a:solidFill>
                    <a:srgbClr val="141112"/>
                  </a:solidFill>
                  <a:latin typeface="CMU Serif"/>
                  <a:ea typeface="CMU Serif"/>
                  <a:cs typeface="CMU Serif"/>
                  <a:sym typeface="CMU Serif"/>
                </a:rPr>
                <a:t>"El Pensamiento Sistémico y la Teoría General de Sistemas en la Educación" - Ponencia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1152525"/>
            <a:ext cx="16230600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7200" spc="-252">
                <a:solidFill>
                  <a:srgbClr val="141112"/>
                </a:solidFill>
                <a:latin typeface="CMU Serif"/>
                <a:ea typeface="CMU Serif"/>
                <a:cs typeface="CMU Serif"/>
                <a:sym typeface="CMU Serif"/>
              </a:rPr>
              <a:t>Ejemplos Prácticos y Casos de Estudio del Enfoque Sistémico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C0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466690"/>
            <a:ext cx="16230600" cy="6731241"/>
            <a:chOff x="0" y="0"/>
            <a:chExt cx="195985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9851" cy="812800"/>
            </a:xfrm>
            <a:custGeom>
              <a:avLst/>
              <a:gdLst/>
              <a:ahLst/>
              <a:cxnLst/>
              <a:rect r="r" b="b" t="t" l="l"/>
              <a:pathLst>
                <a:path h="812800" w="1959851">
                  <a:moveTo>
                    <a:pt x="47700" y="0"/>
                  </a:moveTo>
                  <a:lnTo>
                    <a:pt x="1912152" y="0"/>
                  </a:lnTo>
                  <a:cubicBezTo>
                    <a:pt x="1924802" y="0"/>
                    <a:pt x="1936935" y="5025"/>
                    <a:pt x="1945880" y="13971"/>
                  </a:cubicBezTo>
                  <a:cubicBezTo>
                    <a:pt x="1954826" y="22916"/>
                    <a:pt x="1959851" y="35049"/>
                    <a:pt x="1959851" y="47700"/>
                  </a:cubicBezTo>
                  <a:lnTo>
                    <a:pt x="1959851" y="765100"/>
                  </a:lnTo>
                  <a:cubicBezTo>
                    <a:pt x="1959851" y="777751"/>
                    <a:pt x="1954826" y="789884"/>
                    <a:pt x="1945880" y="798829"/>
                  </a:cubicBezTo>
                  <a:cubicBezTo>
                    <a:pt x="1936935" y="807775"/>
                    <a:pt x="1924802" y="812800"/>
                    <a:pt x="1912152" y="812800"/>
                  </a:cubicBezTo>
                  <a:lnTo>
                    <a:pt x="47700" y="812800"/>
                  </a:lnTo>
                  <a:cubicBezTo>
                    <a:pt x="35049" y="812800"/>
                    <a:pt x="22916" y="807775"/>
                    <a:pt x="13971" y="798829"/>
                  </a:cubicBezTo>
                  <a:cubicBezTo>
                    <a:pt x="5025" y="789884"/>
                    <a:pt x="0" y="777751"/>
                    <a:pt x="0" y="765100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9538" r="0" b="-2812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1015830" y="-209481"/>
            <a:ext cx="1638439" cy="4114800"/>
          </a:xfrm>
          <a:custGeom>
            <a:avLst/>
            <a:gdLst/>
            <a:ahLst/>
            <a:cxnLst/>
            <a:rect r="r" b="b" t="t" l="l"/>
            <a:pathLst>
              <a:path h="4114800" w="1638439">
                <a:moveTo>
                  <a:pt x="0" y="0"/>
                </a:moveTo>
                <a:lnTo>
                  <a:pt x="1638438" y="0"/>
                </a:lnTo>
                <a:lnTo>
                  <a:pt x="16384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5938666" y="5779006"/>
            <a:ext cx="1638439" cy="4114800"/>
          </a:xfrm>
          <a:custGeom>
            <a:avLst/>
            <a:gdLst/>
            <a:ahLst/>
            <a:cxnLst/>
            <a:rect r="r" b="b" t="t" l="l"/>
            <a:pathLst>
              <a:path h="4114800" w="1638439">
                <a:moveTo>
                  <a:pt x="0" y="0"/>
                </a:moveTo>
                <a:lnTo>
                  <a:pt x="1638438" y="0"/>
                </a:lnTo>
                <a:lnTo>
                  <a:pt x="16384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825604" y="7982956"/>
            <a:ext cx="10636792" cy="138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01"/>
              </a:lnSpc>
              <a:spcBef>
                <a:spcPct val="0"/>
              </a:spcBef>
            </a:pPr>
            <a:r>
              <a:rPr lang="en-US" sz="8072">
                <a:solidFill>
                  <a:srgbClr val="141112"/>
                </a:solidFill>
                <a:latin typeface="Nourd Light"/>
                <a:ea typeface="Nourd Light"/>
                <a:cs typeface="Nourd Light"/>
                <a:sym typeface="Nourd Light"/>
              </a:rPr>
              <a:t>Conclusión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DAGf-EF53B0</dc:identifier>
  <dcterms:modified xsi:type="dcterms:W3CDTF">2011-08-01T06:04:30Z</dcterms:modified>
  <cp:revision>1</cp:revision>
  <dc:title>Enfoque Sistémico</dc:title>
</cp:coreProperties>
</file>