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lay Bold" charset="1" panose="00000800000000000000"/>
      <p:regular r:id="rId13"/>
    </p:embeddedFont>
    <p:embeddedFont>
      <p:font typeface="Play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10084"/>
            <a:ext cx="512732" cy="512732"/>
          </a:xfrm>
          <a:custGeom>
            <a:avLst/>
            <a:gdLst/>
            <a:ahLst/>
            <a:cxnLst/>
            <a:rect r="r" b="b" t="t" l="l"/>
            <a:pathLst>
              <a:path h="512732" w="512732">
                <a:moveTo>
                  <a:pt x="0" y="0"/>
                </a:moveTo>
                <a:lnTo>
                  <a:pt x="512732" y="0"/>
                </a:lnTo>
                <a:lnTo>
                  <a:pt x="512732" y="512732"/>
                </a:lnTo>
                <a:lnTo>
                  <a:pt x="0" y="512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11000" y="1841363"/>
            <a:ext cx="6576000" cy="6824151"/>
          </a:xfrm>
          <a:custGeom>
            <a:avLst/>
            <a:gdLst/>
            <a:ahLst/>
            <a:cxnLst/>
            <a:rect r="r" b="b" t="t" l="l"/>
            <a:pathLst>
              <a:path h="6824151" w="6576000">
                <a:moveTo>
                  <a:pt x="0" y="0"/>
                </a:moveTo>
                <a:lnTo>
                  <a:pt x="6576000" y="0"/>
                </a:lnTo>
                <a:lnTo>
                  <a:pt x="6576000" y="6824152"/>
                </a:lnTo>
                <a:lnTo>
                  <a:pt x="0" y="6824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0687" y="5406905"/>
            <a:ext cx="13098803" cy="4663440"/>
            <a:chOff x="0" y="0"/>
            <a:chExt cx="1141508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1508" cy="406400"/>
            </a:xfrm>
            <a:custGeom>
              <a:avLst/>
              <a:gdLst/>
              <a:ahLst/>
              <a:cxnLst/>
              <a:rect r="r" b="b" t="t" l="l"/>
              <a:pathLst>
                <a:path h="406400" w="1141508">
                  <a:moveTo>
                    <a:pt x="1141508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1141508" y="406400"/>
                  </a:lnTo>
                  <a:lnTo>
                    <a:pt x="1039908" y="203200"/>
                  </a:lnTo>
                  <a:lnTo>
                    <a:pt x="1141508" y="0"/>
                  </a:lnTo>
                  <a:close/>
                </a:path>
              </a:pathLst>
            </a:custGeom>
            <a:blipFill>
              <a:blip r:embed="rId6"/>
              <a:stretch>
                <a:fillRect l="0" t="-17926" r="0" b="-6847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8661" y="1841363"/>
            <a:ext cx="11895438" cy="2825333"/>
            <a:chOff x="0" y="0"/>
            <a:chExt cx="15860584" cy="376711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2875"/>
              <a:ext cx="15860584" cy="2847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55"/>
                </a:lnSpc>
              </a:pPr>
              <a:r>
                <a:rPr lang="en-US" b="true" sz="8055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Soberanía, Territorio y Petróleo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41065"/>
              <a:ext cx="14552117" cy="526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73136" y="8618348"/>
            <a:ext cx="5032191" cy="145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18"/>
              </a:lnSpc>
            </a:pPr>
            <a:r>
              <a:rPr lang="en-US" sz="208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Ang</a:t>
            </a:r>
            <a:r>
              <a:rPr lang="en-US" sz="208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el Peña 24.349.651</a:t>
            </a:r>
          </a:p>
          <a:p>
            <a:pPr algn="r" marL="0" indent="0" lvl="0">
              <a:lnSpc>
                <a:spcPts val="2918"/>
              </a:lnSpc>
            </a:pPr>
            <a:r>
              <a:rPr lang="en-US" sz="208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Gladys Vielma 15.174.323</a:t>
            </a:r>
          </a:p>
          <a:p>
            <a:pPr algn="r" marL="0" indent="0" lvl="0">
              <a:lnSpc>
                <a:spcPts val="2918"/>
              </a:lnSpc>
            </a:pPr>
            <a:r>
              <a:rPr lang="en-US" sz="208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Maria Victoria Meza 15.031.343</a:t>
            </a:r>
          </a:p>
          <a:p>
            <a:pPr algn="r" marL="0" indent="0" lvl="0">
              <a:lnSpc>
                <a:spcPts val="2918"/>
              </a:lnSpc>
            </a:pPr>
            <a:r>
              <a:rPr lang="en-US" sz="208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Ruben Ramirez 16.020.185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2927557" y="7913536"/>
            <a:ext cx="1952122" cy="0"/>
          </a:xfrm>
          <a:prstGeom prst="line">
            <a:avLst/>
          </a:prstGeom>
          <a:ln cap="rnd" w="9525">
            <a:solidFill>
              <a:srgbClr val="F1E4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400000">
            <a:off x="-239844" y="7913536"/>
            <a:ext cx="1952122" cy="0"/>
          </a:xfrm>
          <a:prstGeom prst="line">
            <a:avLst/>
          </a:prstGeom>
          <a:ln cap="rnd" w="9525">
            <a:solidFill>
              <a:srgbClr val="F1E4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400000">
            <a:off x="6234015" y="7913536"/>
            <a:ext cx="1952122" cy="0"/>
          </a:xfrm>
          <a:prstGeom prst="line">
            <a:avLst/>
          </a:prstGeom>
          <a:ln cap="rnd" w="9525">
            <a:solidFill>
              <a:srgbClr val="F1E4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400000">
            <a:off x="9679530" y="7913536"/>
            <a:ext cx="1952122" cy="0"/>
          </a:xfrm>
          <a:prstGeom prst="line">
            <a:avLst/>
          </a:prstGeom>
          <a:ln cap="rnd" w="9525">
            <a:solidFill>
              <a:srgbClr val="F1E4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13387707" y="7834545"/>
            <a:ext cx="1952122" cy="0"/>
          </a:xfrm>
          <a:prstGeom prst="line">
            <a:avLst/>
          </a:prstGeom>
          <a:ln cap="rnd" w="9525">
            <a:solidFill>
              <a:srgbClr val="F1E4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292185" y="1396962"/>
            <a:ext cx="6189380" cy="4917522"/>
          </a:xfrm>
          <a:custGeom>
            <a:avLst/>
            <a:gdLst/>
            <a:ahLst/>
            <a:cxnLst/>
            <a:rect r="r" b="b" t="t" l="l"/>
            <a:pathLst>
              <a:path h="4917522" w="6189380">
                <a:moveTo>
                  <a:pt x="0" y="0"/>
                </a:moveTo>
                <a:lnTo>
                  <a:pt x="6189380" y="0"/>
                </a:lnTo>
                <a:lnTo>
                  <a:pt x="6189380" y="4917523"/>
                </a:lnTo>
                <a:lnTo>
                  <a:pt x="0" y="4917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50" t="0" r="-2945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028700"/>
            <a:ext cx="9445425" cy="2551380"/>
            <a:chOff x="0" y="0"/>
            <a:chExt cx="12593899" cy="340183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2400"/>
              <a:ext cx="12593899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9000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Introduccion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20926"/>
              <a:ext cx="12593899" cy="13809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160"/>
                </a:lnSpc>
                <a:buFont typeface="Arial"/>
                <a:buChar char="•"/>
              </a:pP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La s</a:t>
              </a: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oberanía es la capacidad del Estado de ejercer control sobre su territorio y recursos.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834671"/>
            <a:ext cx="2298127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Dime</a:t>
            </a: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nsión territorial de la soberanía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8746" y="6851181"/>
            <a:ext cx="2617503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Re</a:t>
            </a: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cursos naturales de Venezuela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1998" y="6851181"/>
            <a:ext cx="2793159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El p</a:t>
            </a: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etróleo en la historia venezolana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8991" y="6851181"/>
            <a:ext cx="2888972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Ej</a:t>
            </a: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ercicio de la soberanía sobre los recursos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1797" y="6834671"/>
            <a:ext cx="2617503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</a:t>
            </a:r>
            <a:r>
              <a:rPr lang="en-US" sz="260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etos actuales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387106"/>
            <a:ext cx="9445425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Exploraremos: territorio, recursos naturales y ejercicio soberano.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729328"/>
            <a:ext cx="9445425" cy="156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15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En Venezuela, esta soberanía se refleja en el dominio sobre su geografía y riquezas naturales, especialmente el petróleo.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2381" y="1291136"/>
            <a:ext cx="8062697" cy="8697413"/>
            <a:chOff x="0" y="0"/>
            <a:chExt cx="10750262" cy="115965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10750262" cy="2166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</a:pPr>
              <a:r>
                <a:rPr lang="en-US" sz="50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Dimen</a:t>
              </a:r>
              <a:r>
                <a:rPr lang="en-US" sz="50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sión territorial de la soberanía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043921"/>
              <a:ext cx="10750262" cy="7667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160"/>
                </a:lnSpc>
                <a:buFont typeface="Arial"/>
                <a:buChar char="•"/>
              </a:pP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Compre</a:t>
              </a: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nde tierra, mar, aire y subsuelo.</a:t>
              </a:r>
            </a:p>
            <a:p>
              <a:pPr algn="l">
                <a:lnSpc>
                  <a:spcPts val="4160"/>
                </a:lnSpc>
              </a:pPr>
            </a:p>
            <a:p>
              <a:pPr algn="l" marL="690881" indent="-345440" lvl="1">
                <a:lnSpc>
                  <a:spcPts val="4160"/>
                </a:lnSpc>
                <a:buFont typeface="Arial"/>
                <a:buChar char="•"/>
              </a:pP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Venezuela tiene 23 estados, Distrito Capital y áreas en disputa.</a:t>
              </a:r>
            </a:p>
            <a:p>
              <a:pPr algn="l">
                <a:lnSpc>
                  <a:spcPts val="4160"/>
                </a:lnSpc>
              </a:pPr>
            </a:p>
            <a:p>
              <a:pPr algn="l" marL="690881" indent="-345440" lvl="1">
                <a:lnSpc>
                  <a:spcPts val="4160"/>
                </a:lnSpc>
                <a:buFont typeface="Arial"/>
                <a:buChar char="•"/>
              </a:pP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Caso especial: Territorio Esequibo, en disputa con Guyana.</a:t>
              </a:r>
            </a:p>
            <a:p>
              <a:pPr algn="l">
                <a:lnSpc>
                  <a:spcPts val="4160"/>
                </a:lnSpc>
              </a:pPr>
            </a:p>
            <a:p>
              <a:pPr algn="l" marL="690881" indent="-345440" lvl="1">
                <a:lnSpc>
                  <a:spcPts val="4160"/>
                </a:lnSpc>
                <a:buFont typeface="Arial"/>
                <a:buChar char="•"/>
              </a:pPr>
              <a:r>
                <a:rPr lang="en-US" sz="3200">
                  <a:solidFill>
                    <a:srgbClr val="F4F7F8"/>
                  </a:solidFill>
                  <a:latin typeface="Play"/>
                  <a:ea typeface="Play"/>
                  <a:cs typeface="Play"/>
                  <a:sym typeface="Play"/>
                </a:rPr>
                <a:t>La soberanía territorial permite controlar y defender el espacio nacional.</a:t>
              </a:r>
            </a:p>
            <a:p>
              <a:pPr algn="l" marL="0" indent="0" lvl="0">
                <a:lnSpc>
                  <a:spcPts val="416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087915"/>
              <a:ext cx="10750262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2546225"/>
              <a:ext cx="10750262" cy="0"/>
            </a:xfrm>
            <a:prstGeom prst="line">
              <a:avLst/>
            </a:prstGeom>
            <a:ln cap="rnd" w="12700">
              <a:solidFill>
                <a:srgbClr val="F1E4D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8627044" cy="10287000"/>
            <a:chOff x="0" y="0"/>
            <a:chExt cx="993191" cy="11842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3191" cy="1184294"/>
            </a:xfrm>
            <a:custGeom>
              <a:avLst/>
              <a:gdLst/>
              <a:ahLst/>
              <a:cxnLst/>
              <a:rect r="r" b="b" t="t" l="l"/>
              <a:pathLst>
                <a:path h="1184294" w="993191">
                  <a:moveTo>
                    <a:pt x="0" y="0"/>
                  </a:moveTo>
                  <a:lnTo>
                    <a:pt x="993191" y="0"/>
                  </a:lnTo>
                  <a:lnTo>
                    <a:pt x="993191" y="1184294"/>
                  </a:lnTo>
                  <a:lnTo>
                    <a:pt x="0" y="1184294"/>
                  </a:lnTo>
                  <a:close/>
                </a:path>
              </a:pathLst>
            </a:custGeom>
            <a:blipFill>
              <a:blip r:embed="rId2"/>
              <a:stretch>
                <a:fillRect l="-2369" t="0" r="-1908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196" y="634105"/>
            <a:ext cx="6912098" cy="181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84"/>
              </a:lnSpc>
            </a:pPr>
            <a:r>
              <a:rPr lang="en-US" b="true" sz="598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R</a:t>
            </a:r>
            <a:r>
              <a:rPr lang="en-US" b="true" sz="598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ecursos naturales de Venezuela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4898" y="3058773"/>
            <a:ext cx="9144000" cy="6987467"/>
            <a:chOff x="0" y="0"/>
            <a:chExt cx="12192000" cy="931662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12192000" cy="8351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3816" indent="-346908" lvl="1">
                <a:lnSpc>
                  <a:spcPts val="4177"/>
                </a:lnSpc>
                <a:buFont typeface="Arial"/>
                <a:buChar char="•"/>
              </a:pPr>
              <a:r>
                <a:rPr lang="en-US" b="true" sz="3213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Riquez</a:t>
              </a:r>
              <a:r>
                <a:rPr lang="en-US" b="true" sz="3213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a en: oro, gas, hierro, agua dulce, biodiversidad...</a:t>
              </a:r>
            </a:p>
            <a:p>
              <a:pPr algn="l">
                <a:lnSpc>
                  <a:spcPts val="4177"/>
                </a:lnSpc>
              </a:pPr>
            </a:p>
            <a:p>
              <a:pPr algn="l" marL="693816" indent="-346908" lvl="1">
                <a:lnSpc>
                  <a:spcPts val="4177"/>
                </a:lnSpc>
                <a:buFont typeface="Arial"/>
                <a:buChar char="•"/>
              </a:pPr>
              <a:r>
                <a:rPr lang="en-US" b="true" sz="3213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Recurso clave: Petróleo (mayores reservas del mundo).</a:t>
              </a:r>
            </a:p>
            <a:p>
              <a:pPr algn="l">
                <a:lnSpc>
                  <a:spcPts val="4177"/>
                </a:lnSpc>
              </a:pPr>
            </a:p>
            <a:p>
              <a:pPr algn="l" marL="693816" indent="-346908" lvl="1">
                <a:lnSpc>
                  <a:spcPts val="4177"/>
                </a:lnSpc>
                <a:buFont typeface="Arial"/>
                <a:buChar char="•"/>
              </a:pPr>
              <a:r>
                <a:rPr lang="en-US" b="true" sz="3213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Faja Petrolífera del Orinoco: zona estratégica.</a:t>
              </a:r>
            </a:p>
            <a:p>
              <a:pPr algn="l">
                <a:lnSpc>
                  <a:spcPts val="4177"/>
                </a:lnSpc>
              </a:pPr>
            </a:p>
            <a:p>
              <a:pPr algn="l" marL="693816" indent="-346908" lvl="1">
                <a:lnSpc>
                  <a:spcPts val="4177"/>
                </a:lnSpc>
                <a:buFont typeface="Arial"/>
                <a:buChar char="•"/>
              </a:pPr>
              <a:r>
                <a:rPr lang="en-US" b="true" sz="3213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Ventajas económicas pero también dependencia y conflictos.</a:t>
              </a:r>
            </a:p>
            <a:p>
              <a:pPr algn="l" marL="0" indent="0" lvl="0">
                <a:lnSpc>
                  <a:spcPts val="4177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805278"/>
              <a:ext cx="12192000" cy="511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3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65353" y="0"/>
            <a:ext cx="9722647" cy="10287000"/>
            <a:chOff x="0" y="0"/>
            <a:chExt cx="2051688" cy="21707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1688" cy="2170778"/>
            </a:xfrm>
            <a:custGeom>
              <a:avLst/>
              <a:gdLst/>
              <a:ahLst/>
              <a:cxnLst/>
              <a:rect r="r" b="b" t="t" l="l"/>
              <a:pathLst>
                <a:path h="2170778" w="2051688">
                  <a:moveTo>
                    <a:pt x="0" y="0"/>
                  </a:moveTo>
                  <a:lnTo>
                    <a:pt x="2051688" y="0"/>
                  </a:lnTo>
                  <a:lnTo>
                    <a:pt x="2051688" y="2170778"/>
                  </a:lnTo>
                  <a:lnTo>
                    <a:pt x="0" y="2170778"/>
                  </a:lnTo>
                  <a:close/>
                </a:path>
              </a:pathLst>
            </a:custGeom>
            <a:blipFill>
              <a:blip r:embed="rId2"/>
              <a:stretch>
                <a:fillRect l="-15834" t="0" r="-2785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5970"/>
            <a:ext cx="16051849" cy="4765804"/>
          </a:xfrm>
          <a:custGeom>
            <a:avLst/>
            <a:gdLst/>
            <a:ahLst/>
            <a:cxnLst/>
            <a:rect r="r" b="b" t="t" l="l"/>
            <a:pathLst>
              <a:path h="4765804" w="16051849">
                <a:moveTo>
                  <a:pt x="0" y="0"/>
                </a:moveTo>
                <a:lnTo>
                  <a:pt x="16051849" y="0"/>
                </a:lnTo>
                <a:lnTo>
                  <a:pt x="16051849" y="4765804"/>
                </a:lnTo>
                <a:lnTo>
                  <a:pt x="0" y="4765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295" r="0" b="-363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9802" y="5143500"/>
            <a:ext cx="17256905" cy="5368840"/>
            <a:chOff x="0" y="0"/>
            <a:chExt cx="23009207" cy="715845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21305292" cy="1480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8"/>
                </a:lnSpc>
              </a:pPr>
              <a:r>
                <a:rPr lang="en-US" b="true" sz="3414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El </a:t>
              </a:r>
              <a:r>
                <a:rPr lang="en-US" b="true" sz="3414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petróleo en la historia venezolana</a:t>
              </a:r>
            </a:p>
            <a:p>
              <a:pPr algn="l" marL="0" indent="0" lvl="0">
                <a:lnSpc>
                  <a:spcPts val="443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55234"/>
              <a:ext cx="23009207" cy="5203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21403" indent="-460701" lvl="1">
                <a:lnSpc>
                  <a:spcPts val="4907"/>
                </a:lnSpc>
                <a:buFont typeface="Arial"/>
                <a:buChar char="•"/>
              </a:pPr>
              <a:r>
                <a:rPr lang="en-US" b="true" sz="4267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Protagonista del</a:t>
              </a:r>
              <a:r>
                <a:rPr lang="en-US" b="true" sz="4267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 desarrollo económico desde el siglo XX.</a:t>
              </a:r>
            </a:p>
            <a:p>
              <a:pPr algn="l">
                <a:lnSpc>
                  <a:spcPts val="4907"/>
                </a:lnSpc>
              </a:pPr>
            </a:p>
            <a:p>
              <a:pPr algn="l" marL="921403" indent="-460701" lvl="1">
                <a:lnSpc>
                  <a:spcPts val="4907"/>
                </a:lnSpc>
                <a:buFont typeface="Arial"/>
                <a:buChar char="•"/>
              </a:pPr>
              <a:r>
                <a:rPr lang="en-US" b="true" sz="4267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Motor de modernización e ingreso nacional.</a:t>
              </a:r>
            </a:p>
            <a:p>
              <a:pPr algn="l">
                <a:lnSpc>
                  <a:spcPts val="4907"/>
                </a:lnSpc>
              </a:pPr>
            </a:p>
            <a:p>
              <a:pPr algn="l" marL="921403" indent="-460701" lvl="1">
                <a:lnSpc>
                  <a:spcPts val="4907"/>
                </a:lnSpc>
                <a:buFont typeface="Arial"/>
                <a:buChar char="•"/>
              </a:pPr>
              <a:r>
                <a:rPr lang="en-US" b="true" sz="4267">
                  <a:solidFill>
                    <a:srgbClr val="F4F7F8"/>
                  </a:solidFill>
                  <a:latin typeface="Play Bold"/>
                  <a:ea typeface="Play Bold"/>
                  <a:cs typeface="Play Bold"/>
                  <a:sym typeface="Play Bold"/>
                </a:rPr>
                <a:t>Petróleo como eje de la soberanía económica.</a:t>
              </a:r>
            </a:p>
            <a:p>
              <a:pPr algn="l" marL="0" indent="0" lvl="0">
                <a:lnSpc>
                  <a:spcPts val="613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9253" y="886502"/>
            <a:ext cx="10720873" cy="8512316"/>
          </a:xfrm>
          <a:custGeom>
            <a:avLst/>
            <a:gdLst/>
            <a:ahLst/>
            <a:cxnLst/>
            <a:rect r="r" b="b" t="t" l="l"/>
            <a:pathLst>
              <a:path h="8512316" w="10720873">
                <a:moveTo>
                  <a:pt x="0" y="0"/>
                </a:moveTo>
                <a:lnTo>
                  <a:pt x="10720873" y="0"/>
                </a:lnTo>
                <a:lnTo>
                  <a:pt x="10720873" y="8512315"/>
                </a:lnTo>
                <a:lnTo>
                  <a:pt x="0" y="851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4" t="0" r="-1168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1484" y="609600"/>
            <a:ext cx="6837769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5"/>
              </a:lnSpc>
            </a:pPr>
            <a:r>
              <a:rPr lang="en-US" b="true" sz="678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Ejercicio de la s</a:t>
            </a:r>
            <a:r>
              <a:rPr lang="en-US" b="true" sz="678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oberanía sobre los recursos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790" y="4016804"/>
            <a:ext cx="4365393" cy="83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b="true" sz="256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N</a:t>
            </a:r>
            <a:r>
              <a:rPr lang="en-US" b="true" sz="256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acionalización en 1976: creación de PDVSA.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7672" y="7206536"/>
            <a:ext cx="4365393" cy="125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7"/>
              </a:lnSpc>
            </a:pPr>
            <a:r>
              <a:rPr lang="en-US" b="true" sz="256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P</a:t>
            </a:r>
            <a:r>
              <a:rPr lang="en-US" b="true" sz="2567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roblemas actuales: caída de producción, corrupción, sanciones.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50289" y="5123609"/>
            <a:ext cx="4365393" cy="77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</a:pP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El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Estado asume control de la indu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s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t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i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 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p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tr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o</a:t>
            </a: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lera.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402" y="6169835"/>
            <a:ext cx="4470781" cy="77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1"/>
              </a:lnSpc>
              <a:spcBef>
                <a:spcPct val="0"/>
              </a:spcBef>
            </a:pPr>
            <a:r>
              <a:rPr lang="en-US" sz="2370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cu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d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os 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i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nt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ci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on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l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s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cu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es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ti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o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nan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sobe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n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ía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r>
              <a:rPr lang="en-US" sz="2370" strike="noStrike" u="none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7091" y="5595755"/>
            <a:ext cx="7741950" cy="4624755"/>
            <a:chOff x="0" y="0"/>
            <a:chExt cx="136064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0647" cy="812800"/>
            </a:xfrm>
            <a:custGeom>
              <a:avLst/>
              <a:gdLst/>
              <a:ahLst/>
              <a:cxnLst/>
              <a:rect r="r" b="b" t="t" l="l"/>
              <a:pathLst>
                <a:path h="812800" w="1360647">
                  <a:moveTo>
                    <a:pt x="1360647" y="406400"/>
                  </a:moveTo>
                  <a:lnTo>
                    <a:pt x="954247" y="0"/>
                  </a:lnTo>
                  <a:lnTo>
                    <a:pt x="95424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954247" y="609600"/>
                  </a:lnTo>
                  <a:lnTo>
                    <a:pt x="954247" y="812800"/>
                  </a:lnTo>
                  <a:lnTo>
                    <a:pt x="1360647" y="406400"/>
                  </a:lnTo>
                  <a:close/>
                </a:path>
              </a:pathLst>
            </a:custGeom>
            <a:blipFill>
              <a:blip r:embed="rId2"/>
              <a:stretch>
                <a:fillRect l="-6671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62262" y="5529265"/>
            <a:ext cx="7873024" cy="4757735"/>
            <a:chOff x="0" y="0"/>
            <a:chExt cx="1377248" cy="8322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7248" cy="832283"/>
            </a:xfrm>
            <a:custGeom>
              <a:avLst/>
              <a:gdLst/>
              <a:ahLst/>
              <a:cxnLst/>
              <a:rect r="r" b="b" t="t" l="l"/>
              <a:pathLst>
                <a:path h="832283" w="1377248">
                  <a:moveTo>
                    <a:pt x="0" y="41614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377248" y="203200"/>
                  </a:lnTo>
                  <a:lnTo>
                    <a:pt x="1377248" y="629083"/>
                  </a:lnTo>
                  <a:lnTo>
                    <a:pt x="406400" y="629083"/>
                  </a:lnTo>
                  <a:lnTo>
                    <a:pt x="406400" y="832283"/>
                  </a:lnTo>
                  <a:lnTo>
                    <a:pt x="0" y="416141"/>
                  </a:lnTo>
                  <a:close/>
                </a:path>
              </a:pathLst>
            </a:custGeom>
            <a:blipFill>
              <a:blip r:embed="rId3"/>
              <a:stretch>
                <a:fillRect l="0" t="-1821" r="-26057" b="-182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46706"/>
            <a:ext cx="8440341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Retos actuales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2280" y="846706"/>
            <a:ext cx="683298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C</a:t>
            </a:r>
            <a:r>
              <a:rPr lang="en-US" b="true" sz="9000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5974" y="1583363"/>
            <a:ext cx="61788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F4F7F8"/>
                </a:solidFill>
                <a:latin typeface="Play Bold"/>
                <a:ea typeface="Play Bold"/>
                <a:cs typeface="Play Bold"/>
                <a:sym typeface="Play Bold"/>
              </a:rPr>
              <a:t>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5778" y="2593011"/>
            <a:ext cx="6332556" cy="380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420" indent="-356710" lvl="1">
              <a:lnSpc>
                <a:spcPts val="4295"/>
              </a:lnSpc>
              <a:buFont typeface="Arial"/>
              <a:buChar char="•"/>
            </a:pPr>
            <a:r>
              <a:rPr lang="en-US" sz="330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Recuperar control efectivo sobre el petróleo.</a:t>
            </a:r>
          </a:p>
          <a:p>
            <a:pPr algn="l" marL="713420" indent="-356710" lvl="1">
              <a:lnSpc>
                <a:spcPts val="4295"/>
              </a:lnSpc>
              <a:buFont typeface="Arial"/>
              <a:buChar char="•"/>
            </a:pPr>
            <a:r>
              <a:rPr lang="en-US" sz="330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Proteger otros recursos como el oro y biodiversidad.</a:t>
            </a:r>
          </a:p>
          <a:p>
            <a:pPr algn="l" marL="713420" indent="-356710" lvl="1">
              <a:lnSpc>
                <a:spcPts val="4295"/>
              </a:lnSpc>
              <a:buFont typeface="Arial"/>
              <a:buChar char="•"/>
            </a:pPr>
            <a:r>
              <a:rPr lang="en-US" sz="3304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Regular la minería informal y defender derechos de comunidades.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12839" y="2935913"/>
            <a:ext cx="6346461" cy="380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714986" indent="-357493" lvl="1">
              <a:lnSpc>
                <a:spcPts val="4305"/>
              </a:lnSpc>
              <a:buFont typeface="Arial"/>
              <a:buChar char="•"/>
            </a:pPr>
            <a:r>
              <a:rPr lang="en-US" sz="3311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La sob</a:t>
            </a:r>
            <a:r>
              <a:rPr lang="en-US" sz="3311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eranía es clave para la independencia nacional.</a:t>
            </a:r>
          </a:p>
          <a:p>
            <a:pPr algn="r" marL="714986" indent="-357493" lvl="1">
              <a:lnSpc>
                <a:spcPts val="4305"/>
              </a:lnSpc>
              <a:buFont typeface="Arial"/>
              <a:buChar char="•"/>
            </a:pPr>
            <a:r>
              <a:rPr lang="en-US" sz="3311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El petróleo debe gestionarse con justicia y sustentabilidad.</a:t>
            </a:r>
          </a:p>
          <a:p>
            <a:pPr algn="r" marL="714986" indent="-357493" lvl="1">
              <a:lnSpc>
                <a:spcPts val="4305"/>
              </a:lnSpc>
              <a:buFont typeface="Arial"/>
              <a:buChar char="•"/>
            </a:pPr>
            <a:r>
              <a:rPr lang="en-US" sz="3311">
                <a:solidFill>
                  <a:srgbClr val="F4F7F8"/>
                </a:solidFill>
                <a:latin typeface="Play"/>
                <a:ea typeface="Play"/>
                <a:cs typeface="Play"/>
                <a:sym typeface="Play"/>
              </a:rPr>
              <a:t>Defender la soberanía es garantizar el bienestar de todos.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DAGkR9pvFUo</dc:identifier>
  <dcterms:modified xsi:type="dcterms:W3CDTF">2011-08-01T06:04:30Z</dcterms:modified>
  <cp:revision>1</cp:revision>
  <dc:title>Soberania, Territorio y Petroleo</dc:title>
</cp:coreProperties>
</file>