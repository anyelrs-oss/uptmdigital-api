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eorgia Pro Light" charset="1" panose="02040302050405020303"/>
      <p:regular r:id="rId16"/>
    </p:embeddedFont>
    <p:embeddedFont>
      <p:font typeface="DM Sans" charset="1" panose="00000000000000000000"/>
      <p:regular r:id="rId17"/>
    </p:embeddedFont>
    <p:embeddedFont>
      <p:font typeface="DM Sans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91600" cy="10287000"/>
            <a:chOff x="0" y="0"/>
            <a:chExt cx="1035548" cy="1184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5548" cy="1184737"/>
            </a:xfrm>
            <a:custGeom>
              <a:avLst/>
              <a:gdLst/>
              <a:ahLst/>
              <a:cxnLst/>
              <a:rect r="r" b="b" t="t" l="l"/>
              <a:pathLst>
                <a:path h="1184737" w="1035548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l="0" t="-378" r="0" b="-37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44200" y="666750"/>
            <a:ext cx="6877050" cy="585084"/>
            <a:chOff x="0" y="0"/>
            <a:chExt cx="9169400" cy="780112"/>
          </a:xfrm>
        </p:grpSpPr>
        <p:sp>
          <p:nvSpPr>
            <p:cNvPr name="Freeform 5" id="5"/>
            <p:cNvSpPr/>
            <p:nvPr/>
          </p:nvSpPr>
          <p:spPr>
            <a:xfrm flipH="true" flipV="false" rot="-5400000">
              <a:off x="36553" y="74861"/>
              <a:ext cx="555143" cy="628248"/>
            </a:xfrm>
            <a:custGeom>
              <a:avLst/>
              <a:gdLst/>
              <a:ahLst/>
              <a:cxnLst/>
              <a:rect r="r" b="b" t="t" l="l"/>
              <a:pathLst>
                <a:path h="628248" w="555143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795304" y="95250"/>
              <a:ext cx="8374096" cy="684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5"/>
                </a:lnSpc>
              </a:pPr>
              <a:r>
                <a:rPr lang="en-US" sz="3864" spc="-77">
                  <a:solidFill>
                    <a:srgbClr val="F0F4F8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Matematica Aplicada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34675" y="1562100"/>
            <a:ext cx="6886575" cy="4337753"/>
            <a:chOff x="0" y="0"/>
            <a:chExt cx="9182100" cy="578367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00025"/>
              <a:ext cx="9182100" cy="3686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99"/>
                </a:lnSpc>
              </a:pPr>
              <a:r>
                <a:rPr lang="en-US" sz="10499">
                  <a:solidFill>
                    <a:srgbClr val="F0F4F8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Tablas Aleatorias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137115"/>
              <a:ext cx="9172670" cy="164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39"/>
                </a:lnSpc>
              </a:pPr>
              <a:r>
                <a:rPr lang="en-US" sz="3599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Aplicación en Muestreo Aleatorio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323799" y="8029719"/>
            <a:ext cx="5743575" cy="2060447"/>
            <a:chOff x="0" y="0"/>
            <a:chExt cx="7658100" cy="274726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691344"/>
              <a:ext cx="7658100" cy="2055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Á</a:t>
              </a:r>
              <a:r>
                <a:rPr lang="en-US" sz="22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ngel Peña – C.I. 24.349.651</a:t>
              </a:r>
            </a:p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Gladys Vielma – C.I. 15.174.323</a:t>
              </a:r>
            </a:p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María Victoria Meza – C.I. 15.031.343</a:t>
              </a:r>
            </a:p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Rubén Ramírez – C.I. 16.020.185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7658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0F4F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INTEGRANTES: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6718881"/>
            <a:chOff x="0" y="0"/>
            <a:chExt cx="11099800" cy="89585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F0F4F8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Introducción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47803"/>
              <a:ext cx="11099800" cy="6910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La estadística inferencia</a:t>
              </a: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l se basa en el uso de muestras para describir y analizar poblaciones completas. Para que una muestra represente adecuadamente a la población, debe ser seleccionada de forma aleatoria.</a:t>
              </a:r>
            </a:p>
            <a:p>
              <a:pPr algn="l" marL="0" indent="0" lvl="0">
                <a:lnSpc>
                  <a:spcPts val="2940"/>
                </a:lnSpc>
              </a:pP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La aleatoriedad evita: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Sesgos del investigador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Preferencias subjetivas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Resultados poco confiables</a:t>
              </a:r>
            </a:p>
            <a:p>
              <a:pPr algn="l">
                <a:lnSpc>
                  <a:spcPts val="2940"/>
                </a:lnSpc>
              </a:pP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Las tablas de números aleatorios surgen como una herramienta diseñada para garantizar esa aleatoriedad, especialmente en el muestreo simple aleatorio.</a:t>
              </a:r>
            </a:p>
            <a:p>
              <a:pPr algn="l" marL="0" indent="0" lvl="0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45251" cy="7078928"/>
            <a:chOff x="0" y="0"/>
            <a:chExt cx="12993668" cy="943857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57150"/>
              <a:ext cx="12993668" cy="4025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10"/>
                </a:lnSpc>
              </a:pPr>
              <a:r>
                <a:rPr lang="en-US" sz="7100">
                  <a:solidFill>
                    <a:srgbClr val="F0F4F8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¿QUÉ</a:t>
              </a:r>
              <a:r>
                <a:rPr lang="en-US" sz="7100">
                  <a:solidFill>
                    <a:srgbClr val="F0F4F8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 SON LAS TABLAS DE NÚMEROS ALEATORIOS?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509065"/>
              <a:ext cx="11788479" cy="4929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Las tablas de números aleatorios son conjuntos extensos de dígitos generados mediante procesos matemáticos que aseguran que cada número tenga la misma probabilidad de aparecer.</a:t>
              </a: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No presentan: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Orden lógico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Secuencias predecibles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Patrones repetitivos</a:t>
              </a: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Fueron ampliamente utilizadas antes de la aparición de computadoras y programas estadísticos, y se publicaban en libros especializados de estadística.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228742" cy="7833306"/>
            <a:chOff x="0" y="0"/>
            <a:chExt cx="12304989" cy="104444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2304989" cy="3040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F0F4F8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CARACTERÍSTICAS</a:t>
              </a:r>
              <a:r>
                <a:rPr lang="en-US" sz="8000">
                  <a:solidFill>
                    <a:srgbClr val="F0F4F8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 PRINCIPALES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33703"/>
              <a:ext cx="11586135" cy="6910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Las principales características de las tablas de números aleatorios son:</a:t>
              </a:r>
            </a:p>
            <a:p>
              <a:pPr algn="l" marL="0" indent="0" lvl="0">
                <a:lnSpc>
                  <a:spcPts val="2940"/>
                </a:lnSpc>
              </a:pP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Cada dígito (0–9) tiene la misma probabilidad de aparecer.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No existe un patrón reconocible.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Eliminan la intervención humana en la selección.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Se pueden leer de distintas formas:</a:t>
              </a:r>
            </a:p>
            <a:p>
              <a:pPr algn="l" marL="906780" indent="-302260" lvl="2">
                <a:lnSpc>
                  <a:spcPts val="2940"/>
                </a:lnSpc>
                <a:buFont typeface="Arial"/>
                <a:buChar char="⚬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Horizontal</a:t>
              </a:r>
            </a:p>
            <a:p>
              <a:pPr algn="l" marL="906780" indent="-302260" lvl="2">
                <a:lnSpc>
                  <a:spcPts val="2940"/>
                </a:lnSpc>
                <a:buFont typeface="Arial"/>
                <a:buChar char="⚬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Vertical</a:t>
              </a:r>
            </a:p>
            <a:p>
              <a:pPr algn="l" marL="906780" indent="-302260" lvl="2">
                <a:lnSpc>
                  <a:spcPts val="2940"/>
                </a:lnSpc>
                <a:buFont typeface="Arial"/>
                <a:buChar char="⚬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En bloques de dígitos</a:t>
              </a:r>
            </a:p>
            <a:p>
              <a:pPr algn="l">
                <a:lnSpc>
                  <a:spcPts val="2940"/>
                </a:lnSpc>
              </a:pP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Estas características garantizan que el proceso de selección sea totalmente objetivo.</a:t>
              </a:r>
            </a:p>
            <a:p>
              <a:pPr algn="l" marL="0" indent="0" lvl="0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6750" y="3241770"/>
            <a:ext cx="7738302" cy="6016530"/>
          </a:xfrm>
          <a:custGeom>
            <a:avLst/>
            <a:gdLst/>
            <a:ahLst/>
            <a:cxnLst/>
            <a:rect r="r" b="b" t="t" l="l"/>
            <a:pathLst>
              <a:path h="6016530" w="7738302">
                <a:moveTo>
                  <a:pt x="0" y="0"/>
                </a:moveTo>
                <a:lnTo>
                  <a:pt x="7738302" y="0"/>
                </a:lnTo>
                <a:lnTo>
                  <a:pt x="7738302" y="6016530"/>
                </a:lnTo>
                <a:lnTo>
                  <a:pt x="0" y="6016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714375"/>
            <a:ext cx="6377216" cy="2064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2"/>
              </a:lnSpc>
              <a:spcBef>
                <a:spcPct val="0"/>
              </a:spcBef>
            </a:pPr>
            <a:r>
              <a:rPr lang="en-US" sz="7275">
                <a:solidFill>
                  <a:srgbClr val="F0F4F8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¿PARA QUÉ SE</a:t>
            </a:r>
            <a:r>
              <a:rPr lang="en-US" sz="7275">
                <a:solidFill>
                  <a:srgbClr val="F0F4F8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 UTILIZAN?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44454" y="893716"/>
            <a:ext cx="8244490" cy="579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28"/>
              </a:lnSpc>
            </a:pPr>
            <a:r>
              <a:rPr lang="en-US" sz="2377">
                <a:solidFill>
                  <a:srgbClr val="F0F4F8"/>
                </a:solidFill>
                <a:latin typeface="DM Sans"/>
                <a:ea typeface="DM Sans"/>
                <a:cs typeface="DM Sans"/>
                <a:sym typeface="DM Sans"/>
              </a:rPr>
              <a:t>Las tablas de números aleatorios se utilizan principalmente para:</a:t>
            </a:r>
          </a:p>
          <a:p>
            <a:pPr algn="l" marL="0" indent="0" lvl="0">
              <a:lnSpc>
                <a:spcPts val="3328"/>
              </a:lnSpc>
            </a:pPr>
          </a:p>
          <a:p>
            <a:pPr algn="l" marL="513290" indent="-256645" lvl="1">
              <a:lnSpc>
                <a:spcPts val="3328"/>
              </a:lnSpc>
              <a:buFont typeface="Arial"/>
              <a:buChar char="•"/>
            </a:pPr>
            <a:r>
              <a:rPr lang="en-US" sz="2377">
                <a:solidFill>
                  <a:srgbClr val="F0F4F8"/>
                </a:solidFill>
                <a:latin typeface="DM Sans"/>
                <a:ea typeface="DM Sans"/>
                <a:cs typeface="DM Sans"/>
                <a:sym typeface="DM Sans"/>
              </a:rPr>
              <a:t>Seleccionar muestras en el muestreo simple aleatorio.</a:t>
            </a:r>
          </a:p>
          <a:p>
            <a:pPr algn="l">
              <a:lnSpc>
                <a:spcPts val="3328"/>
              </a:lnSpc>
            </a:pPr>
          </a:p>
          <a:p>
            <a:pPr algn="l" marL="513290" indent="-256645" lvl="1">
              <a:lnSpc>
                <a:spcPts val="3328"/>
              </a:lnSpc>
              <a:buFont typeface="Arial"/>
              <a:buChar char="•"/>
            </a:pPr>
            <a:r>
              <a:rPr lang="en-US" sz="2377">
                <a:solidFill>
                  <a:srgbClr val="F0F4F8"/>
                </a:solidFill>
                <a:latin typeface="DM Sans"/>
                <a:ea typeface="DM Sans"/>
                <a:cs typeface="DM Sans"/>
                <a:sym typeface="DM Sans"/>
              </a:rPr>
              <a:t>Diseñar experimentos estadísticos.</a:t>
            </a:r>
          </a:p>
          <a:p>
            <a:pPr algn="l">
              <a:lnSpc>
                <a:spcPts val="3328"/>
              </a:lnSpc>
            </a:pPr>
          </a:p>
          <a:p>
            <a:pPr algn="l" marL="513290" indent="-256645" lvl="1">
              <a:lnSpc>
                <a:spcPts val="3328"/>
              </a:lnSpc>
              <a:buFont typeface="Arial"/>
              <a:buChar char="•"/>
            </a:pPr>
            <a:r>
              <a:rPr lang="en-US" sz="2377">
                <a:solidFill>
                  <a:srgbClr val="F0F4F8"/>
                </a:solidFill>
                <a:latin typeface="DM Sans"/>
                <a:ea typeface="DM Sans"/>
                <a:cs typeface="DM Sans"/>
                <a:sym typeface="DM Sans"/>
              </a:rPr>
              <a:t>Realizar simulaciones estadísticas.</a:t>
            </a:r>
          </a:p>
          <a:p>
            <a:pPr algn="l">
              <a:lnSpc>
                <a:spcPts val="3328"/>
              </a:lnSpc>
            </a:pPr>
          </a:p>
          <a:p>
            <a:pPr algn="l" marL="513290" indent="-256645" lvl="1">
              <a:lnSpc>
                <a:spcPts val="3328"/>
              </a:lnSpc>
              <a:buFont typeface="Arial"/>
              <a:buChar char="•"/>
            </a:pPr>
            <a:r>
              <a:rPr lang="en-US" sz="2377">
                <a:solidFill>
                  <a:srgbClr val="F0F4F8"/>
                </a:solidFill>
                <a:latin typeface="DM Sans"/>
                <a:ea typeface="DM Sans"/>
                <a:cs typeface="DM Sans"/>
                <a:sym typeface="DM Sans"/>
              </a:rPr>
              <a:t>Enseñar principios de aleatoriedad en educación.</a:t>
            </a:r>
          </a:p>
          <a:p>
            <a:pPr algn="l">
              <a:lnSpc>
                <a:spcPts val="3328"/>
              </a:lnSpc>
            </a:pPr>
          </a:p>
          <a:p>
            <a:pPr algn="l" marL="0" indent="0" lvl="0">
              <a:lnSpc>
                <a:spcPts val="3328"/>
              </a:lnSpc>
            </a:pPr>
            <a:r>
              <a:rPr lang="en-US" sz="2377">
                <a:solidFill>
                  <a:srgbClr val="F0F4F8"/>
                </a:solidFill>
                <a:latin typeface="DM Sans"/>
                <a:ea typeface="DM Sans"/>
                <a:cs typeface="DM Sans"/>
                <a:sym typeface="DM Sans"/>
              </a:rPr>
              <a:t>Aunque hoy en día han sido reemplazadas por software, siguen siendo fundamentales para comprender el concepto de muestreo sin sesgo.</a:t>
            </a:r>
          </a:p>
        </p:txBody>
      </p:sp>
      <p:sp>
        <p:nvSpPr>
          <p:cNvPr name="TextBox 5" id="5"/>
          <p:cNvSpPr txBox="true"/>
          <p:nvPr/>
        </p:nvSpPr>
        <p:spPr>
          <a:xfrm rot="531838">
            <a:off x="9219176" y="7719431"/>
            <a:ext cx="7524498" cy="155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3708">
                <a:solidFill>
                  <a:srgbClr val="F0F4F8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A pesar del avance tecnológico, siguen siendo fundamentales para comprender el muestreo sin sesgo.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970487" cy="8204781"/>
            <a:chOff x="0" y="0"/>
            <a:chExt cx="11960649" cy="109397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960649" cy="3040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F0F4F8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PROCEDIMIENTO DE USO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33703"/>
              <a:ext cx="11099800" cy="7406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El procedimiento correcto par</a:t>
              </a: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a usar una tabla de números aleatorios es el siguiente:</a:t>
              </a:r>
            </a:p>
            <a:p>
              <a:pPr algn="l" marL="0" indent="0" lvl="0">
                <a:lnSpc>
                  <a:spcPts val="2940"/>
                </a:lnSpc>
              </a:pPr>
            </a:p>
            <a:p>
              <a:pPr algn="l" marL="453390" indent="-226695" lvl="1">
                <a:lnSpc>
                  <a:spcPts val="2940"/>
                </a:lnSpc>
                <a:buAutoNum type="arabicPeriod" startAt="1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Enumerar todos los elementos de la población.</a:t>
              </a:r>
            </a:p>
            <a:p>
              <a:pPr algn="l" marL="453390" indent="-226695" lvl="1">
                <a:lnSpc>
                  <a:spcPts val="2940"/>
                </a:lnSpc>
                <a:buAutoNum type="arabicPeriod" startAt="1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Determinar cuántos dígitos se necesitan según el tamaño de la población.</a:t>
              </a:r>
            </a:p>
            <a:p>
              <a:pPr algn="l" marL="453390" indent="-226695" lvl="1">
                <a:lnSpc>
                  <a:spcPts val="2940"/>
                </a:lnSpc>
                <a:buAutoNum type="arabicPeriod" startAt="1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Elegir un punto de inicio en la tabla.</a:t>
              </a:r>
            </a:p>
            <a:p>
              <a:pPr algn="l" marL="453390" indent="-226695" lvl="1">
                <a:lnSpc>
                  <a:spcPts val="2940"/>
                </a:lnSpc>
                <a:buAutoNum type="arabicPeriod" startAt="1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Leer los números consecutivos.</a:t>
              </a:r>
            </a:p>
            <a:p>
              <a:pPr algn="l" marL="453390" indent="-226695" lvl="1">
                <a:lnSpc>
                  <a:spcPts val="2940"/>
                </a:lnSpc>
                <a:buAutoNum type="arabicPeriod" startAt="1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Descartar números:</a:t>
              </a:r>
            </a:p>
            <a:p>
              <a:pPr algn="l" marL="906780" indent="-302260" lvl="2">
                <a:lnSpc>
                  <a:spcPts val="2940"/>
                </a:lnSpc>
                <a:buFont typeface="Arial"/>
                <a:buChar char="⚬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Fuera del rango</a:t>
              </a:r>
            </a:p>
            <a:p>
              <a:pPr algn="l" marL="906780" indent="-302260" lvl="2">
                <a:lnSpc>
                  <a:spcPts val="2940"/>
                </a:lnSpc>
                <a:buFont typeface="Arial"/>
                <a:buChar char="⚬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Repetidos</a:t>
              </a:r>
            </a:p>
            <a:p>
              <a:pPr algn="l" marL="453390" indent="-226695" lvl="1">
                <a:lnSpc>
                  <a:spcPts val="2940"/>
                </a:lnSpc>
                <a:buAutoNum type="arabicPeriod" startAt="1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Continuar hasta completar el tamaño de la muestra.</a:t>
              </a:r>
            </a:p>
            <a:p>
              <a:pPr algn="l">
                <a:lnSpc>
                  <a:spcPts val="2940"/>
                </a:lnSpc>
              </a:pP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Este procedimiento asegura una selección objetiva y válida.</a:t>
              </a:r>
            </a:p>
            <a:p>
              <a:pPr algn="l" marL="0" indent="0" lvl="0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5604456"/>
            <a:chOff x="0" y="0"/>
            <a:chExt cx="11099800" cy="74726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F0F4F8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Ejemplo práctico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47803"/>
              <a:ext cx="11099800" cy="5424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Supo</a:t>
              </a: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ngamos una población de 50 estudiantes: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Se numeran del 01 al 50.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Se utilizan números de dos dígitos.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Al leer la tabla pueden aparecer:</a:t>
              </a:r>
            </a:p>
            <a:p>
              <a:pPr algn="l" marL="906780" indent="-302260" lvl="2">
                <a:lnSpc>
                  <a:spcPts val="2940"/>
                </a:lnSpc>
                <a:buFont typeface="Arial"/>
                <a:buChar char="⚬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Números válidos (01–50)</a:t>
              </a:r>
            </a:p>
            <a:p>
              <a:pPr algn="l" marL="906780" indent="-302260" lvl="2">
                <a:lnSpc>
                  <a:spcPts val="2940"/>
                </a:lnSpc>
                <a:buFont typeface="Arial"/>
                <a:buChar char="⚬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Números inválidos (&gt;50)</a:t>
              </a:r>
            </a:p>
            <a:p>
              <a:pPr algn="l" marL="906780" indent="-302260" lvl="2">
                <a:lnSpc>
                  <a:spcPts val="2940"/>
                </a:lnSpc>
                <a:buFont typeface="Arial"/>
                <a:buChar char="⚬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Números repetidos</a:t>
              </a: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Los números inválidos o repetidos se descartan y se continúa hasta completar la muestra.</a:t>
              </a: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Este ejemplo demuestra cómo se aplica el procedimiento en un caso real.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49031" y="2188171"/>
            <a:ext cx="11301259" cy="3489264"/>
          </a:xfrm>
          <a:custGeom>
            <a:avLst/>
            <a:gdLst/>
            <a:ahLst/>
            <a:cxnLst/>
            <a:rect r="r" b="b" t="t" l="l"/>
            <a:pathLst>
              <a:path h="3489264" w="11301259">
                <a:moveTo>
                  <a:pt x="0" y="0"/>
                </a:moveTo>
                <a:lnTo>
                  <a:pt x="11301259" y="0"/>
                </a:lnTo>
                <a:lnTo>
                  <a:pt x="11301259" y="3489264"/>
                </a:lnTo>
                <a:lnTo>
                  <a:pt x="0" y="3489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733425"/>
            <a:ext cx="10035824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F0F4F8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Ventajas y Desventajas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98262" y="5934610"/>
            <a:ext cx="7191375" cy="180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7724" indent="-223862" lvl="1">
              <a:lnSpc>
                <a:spcPts val="2903"/>
              </a:lnSpc>
              <a:buFont typeface="Arial"/>
              <a:buChar char="•"/>
            </a:pPr>
            <a:r>
              <a:rPr lang="en-US" sz="2073">
                <a:solidFill>
                  <a:srgbClr val="F0F4F8"/>
                </a:solidFill>
                <a:latin typeface="DM Sans"/>
                <a:ea typeface="DM Sans"/>
                <a:cs typeface="DM Sans"/>
                <a:sym typeface="DM Sans"/>
              </a:rPr>
              <a:t>Eliminan el sesgo humano.</a:t>
            </a:r>
          </a:p>
          <a:p>
            <a:pPr algn="l">
              <a:lnSpc>
                <a:spcPts val="2903"/>
              </a:lnSpc>
            </a:pPr>
          </a:p>
          <a:p>
            <a:pPr algn="l" marL="447724" indent="-223862" lvl="1">
              <a:lnSpc>
                <a:spcPts val="2903"/>
              </a:lnSpc>
              <a:buFont typeface="Arial"/>
              <a:buChar char="•"/>
            </a:pPr>
            <a:r>
              <a:rPr lang="en-US" sz="2073">
                <a:solidFill>
                  <a:srgbClr val="F0F4F8"/>
                </a:solidFill>
                <a:latin typeface="DM Sans"/>
                <a:ea typeface="DM Sans"/>
                <a:cs typeface="DM Sans"/>
                <a:sym typeface="DM Sans"/>
              </a:rPr>
              <a:t>Garantizan aleatoriedad.</a:t>
            </a:r>
          </a:p>
          <a:p>
            <a:pPr algn="l">
              <a:lnSpc>
                <a:spcPts val="2903"/>
              </a:lnSpc>
            </a:pPr>
          </a:p>
          <a:p>
            <a:pPr algn="l" marL="447724" indent="-223862" lvl="1">
              <a:lnSpc>
                <a:spcPts val="2903"/>
              </a:lnSpc>
              <a:buFont typeface="Arial"/>
              <a:buChar char="•"/>
            </a:pPr>
            <a:r>
              <a:rPr lang="en-US" sz="2073">
                <a:solidFill>
                  <a:srgbClr val="F0F4F8"/>
                </a:solidFill>
                <a:latin typeface="DM Sans"/>
                <a:ea typeface="DM Sans"/>
                <a:cs typeface="DM Sans"/>
                <a:sym typeface="DM Sans"/>
              </a:rPr>
              <a:t>Son simples de aplicar teóricamente.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7925" y="5934610"/>
            <a:ext cx="7191375" cy="180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7724" indent="-223862" lvl="1">
              <a:lnSpc>
                <a:spcPts val="2903"/>
              </a:lnSpc>
              <a:buFont typeface="Arial"/>
              <a:buChar char="•"/>
            </a:pPr>
            <a:r>
              <a:rPr lang="en-US" sz="2073">
                <a:solidFill>
                  <a:srgbClr val="F0F4F8"/>
                </a:solidFill>
                <a:latin typeface="DM Sans"/>
                <a:ea typeface="DM Sans"/>
                <a:cs typeface="DM Sans"/>
                <a:sym typeface="DM Sans"/>
              </a:rPr>
              <a:t>Método</a:t>
            </a:r>
            <a:r>
              <a:rPr lang="en-US" sz="2073">
                <a:solidFill>
                  <a:srgbClr val="F0F4F8"/>
                </a:solidFill>
                <a:latin typeface="DM Sans"/>
                <a:ea typeface="DM Sans"/>
                <a:cs typeface="DM Sans"/>
                <a:sym typeface="DM Sans"/>
              </a:rPr>
              <a:t> antiguo.</a:t>
            </a:r>
          </a:p>
          <a:p>
            <a:pPr algn="l">
              <a:lnSpc>
                <a:spcPts val="2903"/>
              </a:lnSpc>
            </a:pPr>
          </a:p>
          <a:p>
            <a:pPr algn="l" marL="447724" indent="-223862" lvl="1">
              <a:lnSpc>
                <a:spcPts val="2903"/>
              </a:lnSpc>
              <a:buFont typeface="Arial"/>
              <a:buChar char="•"/>
            </a:pPr>
            <a:r>
              <a:rPr lang="en-US" sz="2073">
                <a:solidFill>
                  <a:srgbClr val="F0F4F8"/>
                </a:solidFill>
                <a:latin typeface="DM Sans"/>
                <a:ea typeface="DM Sans"/>
                <a:cs typeface="DM Sans"/>
                <a:sym typeface="DM Sans"/>
              </a:rPr>
              <a:t>Poco práctico para grandes poblaciones.</a:t>
            </a:r>
          </a:p>
          <a:p>
            <a:pPr algn="l">
              <a:lnSpc>
                <a:spcPts val="2903"/>
              </a:lnSpc>
            </a:pPr>
          </a:p>
          <a:p>
            <a:pPr algn="l" marL="447724" indent="-223862" lvl="1">
              <a:lnSpc>
                <a:spcPts val="2903"/>
              </a:lnSpc>
              <a:buFont typeface="Arial"/>
              <a:buChar char="•"/>
            </a:pPr>
            <a:r>
              <a:rPr lang="en-US" sz="2073">
                <a:solidFill>
                  <a:srgbClr val="F0F4F8"/>
                </a:solidFill>
                <a:latin typeface="DM Sans"/>
                <a:ea typeface="DM Sans"/>
                <a:cs typeface="DM Sans"/>
                <a:sym typeface="DM Sans"/>
              </a:rPr>
              <a:t>Reemplazado por software moderno.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3375606"/>
            <a:chOff x="0" y="0"/>
            <a:chExt cx="11099800" cy="45008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F0F4F8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Importancia Actual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47803"/>
              <a:ext cx="11099800" cy="2453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Aunque actualmente se utilizan herramientas computarizadas, l</a:t>
              </a: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as tablas de números aleatorios siguen siendo importantes porque: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Explican el origen del muestreo aleatorio.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Permiten entender el concepto de aleatoriedad pura.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Son base teórica para los métodos modernos.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6754" y="5143500"/>
            <a:ext cx="11301259" cy="4562883"/>
          </a:xfrm>
          <a:custGeom>
            <a:avLst/>
            <a:gdLst/>
            <a:ahLst/>
            <a:cxnLst/>
            <a:rect r="r" b="b" t="t" l="l"/>
            <a:pathLst>
              <a:path h="4562883" w="11301259">
                <a:moveTo>
                  <a:pt x="0" y="0"/>
                </a:moveTo>
                <a:lnTo>
                  <a:pt x="11301259" y="0"/>
                </a:lnTo>
                <a:lnTo>
                  <a:pt x="11301259" y="4562883"/>
                </a:lnTo>
                <a:lnTo>
                  <a:pt x="0" y="45628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28896" y="713664"/>
            <a:ext cx="6416121" cy="1213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64"/>
              </a:lnSpc>
              <a:spcBef>
                <a:spcPct val="0"/>
              </a:spcBef>
            </a:pPr>
            <a:r>
              <a:rPr lang="en-US" sz="8513">
                <a:solidFill>
                  <a:srgbClr val="F0F4F8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Conclusión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18764" y="1818887"/>
            <a:ext cx="7191375" cy="252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3"/>
              </a:lnSpc>
            </a:pPr>
            <a:r>
              <a:rPr lang="en-US" sz="2073">
                <a:solidFill>
                  <a:srgbClr val="F0F4F8"/>
                </a:solidFill>
                <a:latin typeface="DM Sans"/>
                <a:ea typeface="DM Sans"/>
                <a:cs typeface="DM Sans"/>
                <a:sym typeface="DM Sans"/>
              </a:rPr>
              <a:t>Las tablas de números aleatorios constituyen un método fundamental en la historia de la estadística. A pesar de su reemplazo por software, su estudio permite comprender cómo se seleccionan muestras sin sesgo y cómo se construyen procesos estadísticos confiables.</a:t>
            </a:r>
          </a:p>
          <a:p>
            <a:pPr algn="l" marL="0" indent="0" lvl="0">
              <a:lnSpc>
                <a:spcPts val="2903"/>
              </a:lnSpc>
            </a:pPr>
            <a:r>
              <a:rPr lang="en-US" sz="2073">
                <a:solidFill>
                  <a:srgbClr val="F0F4F8"/>
                </a:solidFill>
                <a:latin typeface="DM Sans"/>
                <a:ea typeface="DM Sans"/>
                <a:cs typeface="DM Sans"/>
                <a:sym typeface="DM Sans"/>
              </a:rPr>
              <a:t>Son la base conceptual del muestreo simple aleatorio y un pilar en la formación estadística.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Tablas Aleatorias</dc:description>
  <dc:identifier>DAG-c5nxJgc</dc:identifier>
  <dcterms:modified xsi:type="dcterms:W3CDTF">2011-08-01T06:04:30Z</dcterms:modified>
  <cp:revision>1</cp:revision>
  <dc:title>Presentation - Tablas Aleatorias</dc:title>
</cp:coreProperties>
</file>