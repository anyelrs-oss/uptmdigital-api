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lvetica World" charset="1" panose="020B0500040000020004"/>
      <p:regular r:id="rId20"/>
    </p:embeddedFont>
    <p:embeddedFont>
      <p:font typeface="Georgia Pro Condensed" charset="1" panose="02040506050405020303"/>
      <p:regular r:id="rId21"/>
    </p:embeddedFont>
    <p:embeddedFont>
      <p:font typeface="Helvetica World Bold" charset="1" panose="020B080004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4.png" Type="http://schemas.openxmlformats.org/officeDocument/2006/relationships/image"/><Relationship Id="rId5" Target="../embeddings/oleObject2.bin" Type="http://schemas.openxmlformats.org/officeDocument/2006/relationships/oleObject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5380" y="7133278"/>
            <a:ext cx="7945624" cy="247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Ángel Peña – C.I. 24.349.651</a:t>
            </a:r>
          </a:p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Gladys Vielma – C.I. 15.174.323</a:t>
            </a:r>
          </a:p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María Victoria Meza – C.I. 15.031.343</a:t>
            </a:r>
          </a:p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Rubén Ramirez – C.I. 16.020.185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65543"/>
            <a:ext cx="9754495" cy="379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82"/>
              </a:lnSpc>
            </a:pPr>
            <a:r>
              <a:rPr lang="en-US" sz="14582" spc="-510" strike="noStrike" u="none">
                <a:solidFill>
                  <a:srgbClr val="0A22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Chi-Cuadrado (χ²)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4AF3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A22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D4AF3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Introducción al Chi-Cuadrado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Contextualización y relevancia de la prueba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614863" cy="3959225"/>
            <a:chOff x="0" y="0"/>
            <a:chExt cx="6153150" cy="52789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615315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Definición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6153150" cy="42185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prueba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Chi-Cuadrado (χ²) es una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las herram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estadística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más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utilizada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para analizar relaci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entre variables categóricas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or radic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que permite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eterminar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si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encia observada 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nt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 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atos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 y 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esperad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os ocurre por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zar o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 refleja un patrón significativo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354365" cy="3606800"/>
            <a:chOff x="0" y="0"/>
            <a:chExt cx="5805820" cy="48090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80582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Importancia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805820" cy="3748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 ámbit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é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ico, ci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ífico y empresari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Chi-Cuadrado 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ap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ica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mp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amente en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est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rt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am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ien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investiga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cial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alida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d,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encu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uc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ción,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dicina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ualqu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 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ál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nd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nterven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iabl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cualita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vas</a:t>
              </a: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Aplicaciones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prueba Chi-Cuadrado se aplica en múltiples campos, desde estudios de mercado hasta investigación académica, ayudando a determinar patrones y tendencias en datos categóricos.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4375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447677" y="2969930"/>
            <a:ext cx="4516075" cy="5246370"/>
            <a:chOff x="0" y="0"/>
            <a:chExt cx="546608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4"/>
              <a:stretch>
                <a:fillRect l="-15999" t="0" r="-1600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00225" y="1562100"/>
            <a:ext cx="13267992" cy="5334000"/>
            <a:chOff x="0" y="0"/>
            <a:chExt cx="17690656" cy="71120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17690656" cy="345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Fundam</a:t>
              </a: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entos teóricos del Chi-Cuadrado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940287"/>
              <a:ext cx="17690656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Or</a:t>
              </a: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igen e historia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812241"/>
              <a:ext cx="13849838" cy="2299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p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rueba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Chi-Cuadrado 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fue desarrollada por Karl Pearson en 1900. Su objetivo inicial era analizar la 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sc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ncia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entre frecuencias empíricas y frecuencias teóricas en estudios biológicos. Con el tiempo, se extendió a múltiples áreas de investigación.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4AF3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A22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7429500"/>
            <a:chOff x="0" y="0"/>
            <a:chExt cx="17259300" cy="990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Defi</a:t>
              </a: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nición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2193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El estadístico Chi-Cuadrado mide cuánto se alejan las f</a:t>
              </a: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recuencias observadas (datos reales) de las frecuencias esperadas (teóricas).</a:t>
              </a:r>
            </a:p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La fórmula general es:</a:t>
              </a:r>
            </a:p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685241"/>
              <a:ext cx="13512134" cy="5220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Do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nde: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 = F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recuencia observada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= Frecuencia esperada</a:t>
              </a:r>
            </a:p>
            <a:p>
              <a:pPr algn="l" marL="539748" indent="-269874" lvl="1">
                <a:lnSpc>
                  <a:spcPts val="3499"/>
                </a:lnSpc>
                <a:buFont typeface="Arial"/>
                <a:buChar char="•"/>
              </a:pP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Entre mayor sea el valor del Chi-Cuadrado, mayor será la disc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ncia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y,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nto, la posibilidad de que la diferencia no sea producto del azar.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5517841" y="4150002"/>
            <a:ext cx="7831567" cy="2594507"/>
          </a:xfrm>
          <a:custGeom>
            <a:avLst/>
            <a:gdLst/>
            <a:ahLst/>
            <a:cxnLst/>
            <a:rect r="r" b="b" t="t" l="l"/>
            <a:pathLst>
              <a:path h="2594507" w="7831567">
                <a:moveTo>
                  <a:pt x="0" y="0"/>
                </a:moveTo>
                <a:lnTo>
                  <a:pt x="7831567" y="0"/>
                </a:lnTo>
                <a:lnTo>
                  <a:pt x="7831567" y="2594506"/>
                </a:lnTo>
                <a:lnTo>
                  <a:pt x="0" y="2594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t="0" r="-342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t="0" r="-34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t="0" r="-34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82996"/>
            <a:ext cx="4738234" cy="60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3"/>
              </a:lnSpc>
            </a:pP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Determin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si una 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distribución observada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coincide con una distribución teórica esperada.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0A22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Bondad de ajuste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044601"/>
            <a:ext cx="4741615" cy="121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3"/>
              </a:lnSpc>
            </a:pP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Evalúa s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dos variables categóricas están relacionadas.</a:t>
            </a:r>
          </a:p>
          <a:p>
            <a:pPr algn="ctr" marL="0" indent="0" lvl="0">
              <a:lnSpc>
                <a:spcPts val="2403"/>
              </a:lnSpc>
            </a:pP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Se usa en tablas de contingencia (también llamadas Tablas cruzadas).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0A22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Independencia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81844"/>
            <a:ext cx="4691983" cy="90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3"/>
              </a:lnSpc>
            </a:pP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milar a la p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rue</a:t>
            </a:r>
            <a:r>
              <a:rPr lang="en-US" sz="1716" spc="-25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 de independencia, pero aplicada cuando se comparan varios grupos para ver si provienen de la misma distribución.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0A22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Homogeneidad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Tipos de Prueba Chi-Cuadrado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0A22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0A22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0A2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695286" y="5347881"/>
            <a:ext cx="4897427" cy="514585"/>
          </a:xfrm>
          <a:custGeom>
            <a:avLst/>
            <a:gdLst/>
            <a:ahLst/>
            <a:cxnLst/>
            <a:rect r="r" b="b" t="t" l="l"/>
            <a:pathLst>
              <a:path h="514585" w="4897427">
                <a:moveTo>
                  <a:pt x="0" y="0"/>
                </a:moveTo>
                <a:lnTo>
                  <a:pt x="4897428" y="0"/>
                </a:lnTo>
                <a:lnTo>
                  <a:pt x="4897428" y="514585"/>
                </a:lnTo>
                <a:lnTo>
                  <a:pt x="0" y="51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13341" y="6300786"/>
            <a:ext cx="4599936" cy="1009018"/>
          </a:xfrm>
          <a:custGeom>
            <a:avLst/>
            <a:gdLst/>
            <a:ahLst/>
            <a:cxnLst/>
            <a:rect r="r" b="b" t="t" l="l"/>
            <a:pathLst>
              <a:path h="1009018" w="4599936">
                <a:moveTo>
                  <a:pt x="0" y="0"/>
                </a:moveTo>
                <a:lnTo>
                  <a:pt x="4599935" y="0"/>
                </a:lnTo>
                <a:lnTo>
                  <a:pt x="4599935" y="1009019"/>
                </a:lnTo>
                <a:lnTo>
                  <a:pt x="0" y="1009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1066" y="7565104"/>
            <a:ext cx="4738234" cy="88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epresentan la 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istrib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ución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datos que se esperaría si no existiera relación entre las variables (independencia).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1066" y="3381375"/>
            <a:ext cx="4699667" cy="50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0"/>
              </a:lnSpc>
              <a:spcBef>
                <a:spcPct val="0"/>
              </a:spcBef>
            </a:pPr>
            <a:r>
              <a:rPr lang="en-US" sz="3500" spc="-87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Frecue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ci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obs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rv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</a:t>
            </a:r>
            <a:r>
              <a:rPr lang="en-US" sz="3500" spc="-87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(O)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1099" y="7986569"/>
            <a:ext cx="4741615" cy="2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 general se utiliza 0.05.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Gra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os 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l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bert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 (gl)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67317" y="4538694"/>
            <a:ext cx="4691983" cy="88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el punto de c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omparación toma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la tabla Chi-Cuadrado.</a:t>
            </a:r>
          </a:p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Val</a:t>
            </a:r>
            <a:r>
              <a:rPr lang="en-US" sz="3800" spc="-95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or crítico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Conce</a:t>
            </a:r>
            <a:r>
              <a:rPr lang="en-US" sz="8000" spc="-200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ptos claves para entender la prueba Chi-Cuadrado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1783" y="6292850"/>
            <a:ext cx="4699667" cy="51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60"/>
              </a:lnSpc>
              <a:spcBef>
                <a:spcPct val="0"/>
              </a:spcBef>
            </a:pPr>
            <a:r>
              <a:rPr lang="en-US" sz="3600" spc="-90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Frecue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ci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esp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</a:t>
            </a:r>
            <a:r>
              <a:rPr lang="en-US" sz="3600" spc="-90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(E)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6167" y="4822047"/>
            <a:ext cx="4738234" cy="2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 los 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tos reales recogidos en campo.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95286" y="6833871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Nivel 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sig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ifica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ncia</a:t>
            </a:r>
            <a:r>
              <a:rPr lang="en-US" sz="3800" spc="-95" strike="noStrike" u="none">
                <a:solidFill>
                  <a:srgbClr val="D4AF37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(α)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73192" y="4262469"/>
            <a:ext cx="4741615" cy="88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antidad de valores que pue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varia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 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ibrem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nte en el cálculo.</a:t>
            </a:r>
          </a:p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Para tablas de contingencia: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1575" y="8112760"/>
            <a:ext cx="4691983" cy="2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4"/>
              </a:lnSpc>
            </a:pP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⇒ Se rech</a:t>
            </a:r>
            <a:r>
              <a:rPr lang="en-US" sz="1688" spc="-2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aza la hipótesis nula.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4010025" cy="2340610"/>
            <a:chOff x="0" y="0"/>
            <a:chExt cx="1029283" cy="600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2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666750"/>
            <a:ext cx="4010025" cy="2340610"/>
            <a:chOff x="0" y="0"/>
            <a:chExt cx="1029283" cy="6007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283" cy="600782"/>
            </a:xfrm>
            <a:custGeom>
              <a:avLst/>
              <a:gdLst/>
              <a:ahLst/>
              <a:cxnLst/>
              <a:rect r="r" b="b" t="t" l="l"/>
              <a:pathLst>
                <a:path h="600782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62169"/>
                  </a:lnTo>
                  <a:cubicBezTo>
                    <a:pt x="1029283" y="583494"/>
                    <a:pt x="1011996" y="600782"/>
                    <a:pt x="990671" y="600782"/>
                  </a:cubicBezTo>
                  <a:lnTo>
                    <a:pt x="38613" y="600782"/>
                  </a:lnTo>
                  <a:cubicBezTo>
                    <a:pt x="17288" y="600782"/>
                    <a:pt x="0" y="583494"/>
                    <a:pt x="0" y="562169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3"/>
              <a:stretch>
                <a:fillRect l="-102" t="0" r="-102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296400" y="5143500"/>
            <a:ext cx="4010025" cy="2239371"/>
            <a:chOff x="0" y="0"/>
            <a:chExt cx="1029283" cy="574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9283" cy="574796"/>
            </a:xfrm>
            <a:custGeom>
              <a:avLst/>
              <a:gdLst/>
              <a:ahLst/>
              <a:cxnLst/>
              <a:rect r="r" b="b" t="t" l="l"/>
              <a:pathLst>
                <a:path h="574796" w="1029283">
                  <a:moveTo>
                    <a:pt x="38613" y="0"/>
                  </a:moveTo>
                  <a:lnTo>
                    <a:pt x="990671" y="0"/>
                  </a:lnTo>
                  <a:cubicBezTo>
                    <a:pt x="1011996" y="0"/>
                    <a:pt x="1029283" y="17288"/>
                    <a:pt x="1029283" y="38613"/>
                  </a:cubicBezTo>
                  <a:lnTo>
                    <a:pt x="1029283" y="536184"/>
                  </a:lnTo>
                  <a:cubicBezTo>
                    <a:pt x="1029283" y="557509"/>
                    <a:pt x="1011996" y="574796"/>
                    <a:pt x="990671" y="574796"/>
                  </a:cubicBezTo>
                  <a:lnTo>
                    <a:pt x="38613" y="574796"/>
                  </a:lnTo>
                  <a:cubicBezTo>
                    <a:pt x="17288" y="574796"/>
                    <a:pt x="0" y="557509"/>
                    <a:pt x="0" y="536184"/>
                  </a:cubicBezTo>
                  <a:lnTo>
                    <a:pt x="0" y="38613"/>
                  </a:lnTo>
                  <a:cubicBezTo>
                    <a:pt x="0" y="17288"/>
                    <a:pt x="17288" y="0"/>
                    <a:pt x="38613" y="0"/>
                  </a:cubicBezTo>
                  <a:close/>
                </a:path>
              </a:pathLst>
            </a:custGeom>
            <a:blipFill>
              <a:blip r:embed="rId4"/>
              <a:stretch>
                <a:fillRect l="-423" t="0" r="-423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4AF37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733425"/>
            <a:ext cx="5753100" cy="4492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Aplicaciones de la Prueba de Chi-Cuadrado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6400" y="3344989"/>
            <a:ext cx="4010025" cy="1542288"/>
            <a:chOff x="0" y="0"/>
            <a:chExt cx="5346700" cy="205638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Educación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62889"/>
              <a:ext cx="5346700" cy="12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Comparar rendimiento</a:t>
              </a: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entre secciones, analizar asistencia, estudiar hábitos de estudio.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3352800"/>
            <a:ext cx="4010025" cy="1866138"/>
            <a:chOff x="0" y="0"/>
            <a:chExt cx="5346700" cy="248818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Salud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62889"/>
              <a:ext cx="5346700" cy="1725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  <a:spcBef>
                  <a:spcPct val="0"/>
                </a:spcBef>
              </a:pP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uar relac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ón entre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íntoma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gnós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efic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tratamientos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coincidencia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clasif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7829550"/>
            <a:ext cx="4010025" cy="1542288"/>
            <a:chOff x="0" y="0"/>
            <a:chExt cx="5346700" cy="205638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Marketing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62889"/>
              <a:ext cx="5346700" cy="12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</a:pP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Determin</a:t>
              </a: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 si existe relación entre edad y preferencia de productos, analizar resultados de encuestas.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13763625" y="5753100"/>
            <a:ext cx="4010025" cy="1542288"/>
            <a:chOff x="0" y="0"/>
            <a:chExt cx="5346700" cy="2056384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Ingeniería y c</a:t>
              </a:r>
              <a:r>
                <a:rPr lang="en-US" b="true" sz="2800" spc="-42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alidad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762889"/>
              <a:ext cx="5346700" cy="12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  <a:spcBef>
                  <a:spcPct val="0"/>
                </a:spcBef>
              </a:pP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car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fec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tos p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or 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tego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í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evaluar proc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de p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oducción, valid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ar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buci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d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err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63625" y="7829550"/>
            <a:ext cx="4010025" cy="1542288"/>
            <a:chOff x="0" y="0"/>
            <a:chExt cx="5346700" cy="2056384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pc="-42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Ciencias soci</a:t>
              </a:r>
              <a:r>
                <a:rPr lang="en-US" b="true" sz="2800" spc="-42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762889"/>
              <a:ext cx="5346700" cy="1293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0"/>
                </a:lnSpc>
                <a:spcBef>
                  <a:spcPct val="0"/>
                </a:spcBef>
              </a:pPr>
              <a:r>
                <a:rPr lang="en-US" sz="2000" spc="-3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car patrone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pobl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lizar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cci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 compo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rtamiento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ete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tar sesg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4AF3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A22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761098" y="6418262"/>
            <a:ext cx="4178996" cy="741923"/>
          </a:xfrm>
          <a:custGeom>
            <a:avLst/>
            <a:gdLst/>
            <a:ahLst/>
            <a:cxnLst/>
            <a:rect r="r" b="b" t="t" l="l"/>
            <a:pathLst>
              <a:path h="741923" w="4178996">
                <a:moveTo>
                  <a:pt x="0" y="0"/>
                </a:moveTo>
                <a:lnTo>
                  <a:pt x="4178996" y="0"/>
                </a:lnTo>
                <a:lnTo>
                  <a:pt x="4178996" y="741924"/>
                </a:lnTo>
                <a:lnTo>
                  <a:pt x="0" y="741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98928" y="1239282"/>
            <a:ext cx="13249275" cy="2067009"/>
            <a:chOff x="0" y="0"/>
            <a:chExt cx="17665700" cy="275601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D4AF3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Procedimiento paso a paso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Guía detallada para la prueba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8928" y="3868738"/>
            <a:ext cx="4308497" cy="2549525"/>
            <a:chOff x="0" y="0"/>
            <a:chExt cx="5744662" cy="33993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Planteamiento de hipótesis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0450"/>
              <a:ext cx="5744662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El primer paso consiste en formular las hipótesis nula (H0) y alternativa (H1), definiendo claramente las relaciones o diferencias que se desean investigar en los datos.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55597" y="6418262"/>
            <a:ext cx="4010025" cy="2549525"/>
            <a:chOff x="0" y="0"/>
            <a:chExt cx="5346700" cy="33993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Construcción de tabla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0450"/>
              <a:ext cx="5346700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 debe elaborar una tabla de frecuencias, donde se registren las frecuencias observadas (O) de cada categoría o grupo, que se utilizarán para el análisis posterior.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61098" y="3306291"/>
            <a:ext cx="4010025" cy="2901950"/>
            <a:chOff x="0" y="0"/>
            <a:chExt cx="5346700" cy="386926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Cálculo de frecuencias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4AF37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Posteriormente, se calculan las frecuencias esperadas (E) a partir de los datos observados, utilizando fórmulas específicas según el tipo de prueba Chi-Cuadrado que se está realizando.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12766" y="3868738"/>
            <a:ext cx="4311322" cy="1911350"/>
            <a:chOff x="0" y="0"/>
            <a:chExt cx="5748430" cy="254846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5748430" cy="156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Calcular los grados de libertad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089150"/>
              <a:ext cx="574843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12766" y="5566183"/>
            <a:ext cx="4311322" cy="1911350"/>
            <a:chOff x="0" y="0"/>
            <a:chExt cx="5748430" cy="254846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5748430" cy="156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Determinar el va</a:t>
              </a: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lor crítico de la tabla χ²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2089150"/>
              <a:ext cx="574843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12766" y="2272786"/>
            <a:ext cx="4627798" cy="1911350"/>
            <a:chOff x="0" y="0"/>
            <a:chExt cx="6170398" cy="254846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0"/>
              <a:ext cx="6170398" cy="156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</a:t>
              </a: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licar la fórmula del Chi-Cuadrado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089150"/>
              <a:ext cx="6170398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12766" y="7477533"/>
            <a:ext cx="4311322" cy="1511300"/>
            <a:chOff x="0" y="0"/>
            <a:chExt cx="5748430" cy="201506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0"/>
              <a:ext cx="5748430" cy="1028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Comparar y concluir</a:t>
              </a:r>
            </a:p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555750"/>
              <a:ext cx="5748430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D4AF3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graphicFrame>
        <p:nvGraphicFramePr>
          <p:cNvPr name="Object 6" id="6"/>
          <p:cNvGraphicFramePr/>
          <p:nvPr/>
        </p:nvGraphicFramePr>
        <p:xfrm>
          <a:off x="10887219" y="5414207"/>
          <a:ext cx="7543800" cy="2514600"/>
        </p:xfrm>
        <a:graphic>
          <a:graphicData uri="http://schemas.openxmlformats.org/presentationml/2006/ole">
            <p:oleObj imgW="9042400" imgH="4013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9296400" y="733425"/>
            <a:ext cx="8324850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Ej</a:t>
            </a:r>
            <a:r>
              <a:rPr lang="en-US" sz="8000" spc="-24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ercicio práctico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698564"/>
            <a:ext cx="83248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✦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ient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del pro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256126"/>
            <a:ext cx="832485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inv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igador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s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existe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relación entre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género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(Hombre/Mujer)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la preferencia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por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estudiar de día o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noche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evist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ó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60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s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obtuvo 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 s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ig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ui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nte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59742" y="8458200"/>
            <a:ext cx="78490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Queremos comprobar si existe relación entre el género y la preferencia de horario.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A22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588751" y="4671243"/>
            <a:ext cx="6601541" cy="1320308"/>
          </a:xfrm>
          <a:custGeom>
            <a:avLst/>
            <a:gdLst/>
            <a:ahLst/>
            <a:cxnLst/>
            <a:rect r="r" b="b" t="t" l="l"/>
            <a:pathLst>
              <a:path h="1320308" w="6601541">
                <a:moveTo>
                  <a:pt x="0" y="0"/>
                </a:moveTo>
                <a:lnTo>
                  <a:pt x="6601541" y="0"/>
                </a:lnTo>
                <a:lnTo>
                  <a:pt x="6601541" y="1320308"/>
                </a:lnTo>
                <a:lnTo>
                  <a:pt x="0" y="1320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7438450"/>
            <a:ext cx="8346952" cy="1736410"/>
          </a:xfrm>
          <a:custGeom>
            <a:avLst/>
            <a:gdLst/>
            <a:ahLst/>
            <a:cxnLst/>
            <a:rect r="r" b="b" t="t" l="l"/>
            <a:pathLst>
              <a:path h="1736410" w="8346952">
                <a:moveTo>
                  <a:pt x="0" y="0"/>
                </a:moveTo>
                <a:lnTo>
                  <a:pt x="8346952" y="0"/>
                </a:lnTo>
                <a:lnTo>
                  <a:pt x="8346952" y="1736409"/>
                </a:lnTo>
                <a:lnTo>
                  <a:pt x="0" y="1736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34450" y="324522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0A22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Parte</a:t>
            </a:r>
            <a:r>
              <a:rPr lang="en-US" sz="8000" spc="-240">
                <a:solidFill>
                  <a:srgbClr val="0A22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 1: Hipótesis y datos iniciales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21636" y="2540672"/>
            <a:ext cx="832485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Ho: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géne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ferenci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horar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io s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epe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ndientes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H1: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xi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 r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ela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ión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ntre la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var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es.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edemos 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ca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lcul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 las frecuencias esperadas</a:t>
            </a:r>
            <a:r>
              <a:rPr lang="en-US" sz="2499" spc="-37" strike="noStrike" u="none">
                <a:solidFill>
                  <a:srgbClr val="0A224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64230" y="6514525"/>
            <a:ext cx="184904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0A224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 ejemplo: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4375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7" id="7"/>
          <p:cNvGraphicFramePr/>
          <p:nvPr/>
        </p:nvGraphicFramePr>
        <p:xfrm>
          <a:off x="10551373" y="2103479"/>
          <a:ext cx="5657850" cy="1885950"/>
        </p:xfrm>
        <a:graphic>
          <a:graphicData uri="http://schemas.openxmlformats.org/presentationml/2006/ole">
            <p:oleObj imgW="6781800" imgH="3009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2323609" y="6980587"/>
            <a:ext cx="3238642" cy="1092100"/>
          </a:xfrm>
          <a:custGeom>
            <a:avLst/>
            <a:gdLst/>
            <a:ahLst/>
            <a:cxnLst/>
            <a:rect r="r" b="b" t="t" l="l"/>
            <a:pathLst>
              <a:path h="1092100" w="3238642">
                <a:moveTo>
                  <a:pt x="0" y="0"/>
                </a:moveTo>
                <a:lnTo>
                  <a:pt x="3238642" y="0"/>
                </a:lnTo>
                <a:lnTo>
                  <a:pt x="3238642" y="1092100"/>
                </a:lnTo>
                <a:lnTo>
                  <a:pt x="0" y="1092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70166" y="6980587"/>
            <a:ext cx="4391840" cy="1172690"/>
          </a:xfrm>
          <a:custGeom>
            <a:avLst/>
            <a:gdLst/>
            <a:ahLst/>
            <a:cxnLst/>
            <a:rect r="r" b="b" t="t" l="l"/>
            <a:pathLst>
              <a:path h="1172690" w="4391840">
                <a:moveTo>
                  <a:pt x="0" y="0"/>
                </a:moveTo>
                <a:lnTo>
                  <a:pt x="4391840" y="0"/>
                </a:lnTo>
                <a:lnTo>
                  <a:pt x="4391840" y="1172690"/>
                </a:lnTo>
                <a:lnTo>
                  <a:pt x="0" y="11726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97747" y="6980587"/>
            <a:ext cx="3916319" cy="876379"/>
          </a:xfrm>
          <a:custGeom>
            <a:avLst/>
            <a:gdLst/>
            <a:ahLst/>
            <a:cxnLst/>
            <a:rect r="r" b="b" t="t" l="l"/>
            <a:pathLst>
              <a:path h="876379" w="3916319">
                <a:moveTo>
                  <a:pt x="0" y="0"/>
                </a:moveTo>
                <a:lnTo>
                  <a:pt x="3916319" y="0"/>
                </a:lnTo>
                <a:lnTo>
                  <a:pt x="3916319" y="876379"/>
                </a:lnTo>
                <a:lnTo>
                  <a:pt x="0" y="8763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952625" y="1028700"/>
            <a:ext cx="14382750" cy="2149557"/>
            <a:chOff x="0" y="0"/>
            <a:chExt cx="19177000" cy="286607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19177000" cy="1285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00"/>
                </a:lnSpc>
              </a:pPr>
              <a:r>
                <a:rPr lang="en-US" sz="6000" spc="-180">
                  <a:solidFill>
                    <a:srgbClr val="D4AF3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</a:t>
              </a:r>
              <a:r>
                <a:rPr lang="en-US" sz="6000" spc="-180">
                  <a:solidFill>
                    <a:srgbClr val="D4AF3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arte 2: Cálculo de todas las frecuencias esperadas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789751"/>
              <a:ext cx="19177000" cy="107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</a:t>
              </a: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ada celda se calcula igual cambiando fila y columna.</a:t>
              </a:r>
            </a:p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52625" y="5143500"/>
            <a:ext cx="14382750" cy="2149557"/>
            <a:chOff x="0" y="0"/>
            <a:chExt cx="19177000" cy="286607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19177000" cy="1285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00"/>
                </a:lnSpc>
              </a:pPr>
              <a:r>
                <a:rPr lang="en-US" sz="6000" spc="-180">
                  <a:solidFill>
                    <a:srgbClr val="D4AF3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</a:t>
              </a:r>
              <a:r>
                <a:rPr lang="en-US" sz="6000" spc="-180">
                  <a:solidFill>
                    <a:srgbClr val="D4AF37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arte 3: Aplicación de la fórmula Chi-Cuadrado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789751"/>
              <a:ext cx="19177000" cy="107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</a:t>
              </a: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licamos:</a:t>
              </a:r>
            </a:p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62060" y="6386911"/>
            <a:ext cx="378542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  <a:spcBef>
                <a:spcPct val="0"/>
              </a:spcBef>
            </a:pPr>
            <a:r>
              <a:rPr lang="en-US" b="true" sz="2214" spc="-33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</a:t>
            </a:r>
            <a:r>
              <a:rPr lang="en-US" b="true" sz="2214" spc="-33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lculamos cada celda</a:t>
            </a:r>
          </a:p>
          <a:p>
            <a:pPr algn="l">
              <a:lnSpc>
                <a:spcPts val="2657"/>
              </a:lnSpc>
              <a:spcBef>
                <a:spcPct val="0"/>
              </a:spcBef>
            </a:pPr>
            <a:r>
              <a:rPr lang="en-US" b="true" sz="2214" spc="-33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Ejemplo: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7315" y="6386911"/>
            <a:ext cx="378542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7"/>
              </a:lnSpc>
              <a:spcBef>
                <a:spcPct val="0"/>
              </a:spcBef>
            </a:pPr>
            <a:r>
              <a:rPr lang="en-US" b="true" sz="2214" spc="-33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</a:t>
            </a:r>
            <a:r>
              <a:rPr lang="en-US" b="true" sz="2214" spc="-33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umando todas las celdas: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4AF3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A224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057639" y="4170316"/>
            <a:ext cx="5852761" cy="798104"/>
          </a:xfrm>
          <a:custGeom>
            <a:avLst/>
            <a:gdLst/>
            <a:ahLst/>
            <a:cxnLst/>
            <a:rect r="r" b="b" t="t" l="l"/>
            <a:pathLst>
              <a:path h="798104" w="5852761">
                <a:moveTo>
                  <a:pt x="0" y="0"/>
                </a:moveTo>
                <a:lnTo>
                  <a:pt x="5852761" y="0"/>
                </a:lnTo>
                <a:lnTo>
                  <a:pt x="5852761" y="798104"/>
                </a:lnTo>
                <a:lnTo>
                  <a:pt x="0" y="798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08437" y="6156049"/>
            <a:ext cx="6186331" cy="764334"/>
          </a:xfrm>
          <a:custGeom>
            <a:avLst/>
            <a:gdLst/>
            <a:ahLst/>
            <a:cxnLst/>
            <a:rect r="r" b="b" t="t" l="l"/>
            <a:pathLst>
              <a:path h="764334" w="6186331">
                <a:moveTo>
                  <a:pt x="0" y="0"/>
                </a:moveTo>
                <a:lnTo>
                  <a:pt x="6186331" y="0"/>
                </a:lnTo>
                <a:lnTo>
                  <a:pt x="6186331" y="764334"/>
                </a:lnTo>
                <a:lnTo>
                  <a:pt x="0" y="764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83716" y="1303845"/>
            <a:ext cx="15355551" cy="4019550"/>
            <a:chOff x="0" y="0"/>
            <a:chExt cx="20474069" cy="53594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85725"/>
              <a:ext cx="20474069" cy="345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Part</a:t>
              </a: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 4: Grados de libertad, valor crítico y conclusión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940287"/>
              <a:ext cx="20474069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53" indent="-269876" lvl="1">
                <a:lnSpc>
                  <a:spcPts val="30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</a:t>
              </a:r>
              <a:r>
                <a:rPr lang="en-US" b="true" sz="2500" spc="-37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bla 2×2 →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812241"/>
              <a:ext cx="16028944" cy="54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83716" y="5499991"/>
            <a:ext cx="713444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 α = 0.05, el valor crítico con 1 g</a:t>
            </a:r>
            <a:r>
              <a:rPr lang="en-US" b="true" sz="2500" spc="-37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 es 3.84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3716" y="6109591"/>
            <a:ext cx="277392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0" spc="-37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Comparación: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4514" y="7258458"/>
            <a:ext cx="13319325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000"/>
              </a:lnSpc>
              <a:buFont typeface="Arial"/>
              <a:buChar char="•"/>
            </a:pPr>
            <a:r>
              <a:rPr lang="en-US" b="true" sz="2500" spc="-37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Conclusión:</a:t>
            </a:r>
          </a:p>
          <a:p>
            <a:pPr algn="l">
              <a:lnSpc>
                <a:spcPts val="3000"/>
              </a:lnSpc>
            </a:pPr>
            <a:r>
              <a:rPr lang="en-US" sz="2500" spc="-37" b="true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Se rechaza Ho.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500" spc="-37">
                <a:solidFill>
                  <a:srgbClr val="D4AF37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Existe relación significativa entre el género y la preferencia de estudio (día/noche).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11438" y="5487913"/>
            <a:ext cx="6810911" cy="3598217"/>
          </a:xfrm>
          <a:custGeom>
            <a:avLst/>
            <a:gdLst/>
            <a:ahLst/>
            <a:cxnLst/>
            <a:rect r="r" b="b" t="t" l="l"/>
            <a:pathLst>
              <a:path h="3598217" w="6810911">
                <a:moveTo>
                  <a:pt x="0" y="0"/>
                </a:moveTo>
                <a:lnTo>
                  <a:pt x="6810911" y="0"/>
                </a:lnTo>
                <a:lnTo>
                  <a:pt x="6810911" y="3598217"/>
                </a:lnTo>
                <a:lnTo>
                  <a:pt x="0" y="3598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35" t="-61209" r="-5729" b="-4977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05025" y="1562100"/>
            <a:ext cx="13314128" cy="3717925"/>
            <a:chOff x="0" y="0"/>
            <a:chExt cx="17752170" cy="495723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73275"/>
              <a:ext cx="17752170" cy="2883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pru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eba de Ch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-Cuadrad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es una h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er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ram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nta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podero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para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zar variables cualitativas, permitiendo determinar si ex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ist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relación entre categorías o si una dis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ib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uci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ó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jus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lo esperado. Su facilidad de aplicación, 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ter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pret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ión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 adap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dad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h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indisp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ble en in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nes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científicas y académicas. E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ejer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cio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entado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de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muestra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 cóm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calcu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 se i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terpr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eta e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ta</a:t>
              </a:r>
              <a:r>
                <a:rPr lang="en-US" sz="2499" spc="-37">
                  <a:solidFill>
                    <a:srgbClr val="0A224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prueba en un contexto real.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17752170" cy="154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spc="-104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</a:t>
              </a:r>
              <a:r>
                <a:rPr lang="en-US" b="true" sz="6999" spc="-104">
                  <a:solidFill>
                    <a:srgbClr val="D4AF37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nclusión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A22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0" y="2686194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0A224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Gracias por su Atencíon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Prueba de Chi-Cuadrado (χ²)</dc:description>
  <dc:identifier>DAG5wD6fIaE</dc:identifier>
  <dcterms:modified xsi:type="dcterms:W3CDTF">2011-08-01T06:04:30Z</dcterms:modified>
  <cp:revision>1</cp:revision>
  <dc:title>Presentation - Prueba de Chi-Cuadrado (χ²)</dc:title>
</cp:coreProperties>
</file>