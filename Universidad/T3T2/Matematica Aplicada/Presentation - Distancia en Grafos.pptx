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eorgia Pro Light" charset="1" panose="02040302050405020303"/>
      <p:regular r:id="rId18"/>
    </p:embeddedFont>
    <p:embeddedFont>
      <p:font typeface="DM Sans" charset="1" panose="00000000000000000000"/>
      <p:regular r:id="rId19"/>
    </p:embeddedFont>
    <p:embeddedFont>
      <p:font typeface="DM Sans Bold" charset="1" panose="00000000000000000000"/>
      <p:regular r:id="rId20"/>
    </p:embeddedFont>
    <p:embeddedFont>
      <p:font typeface="Georgia Pro Bold" charset="1" panose="020408020504050202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4.pn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D33"/>
        </a:solidFill>
      </p:bgPr>
    </p:bg>
    <p:spTree>
      <p:nvGrpSpPr>
        <p:cNvPr id="1" name=""/>
        <p:cNvGrpSpPr/>
        <p:nvPr/>
      </p:nvGrpSpPr>
      <p:grpSpPr>
        <a:xfrm>
          <a:off x="0" y="0"/>
          <a:ext cx="0" cy="0"/>
          <a:chOff x="0" y="0"/>
          <a:chExt cx="0" cy="0"/>
        </a:xfrm>
      </p:grpSpPr>
      <p:grpSp>
        <p:nvGrpSpPr>
          <p:cNvPr name="Group 2" id="2"/>
          <p:cNvGrpSpPr/>
          <p:nvPr/>
        </p:nvGrpSpPr>
        <p:grpSpPr>
          <a:xfrm rot="0">
            <a:off x="0" y="0"/>
            <a:ext cx="8991600" cy="10287000"/>
            <a:chOff x="0" y="0"/>
            <a:chExt cx="1035548" cy="1184737"/>
          </a:xfrm>
        </p:grpSpPr>
        <p:sp>
          <p:nvSpPr>
            <p:cNvPr name="Freeform 3" id="3"/>
            <p:cNvSpPr/>
            <p:nvPr/>
          </p:nvSpPr>
          <p:spPr>
            <a:xfrm flipH="false" flipV="false" rot="0">
              <a:off x="0" y="0"/>
              <a:ext cx="1035548" cy="1184737"/>
            </a:xfrm>
            <a:custGeom>
              <a:avLst/>
              <a:gdLst/>
              <a:ahLst/>
              <a:cxnLst/>
              <a:rect r="r" b="b" t="t" l="l"/>
              <a:pathLst>
                <a:path h="1184737" w="1035548">
                  <a:moveTo>
                    <a:pt x="0" y="0"/>
                  </a:moveTo>
                  <a:lnTo>
                    <a:pt x="1035548" y="0"/>
                  </a:lnTo>
                  <a:lnTo>
                    <a:pt x="1035548" y="1184737"/>
                  </a:lnTo>
                  <a:lnTo>
                    <a:pt x="0" y="1184737"/>
                  </a:lnTo>
                  <a:close/>
                </a:path>
              </a:pathLst>
            </a:custGeom>
            <a:blipFill>
              <a:blip r:embed="rId2"/>
              <a:stretch>
                <a:fillRect l="0" t="-597" r="0" b="-597"/>
              </a:stretch>
            </a:blipFill>
          </p:spPr>
        </p:sp>
      </p:grpSp>
      <p:grpSp>
        <p:nvGrpSpPr>
          <p:cNvPr name="Group 4" id="4"/>
          <p:cNvGrpSpPr/>
          <p:nvPr/>
        </p:nvGrpSpPr>
        <p:grpSpPr>
          <a:xfrm rot="0">
            <a:off x="10734675" y="1562100"/>
            <a:ext cx="6886575" cy="4704803"/>
            <a:chOff x="0" y="0"/>
            <a:chExt cx="9182100" cy="6273070"/>
          </a:xfrm>
        </p:grpSpPr>
        <p:sp>
          <p:nvSpPr>
            <p:cNvPr name="TextBox 5" id="5"/>
            <p:cNvSpPr txBox="true"/>
            <p:nvPr/>
          </p:nvSpPr>
          <p:spPr>
            <a:xfrm rot="0">
              <a:off x="0" y="95250"/>
              <a:ext cx="9182100" cy="4280342"/>
            </a:xfrm>
            <a:prstGeom prst="rect">
              <a:avLst/>
            </a:prstGeom>
          </p:spPr>
          <p:txBody>
            <a:bodyPr anchor="t" rtlCol="false" tIns="0" lIns="0" bIns="0" rIns="0">
              <a:spAutoFit/>
            </a:bodyPr>
            <a:lstStyle/>
            <a:p>
              <a:pPr algn="l" marL="0" indent="0" lvl="0">
                <a:lnSpc>
                  <a:spcPts val="6200"/>
                </a:lnSpc>
              </a:pPr>
              <a:r>
                <a:rPr lang="en-US" sz="6200">
                  <a:solidFill>
                    <a:srgbClr val="FFFFFF"/>
                  </a:solidFill>
                  <a:latin typeface="Georgia Pro Light"/>
                  <a:ea typeface="Georgia Pro Light"/>
                  <a:cs typeface="Georgia Pro Light"/>
                  <a:sym typeface="Georgia Pro Light"/>
                </a:rPr>
                <a:t>Distancia de un grafo, Arboles: Definiciones, recorridos </a:t>
              </a:r>
            </a:p>
          </p:txBody>
        </p:sp>
        <p:sp>
          <p:nvSpPr>
            <p:cNvPr name="TextBox 6" id="6"/>
            <p:cNvSpPr txBox="true"/>
            <p:nvPr/>
          </p:nvSpPr>
          <p:spPr>
            <a:xfrm rot="0">
              <a:off x="0" y="4626515"/>
              <a:ext cx="9172670" cy="1646555"/>
            </a:xfrm>
            <a:prstGeom prst="rect">
              <a:avLst/>
            </a:prstGeom>
          </p:spPr>
          <p:txBody>
            <a:bodyPr anchor="t" rtlCol="false" tIns="0" lIns="0" bIns="0" rIns="0">
              <a:spAutoFit/>
            </a:bodyPr>
            <a:lstStyle/>
            <a:p>
              <a:pPr algn="l" marL="0" indent="0" lvl="0">
                <a:lnSpc>
                  <a:spcPts val="5039"/>
                </a:lnSpc>
              </a:pPr>
              <a:r>
                <a:rPr lang="en-US" sz="3599">
                  <a:solidFill>
                    <a:srgbClr val="B0BEC5"/>
                  </a:solidFill>
                  <a:latin typeface="DM Sans"/>
                  <a:ea typeface="DM Sans"/>
                  <a:cs typeface="DM Sans"/>
                  <a:sym typeface="DM Sans"/>
                </a:rPr>
                <a:t>Teoría de Grafos – Matemática Aplicada</a:t>
              </a:r>
            </a:p>
          </p:txBody>
        </p:sp>
      </p:grpSp>
      <p:grpSp>
        <p:nvGrpSpPr>
          <p:cNvPr name="Group 7" id="7"/>
          <p:cNvGrpSpPr/>
          <p:nvPr/>
        </p:nvGrpSpPr>
        <p:grpSpPr>
          <a:xfrm rot="0">
            <a:off x="9612842" y="7682570"/>
            <a:ext cx="5743575" cy="2069972"/>
            <a:chOff x="0" y="0"/>
            <a:chExt cx="7658100" cy="2759962"/>
          </a:xfrm>
        </p:grpSpPr>
        <p:sp>
          <p:nvSpPr>
            <p:cNvPr name="TextBox 8" id="8"/>
            <p:cNvSpPr txBox="true"/>
            <p:nvPr/>
          </p:nvSpPr>
          <p:spPr>
            <a:xfrm rot="0">
              <a:off x="0" y="704044"/>
              <a:ext cx="7658100" cy="2055918"/>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FFFFFF"/>
                  </a:solidFill>
                  <a:latin typeface="DM Sans"/>
                  <a:ea typeface="DM Sans"/>
                  <a:cs typeface="DM Sans"/>
                  <a:sym typeface="DM Sans"/>
                </a:rPr>
                <a:t>Ángel </a:t>
              </a:r>
              <a:r>
                <a:rPr lang="en-US" sz="2200">
                  <a:solidFill>
                    <a:srgbClr val="FFFFFF"/>
                  </a:solidFill>
                  <a:latin typeface="DM Sans"/>
                  <a:ea typeface="DM Sans"/>
                  <a:cs typeface="DM Sans"/>
                  <a:sym typeface="DM Sans"/>
                </a:rPr>
                <a:t>Peña – C.I. 24.349.651</a:t>
              </a:r>
            </a:p>
            <a:p>
              <a:pPr algn="l" marL="0" indent="0" lvl="0">
                <a:lnSpc>
                  <a:spcPts val="3080"/>
                </a:lnSpc>
                <a:spcBef>
                  <a:spcPct val="0"/>
                </a:spcBef>
              </a:pPr>
              <a:r>
                <a:rPr lang="en-US" sz="2200">
                  <a:solidFill>
                    <a:srgbClr val="FFFFFF"/>
                  </a:solidFill>
                  <a:latin typeface="DM Sans"/>
                  <a:ea typeface="DM Sans"/>
                  <a:cs typeface="DM Sans"/>
                  <a:sym typeface="DM Sans"/>
                </a:rPr>
                <a:t>Gladys Vielma – C.I. 15.174.323</a:t>
              </a:r>
            </a:p>
            <a:p>
              <a:pPr algn="l" marL="0" indent="0" lvl="0">
                <a:lnSpc>
                  <a:spcPts val="3080"/>
                </a:lnSpc>
                <a:spcBef>
                  <a:spcPct val="0"/>
                </a:spcBef>
              </a:pPr>
              <a:r>
                <a:rPr lang="en-US" sz="2200">
                  <a:solidFill>
                    <a:srgbClr val="FFFFFF"/>
                  </a:solidFill>
                  <a:latin typeface="DM Sans"/>
                  <a:ea typeface="DM Sans"/>
                  <a:cs typeface="DM Sans"/>
                  <a:sym typeface="DM Sans"/>
                </a:rPr>
                <a:t>María Victoria Meza – C.I. 15.031.343</a:t>
              </a:r>
            </a:p>
            <a:p>
              <a:pPr algn="l" marL="0" indent="0" lvl="0">
                <a:lnSpc>
                  <a:spcPts val="3080"/>
                </a:lnSpc>
                <a:spcBef>
                  <a:spcPct val="0"/>
                </a:spcBef>
              </a:pPr>
              <a:r>
                <a:rPr lang="en-US" sz="2200">
                  <a:solidFill>
                    <a:srgbClr val="FFFFFF"/>
                  </a:solidFill>
                  <a:latin typeface="DM Sans"/>
                  <a:ea typeface="DM Sans"/>
                  <a:cs typeface="DM Sans"/>
                  <a:sym typeface="DM Sans"/>
                </a:rPr>
                <a:t>Rubén Ramírez – C.I. 16.020.185</a:t>
              </a:r>
            </a:p>
          </p:txBody>
        </p:sp>
        <p:sp>
          <p:nvSpPr>
            <p:cNvPr name="TextBox 9" id="9"/>
            <p:cNvSpPr txBox="true"/>
            <p:nvPr/>
          </p:nvSpPr>
          <p:spPr>
            <a:xfrm rot="0">
              <a:off x="0" y="-47625"/>
              <a:ext cx="7658100" cy="569172"/>
            </a:xfrm>
            <a:prstGeom prst="rect">
              <a:avLst/>
            </a:prstGeom>
          </p:spPr>
          <p:txBody>
            <a:bodyPr anchor="t" rtlCol="false" tIns="0" lIns="0" bIns="0" rIns="0">
              <a:spAutoFit/>
            </a:bodyPr>
            <a:lstStyle/>
            <a:p>
              <a:pPr algn="l" marL="0" indent="0" lvl="0">
                <a:lnSpc>
                  <a:spcPts val="3640"/>
                </a:lnSpc>
                <a:spcBef>
                  <a:spcPct val="0"/>
                </a:spcBef>
              </a:pPr>
              <a:r>
                <a:rPr lang="en-US" b="true" sz="2600">
                  <a:solidFill>
                    <a:srgbClr val="B0BEC5"/>
                  </a:solidFill>
                  <a:latin typeface="DM Sans Bold"/>
                  <a:ea typeface="DM Sans Bold"/>
                  <a:cs typeface="DM Sans Bold"/>
                  <a:sym typeface="DM Sans Bold"/>
                </a:rPr>
                <a:t>PRESENTADO POR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1341312" y="6780967"/>
            <a:ext cx="7978361" cy="3231236"/>
          </a:xfrm>
          <a:custGeom>
            <a:avLst/>
            <a:gdLst/>
            <a:ahLst/>
            <a:cxnLst/>
            <a:rect r="r" b="b" t="t" l="l"/>
            <a:pathLst>
              <a:path h="3231236" w="7978361">
                <a:moveTo>
                  <a:pt x="0" y="0"/>
                </a:moveTo>
                <a:lnTo>
                  <a:pt x="7978360" y="0"/>
                </a:lnTo>
                <a:lnTo>
                  <a:pt x="7978360" y="3231236"/>
                </a:lnTo>
                <a:lnTo>
                  <a:pt x="0" y="3231236"/>
                </a:lnTo>
                <a:lnTo>
                  <a:pt x="0" y="0"/>
                </a:lnTo>
                <a:close/>
              </a:path>
            </a:pathLst>
          </a:custGeom>
          <a:blipFill>
            <a:blip r:embed="rId3"/>
            <a:stretch>
              <a:fillRect l="0" t="0" r="0" b="0"/>
            </a:stretch>
          </a:blipFill>
        </p:spPr>
      </p:sp>
      <p:grpSp>
        <p:nvGrpSpPr>
          <p:cNvPr name="Group 5" id="5"/>
          <p:cNvGrpSpPr/>
          <p:nvPr/>
        </p:nvGrpSpPr>
        <p:grpSpPr>
          <a:xfrm rot="0">
            <a:off x="666750" y="666750"/>
            <a:ext cx="8324850" cy="5975931"/>
            <a:chOff x="0" y="0"/>
            <a:chExt cx="11099800" cy="7967908"/>
          </a:xfrm>
        </p:grpSpPr>
        <p:sp>
          <p:nvSpPr>
            <p:cNvPr name="TextBox 6" id="6"/>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A1D33"/>
                  </a:solidFill>
                  <a:latin typeface="Georgia Pro Light"/>
                  <a:ea typeface="Georgia Pro Light"/>
                  <a:cs typeface="Georgia Pro Light"/>
                  <a:sym typeface="Georgia Pro Light"/>
                </a:rPr>
                <a:t>Introducción</a:t>
              </a:r>
            </a:p>
          </p:txBody>
        </p:sp>
        <p:sp>
          <p:nvSpPr>
            <p:cNvPr name="TextBox 7" id="7"/>
            <p:cNvSpPr txBox="true"/>
            <p:nvPr/>
          </p:nvSpPr>
          <p:spPr>
            <a:xfrm rot="0">
              <a:off x="0" y="2047803"/>
              <a:ext cx="11099800" cy="592010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La teoría de</a:t>
              </a:r>
              <a:r>
                <a:rPr lang="en-US" sz="2100">
                  <a:solidFill>
                    <a:srgbClr val="0A1D33"/>
                  </a:solidFill>
                  <a:latin typeface="DM Sans"/>
                  <a:ea typeface="DM Sans"/>
                  <a:cs typeface="DM Sans"/>
                  <a:sym typeface="DM Sans"/>
                </a:rPr>
                <a:t> grafos es una rama de las matemáticas discretas que estudia estructuras compuestas por vértices (nodos) y aristas (conexiones). Estas estructuras permiten modelar relaciones entre distintos elementos y son ampliamente utilizadas en informática, telecomunicaciones, logística y análisis de redes.</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Uno de los conceptos más importantes dentro de esta teoría es la distancia entre vértices, ya que permite determinar la forma más eficiente de desplazarse dentro de una red. Por otro lado, los árboles constituyen un tipo especial de grafo que se utiliza ampliamente para representar estructuras jerárquicas y organizar información de manera eficiente.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206491"/>
            <a:ext cx="6887413" cy="3773302"/>
          </a:xfrm>
          <a:custGeom>
            <a:avLst/>
            <a:gdLst/>
            <a:ahLst/>
            <a:cxnLst/>
            <a:rect r="r" b="b" t="t" l="l"/>
            <a:pathLst>
              <a:path h="3773302" w="6887413">
                <a:moveTo>
                  <a:pt x="0" y="0"/>
                </a:moveTo>
                <a:lnTo>
                  <a:pt x="6887413" y="0"/>
                </a:lnTo>
                <a:lnTo>
                  <a:pt x="6887413" y="3773302"/>
                </a:lnTo>
                <a:lnTo>
                  <a:pt x="0" y="3773302"/>
                </a:lnTo>
                <a:lnTo>
                  <a:pt x="0" y="0"/>
                </a:lnTo>
                <a:close/>
              </a:path>
            </a:pathLst>
          </a:custGeom>
          <a:blipFill>
            <a:blip r:embed="rId2"/>
            <a:stretch>
              <a:fillRect l="0" t="0" r="0" b="0"/>
            </a:stretch>
          </a:blipFill>
        </p:spPr>
      </p:sp>
      <p:sp>
        <p:nvSpPr>
          <p:cNvPr name="Freeform 3" id="3"/>
          <p:cNvSpPr/>
          <p:nvPr/>
        </p:nvSpPr>
        <p:spPr>
          <a:xfrm flipH="false" flipV="false" rot="0">
            <a:off x="10970676" y="6842760"/>
            <a:ext cx="4700332" cy="3044041"/>
          </a:xfrm>
          <a:custGeom>
            <a:avLst/>
            <a:gdLst/>
            <a:ahLst/>
            <a:cxnLst/>
            <a:rect r="r" b="b" t="t" l="l"/>
            <a:pathLst>
              <a:path h="3044041" w="4700332">
                <a:moveTo>
                  <a:pt x="0" y="0"/>
                </a:moveTo>
                <a:lnTo>
                  <a:pt x="4700332" y="0"/>
                </a:lnTo>
                <a:lnTo>
                  <a:pt x="4700332" y="3044041"/>
                </a:lnTo>
                <a:lnTo>
                  <a:pt x="0" y="3044041"/>
                </a:lnTo>
                <a:lnTo>
                  <a:pt x="0" y="0"/>
                </a:lnTo>
                <a:close/>
              </a:path>
            </a:pathLst>
          </a:custGeom>
          <a:blipFill>
            <a:blip r:embed="rId3"/>
            <a:stretch>
              <a:fillRect l="0" t="-3657" r="0" b="-3657"/>
            </a:stretch>
          </a:blipFill>
        </p:spPr>
      </p:sp>
      <p:sp>
        <p:nvSpPr>
          <p:cNvPr name="TextBox 4" id="4"/>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0A1D33"/>
                </a:solidFill>
                <a:latin typeface="Georgia Pro Light"/>
                <a:ea typeface="Georgia Pro Light"/>
                <a:cs typeface="Georgia Pro Light"/>
                <a:sym typeface="Georgia Pro Light"/>
              </a:rPr>
              <a:t>Distancia en un Grafo</a:t>
            </a:r>
          </a:p>
        </p:txBody>
      </p:sp>
      <p:sp>
        <p:nvSpPr>
          <p:cNvPr name="TextBox 5" id="5"/>
          <p:cNvSpPr txBox="true"/>
          <p:nvPr/>
        </p:nvSpPr>
        <p:spPr>
          <a:xfrm rot="0">
            <a:off x="9296400" y="2123136"/>
            <a:ext cx="7191375" cy="73723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La distancia entre dos vértices de un grafo es la longitud del camino más corto que los conecta.</a:t>
            </a:r>
          </a:p>
        </p:txBody>
      </p:sp>
      <p:sp>
        <p:nvSpPr>
          <p:cNvPr name="TextBox 6" id="6"/>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A1D33"/>
                </a:solidFill>
                <a:latin typeface="DM Sans Bold"/>
                <a:ea typeface="DM Sans Bold"/>
                <a:cs typeface="DM Sans Bold"/>
                <a:sym typeface="DM Sans Bold"/>
              </a:rPr>
              <a:t>DEFINICIÓN DE DISTANCIA</a:t>
            </a:r>
          </a:p>
        </p:txBody>
      </p:sp>
      <p:sp>
        <p:nvSpPr>
          <p:cNvPr name="TextBox 7" id="7"/>
          <p:cNvSpPr txBox="true"/>
          <p:nvPr/>
        </p:nvSpPr>
        <p:spPr>
          <a:xfrm rot="0">
            <a:off x="9296400" y="3228188"/>
            <a:ext cx="7191375" cy="1108710"/>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F</a:t>
            </a:r>
            <a:r>
              <a:rPr lang="en-US" sz="2100">
                <a:solidFill>
                  <a:srgbClr val="0A1D33"/>
                </a:solidFill>
                <a:latin typeface="DM Sans"/>
                <a:ea typeface="DM Sans"/>
                <a:cs typeface="DM Sans"/>
                <a:sym typeface="DM Sans"/>
              </a:rPr>
              <a:t>ormalmente, si existen varios caminos entre dos vértices, la distancia se define como el número mínimo de aristas que se deben recorrer para ir de un vértice a otro.</a:t>
            </a:r>
          </a:p>
        </p:txBody>
      </p:sp>
      <p:sp>
        <p:nvSpPr>
          <p:cNvPr name="TextBox 8" id="8"/>
          <p:cNvSpPr txBox="true"/>
          <p:nvPr/>
        </p:nvSpPr>
        <p:spPr>
          <a:xfrm rot="0">
            <a:off x="9296400" y="470471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A1D33"/>
                </a:solidFill>
                <a:latin typeface="DM Sans Bold"/>
                <a:ea typeface="DM Sans Bold"/>
                <a:cs typeface="DM Sans Bold"/>
                <a:sym typeface="DM Sans Bold"/>
              </a:rPr>
              <a:t>CAMINO MÍNIMO</a:t>
            </a:r>
          </a:p>
        </p:txBody>
      </p:sp>
      <p:sp>
        <p:nvSpPr>
          <p:cNvPr name="TextBox 9" id="9"/>
          <p:cNvSpPr txBox="true"/>
          <p:nvPr/>
        </p:nvSpPr>
        <p:spPr>
          <a:xfrm rot="0">
            <a:off x="9296400" y="551497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E</a:t>
            </a:r>
            <a:r>
              <a:rPr lang="en-US" sz="2100">
                <a:solidFill>
                  <a:srgbClr val="0A1D33"/>
                </a:solidFill>
                <a:latin typeface="DM Sans"/>
                <a:ea typeface="DM Sans"/>
                <a:cs typeface="DM Sans"/>
                <a:sym typeface="DM Sans"/>
              </a:rPr>
              <a:t>l camino mínimo es el recorrido que conecta dos vértices utilizando el menor número posible de aristas o el menor costo cuando las aristas poseen pesos.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D33"/>
        </a:solidFill>
      </p:bgPr>
    </p:bg>
    <p:spTree>
      <p:nvGrpSpPr>
        <p:cNvPr id="1" name=""/>
        <p:cNvGrpSpPr/>
        <p:nvPr/>
      </p:nvGrpSpPr>
      <p:grpSpPr>
        <a:xfrm>
          <a:off x="0" y="0"/>
          <a:ext cx="0" cy="0"/>
          <a:chOff x="0" y="0"/>
          <a:chExt cx="0" cy="0"/>
        </a:xfrm>
      </p:grpSpPr>
      <p:sp>
        <p:nvSpPr>
          <p:cNvPr name="Freeform 2" id="2"/>
          <p:cNvSpPr/>
          <p:nvPr/>
        </p:nvSpPr>
        <p:spPr>
          <a:xfrm flipH="false" flipV="false" rot="0">
            <a:off x="4981575" y="7185258"/>
            <a:ext cx="6720320" cy="3101742"/>
          </a:xfrm>
          <a:custGeom>
            <a:avLst/>
            <a:gdLst/>
            <a:ahLst/>
            <a:cxnLst/>
            <a:rect r="r" b="b" t="t" l="l"/>
            <a:pathLst>
              <a:path h="3101742" w="6720320">
                <a:moveTo>
                  <a:pt x="0" y="0"/>
                </a:moveTo>
                <a:lnTo>
                  <a:pt x="6720320" y="0"/>
                </a:lnTo>
                <a:lnTo>
                  <a:pt x="6720320" y="3101742"/>
                </a:lnTo>
                <a:lnTo>
                  <a:pt x="0" y="3101742"/>
                </a:lnTo>
                <a:lnTo>
                  <a:pt x="0" y="0"/>
                </a:lnTo>
                <a:close/>
              </a:path>
            </a:pathLst>
          </a:custGeom>
          <a:blipFill>
            <a:blip r:embed="rId2"/>
            <a:stretch>
              <a:fillRect l="0" t="-6054" r="0" b="-6054"/>
            </a:stretch>
          </a:blipFill>
        </p:spPr>
      </p:sp>
      <p:sp>
        <p:nvSpPr>
          <p:cNvPr name="TextBox 3" id="3"/>
          <p:cNvSpPr txBox="true"/>
          <p:nvPr/>
        </p:nvSpPr>
        <p:spPr>
          <a:xfrm rot="0">
            <a:off x="666750" y="733425"/>
            <a:ext cx="15821025" cy="1149353"/>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FFFFF"/>
                </a:solidFill>
                <a:latin typeface="Georgia Pro Light"/>
                <a:ea typeface="Georgia Pro Light"/>
                <a:cs typeface="Georgia Pro Light"/>
                <a:sym typeface="Georgia Pro Light"/>
              </a:rPr>
              <a:t>Conceptos Clave en Grafos</a:t>
            </a:r>
          </a:p>
        </p:txBody>
      </p:sp>
      <p:grpSp>
        <p:nvGrpSpPr>
          <p:cNvPr name="Group 4" id="4"/>
          <p:cNvGrpSpPr/>
          <p:nvPr/>
        </p:nvGrpSpPr>
        <p:grpSpPr>
          <a:xfrm rot="0">
            <a:off x="666750" y="4248150"/>
            <a:ext cx="4314825" cy="3756275"/>
            <a:chOff x="0" y="0"/>
            <a:chExt cx="5753100" cy="5008367"/>
          </a:xfrm>
        </p:grpSpPr>
        <p:sp>
          <p:nvSpPr>
            <p:cNvPr name="TextBox 5" id="5"/>
            <p:cNvSpPr txBox="true"/>
            <p:nvPr/>
          </p:nvSpPr>
          <p:spPr>
            <a:xfrm rot="0">
              <a:off x="0" y="1146175"/>
              <a:ext cx="5753100" cy="3862192"/>
            </a:xfrm>
            <a:prstGeom prst="rect">
              <a:avLst/>
            </a:prstGeom>
          </p:spPr>
          <p:txBody>
            <a:bodyPr anchor="t" rtlCol="false" tIns="0" lIns="0" bIns="0" rIns="0">
              <a:spAutoFit/>
            </a:bodyPr>
            <a:lstStyle/>
            <a:p>
              <a:pPr algn="l" marL="0" indent="0" lvl="0">
                <a:lnSpc>
                  <a:spcPts val="2939"/>
                </a:lnSpc>
              </a:pPr>
              <a:r>
                <a:rPr lang="en-US" sz="2099">
                  <a:solidFill>
                    <a:srgbClr val="FFFFFF"/>
                  </a:solidFill>
                  <a:latin typeface="DM Sans"/>
                  <a:ea typeface="DM Sans"/>
                  <a:cs typeface="DM Sans"/>
                  <a:sym typeface="DM Sans"/>
                </a:rPr>
                <a:t>La excentricidad de un vértice se define como la mayor distancia entre ese vértice y cualquier otro vértice del grafo.</a:t>
              </a:r>
            </a:p>
            <a:p>
              <a:pPr algn="l" marL="0" indent="0" lvl="0">
                <a:lnSpc>
                  <a:spcPts val="2939"/>
                </a:lnSpc>
              </a:pPr>
            </a:p>
            <a:p>
              <a:pPr algn="l" marL="0" indent="0" lvl="0">
                <a:lnSpc>
                  <a:spcPts val="2939"/>
                </a:lnSpc>
              </a:pPr>
              <a:r>
                <a:rPr lang="en-US" sz="2099">
                  <a:solidFill>
                    <a:srgbClr val="FFFFFF"/>
                  </a:solidFill>
                  <a:latin typeface="DM Sans"/>
                  <a:ea typeface="DM Sans"/>
                  <a:cs typeface="DM Sans"/>
                  <a:sym typeface="DM Sans"/>
                </a:rPr>
                <a:t>Este concepto permite identificar qué tan alejado se encuentra un nodo del resto de la red.</a:t>
              </a:r>
            </a:p>
          </p:txBody>
        </p:sp>
        <p:sp>
          <p:nvSpPr>
            <p:cNvPr name="TextBox 6" id="6"/>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EXCENTRICIDAD</a:t>
              </a:r>
            </a:p>
          </p:txBody>
        </p:sp>
      </p:grpSp>
      <p:grpSp>
        <p:nvGrpSpPr>
          <p:cNvPr name="Group 7" id="7"/>
          <p:cNvGrpSpPr/>
          <p:nvPr/>
        </p:nvGrpSpPr>
        <p:grpSpPr>
          <a:xfrm rot="0">
            <a:off x="6419850" y="4248150"/>
            <a:ext cx="4314825" cy="1570576"/>
            <a:chOff x="0" y="0"/>
            <a:chExt cx="5753100" cy="2094102"/>
          </a:xfrm>
        </p:grpSpPr>
        <p:sp>
          <p:nvSpPr>
            <p:cNvPr name="TextBox 8" id="8"/>
            <p:cNvSpPr txBox="true"/>
            <p:nvPr/>
          </p:nvSpPr>
          <p:spPr>
            <a:xfrm rot="0">
              <a:off x="0" y="1146175"/>
              <a:ext cx="5753100" cy="947927"/>
            </a:xfrm>
            <a:prstGeom prst="rect">
              <a:avLst/>
            </a:prstGeom>
          </p:spPr>
          <p:txBody>
            <a:bodyPr anchor="t" rtlCol="false" tIns="0" lIns="0" bIns="0" rIns="0">
              <a:spAutoFit/>
            </a:bodyPr>
            <a:lstStyle/>
            <a:p>
              <a:pPr algn="l" marL="0" indent="0" lvl="0">
                <a:lnSpc>
                  <a:spcPts val="2939"/>
                </a:lnSpc>
              </a:pPr>
              <a:r>
                <a:rPr lang="en-US" sz="2099">
                  <a:solidFill>
                    <a:srgbClr val="FFFFFF"/>
                  </a:solidFill>
                  <a:latin typeface="DM Sans"/>
                  <a:ea typeface="DM Sans"/>
                  <a:cs typeface="DM Sans"/>
                  <a:sym typeface="DM Sans"/>
                </a:rPr>
                <a:t>Es la menor excentricidad de todos los vértices.</a:t>
              </a:r>
            </a:p>
          </p:txBody>
        </p:sp>
        <p:sp>
          <p:nvSpPr>
            <p:cNvPr name="TextBox 9" id="9"/>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RADIO DEL GRAFO</a:t>
              </a:r>
            </a:p>
          </p:txBody>
        </p:sp>
      </p:grpSp>
      <p:grpSp>
        <p:nvGrpSpPr>
          <p:cNvPr name="Group 10" id="10"/>
          <p:cNvGrpSpPr/>
          <p:nvPr/>
        </p:nvGrpSpPr>
        <p:grpSpPr>
          <a:xfrm rot="0">
            <a:off x="12172950" y="4248150"/>
            <a:ext cx="4314825" cy="4849125"/>
            <a:chOff x="0" y="0"/>
            <a:chExt cx="5753100" cy="6465500"/>
          </a:xfrm>
        </p:grpSpPr>
        <p:sp>
          <p:nvSpPr>
            <p:cNvPr name="TextBox 11" id="11"/>
            <p:cNvSpPr txBox="true"/>
            <p:nvPr/>
          </p:nvSpPr>
          <p:spPr>
            <a:xfrm rot="0">
              <a:off x="0" y="1146175"/>
              <a:ext cx="5753100" cy="5319325"/>
            </a:xfrm>
            <a:prstGeom prst="rect">
              <a:avLst/>
            </a:prstGeom>
          </p:spPr>
          <p:txBody>
            <a:bodyPr anchor="t" rtlCol="false" tIns="0" lIns="0" bIns="0" rIns="0">
              <a:spAutoFit/>
            </a:bodyPr>
            <a:lstStyle/>
            <a:p>
              <a:pPr algn="l" marL="0" indent="0" lvl="0">
                <a:lnSpc>
                  <a:spcPts val="2939"/>
                </a:lnSpc>
              </a:pPr>
              <a:r>
                <a:rPr lang="en-US" sz="2099">
                  <a:solidFill>
                    <a:srgbClr val="FFFFFF"/>
                  </a:solidFill>
                  <a:latin typeface="DM Sans"/>
                  <a:ea typeface="DM Sans"/>
                  <a:cs typeface="DM Sans"/>
                  <a:sym typeface="DM Sans"/>
                </a:rPr>
                <a:t>Es la mayor distancia entre cualquier par de vértices del grafo.</a:t>
              </a:r>
            </a:p>
            <a:p>
              <a:pPr algn="l" marL="0" indent="0" lvl="0">
                <a:lnSpc>
                  <a:spcPts val="2939"/>
                </a:lnSpc>
              </a:pPr>
            </a:p>
            <a:p>
              <a:pPr algn="l" marL="0" indent="0" lvl="0">
                <a:lnSpc>
                  <a:spcPts val="2939"/>
                </a:lnSpc>
              </a:pPr>
              <a:r>
                <a:rPr lang="en-US" sz="2099">
                  <a:solidFill>
                    <a:srgbClr val="FFFFFF"/>
                  </a:solidFill>
                  <a:latin typeface="DM Sans"/>
                  <a:ea typeface="DM Sans"/>
                  <a:cs typeface="DM Sans"/>
                  <a:sym typeface="DM Sans"/>
                </a:rPr>
                <a:t>El diámetro representa la mayor distancia mínima posible dentro de la red.</a:t>
              </a:r>
            </a:p>
            <a:p>
              <a:pPr algn="l" marL="0" indent="0" lvl="0">
                <a:lnSpc>
                  <a:spcPts val="2939"/>
                </a:lnSpc>
              </a:pPr>
            </a:p>
            <a:p>
              <a:pPr algn="l" marL="0" indent="0" lvl="0">
                <a:lnSpc>
                  <a:spcPts val="2939"/>
                </a:lnSpc>
              </a:pPr>
              <a:r>
                <a:rPr lang="en-US" sz="2099">
                  <a:solidFill>
                    <a:srgbClr val="FFFFFF"/>
                  </a:solidFill>
                  <a:latin typeface="DM Sans"/>
                  <a:ea typeface="DM Sans"/>
                  <a:cs typeface="DM Sans"/>
                  <a:sym typeface="DM Sans"/>
                </a:rPr>
                <a:t>En términos prácticos, permite conocer el tamaño estructural de un grafo.</a:t>
              </a:r>
            </a:p>
            <a:p>
              <a:pPr algn="l" marL="0" indent="0" lvl="0">
                <a:lnSpc>
                  <a:spcPts val="2939"/>
                </a:lnSpc>
              </a:pPr>
            </a:p>
          </p:txBody>
        </p:sp>
        <p:sp>
          <p:nvSpPr>
            <p:cNvPr name="TextBox 12" id="12"/>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DIÁMETRO DEL GRAFO</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6304779" y="7168322"/>
            <a:ext cx="4171481" cy="3118678"/>
          </a:xfrm>
          <a:custGeom>
            <a:avLst/>
            <a:gdLst/>
            <a:ahLst/>
            <a:cxnLst/>
            <a:rect r="r" b="b" t="t" l="l"/>
            <a:pathLst>
              <a:path h="3118678" w="4171481">
                <a:moveTo>
                  <a:pt x="0" y="0"/>
                </a:moveTo>
                <a:lnTo>
                  <a:pt x="4171480" y="0"/>
                </a:lnTo>
                <a:lnTo>
                  <a:pt x="4171480" y="3118678"/>
                </a:lnTo>
                <a:lnTo>
                  <a:pt x="0" y="3118678"/>
                </a:lnTo>
                <a:lnTo>
                  <a:pt x="0" y="0"/>
                </a:lnTo>
                <a:close/>
              </a:path>
            </a:pathLst>
          </a:custGeom>
          <a:blipFill>
            <a:blip r:embed="rId3"/>
            <a:stretch>
              <a:fillRect l="0" t="0" r="0" b="0"/>
            </a:stretch>
          </a:blipFill>
        </p:spPr>
      </p:sp>
      <p:grpSp>
        <p:nvGrpSpPr>
          <p:cNvPr name="Group 5" id="5"/>
          <p:cNvGrpSpPr/>
          <p:nvPr/>
        </p:nvGrpSpPr>
        <p:grpSpPr>
          <a:xfrm rot="0">
            <a:off x="666750" y="666750"/>
            <a:ext cx="8611539" cy="7833306"/>
            <a:chOff x="0" y="0"/>
            <a:chExt cx="11482052" cy="10444408"/>
          </a:xfrm>
        </p:grpSpPr>
        <p:sp>
          <p:nvSpPr>
            <p:cNvPr name="TextBox 6" id="6"/>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A1D33"/>
                  </a:solidFill>
                  <a:latin typeface="Georgia Pro Light"/>
                  <a:ea typeface="Georgia Pro Light"/>
                  <a:cs typeface="Georgia Pro Light"/>
                  <a:sym typeface="Georgia Pro Light"/>
                </a:rPr>
                <a:t>Definición de Árbol</a:t>
              </a:r>
            </a:p>
          </p:txBody>
        </p:sp>
        <p:sp>
          <p:nvSpPr>
            <p:cNvPr name="TextBox 7" id="7"/>
            <p:cNvSpPr txBox="true"/>
            <p:nvPr/>
          </p:nvSpPr>
          <p:spPr>
            <a:xfrm rot="0">
              <a:off x="0" y="2047803"/>
              <a:ext cx="11482052" cy="839660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Un árbol es un tipo especial de grafo que cumple dos propiedades fundamentales:</a:t>
              </a:r>
            </a:p>
            <a:p>
              <a:pPr algn="l" marL="0" indent="0" lvl="0">
                <a:lnSpc>
                  <a:spcPts val="2940"/>
                </a:lnSpc>
              </a:pPr>
            </a:p>
            <a:p>
              <a:pPr algn="l" marL="453390" indent="-226695" lvl="1">
                <a:lnSpc>
                  <a:spcPts val="2940"/>
                </a:lnSpc>
                <a:buAutoNum type="arabicPeriod" startAt="1"/>
              </a:pPr>
              <a:r>
                <a:rPr lang="en-US" sz="2100">
                  <a:solidFill>
                    <a:srgbClr val="0A1D33"/>
                  </a:solidFill>
                  <a:latin typeface="DM Sans"/>
                  <a:ea typeface="DM Sans"/>
                  <a:cs typeface="DM Sans"/>
                  <a:sym typeface="DM Sans"/>
                </a:rPr>
                <a:t>Es un grafo conexo.</a:t>
              </a:r>
            </a:p>
            <a:p>
              <a:pPr algn="l" marL="453390" indent="-226695" lvl="1">
                <a:lnSpc>
                  <a:spcPts val="2940"/>
                </a:lnSpc>
                <a:buAutoNum type="arabicPeriod" startAt="1"/>
              </a:pPr>
              <a:r>
                <a:rPr lang="en-US" sz="2100">
                  <a:solidFill>
                    <a:srgbClr val="0A1D33"/>
                  </a:solidFill>
                  <a:latin typeface="DM Sans"/>
                  <a:ea typeface="DM Sans"/>
                  <a:cs typeface="DM Sans"/>
                  <a:sym typeface="DM Sans"/>
                </a:rPr>
                <a:t>No contiene ciclos.</a:t>
              </a:r>
            </a:p>
            <a:p>
              <a:pPr algn="l">
                <a:lnSpc>
                  <a:spcPts val="2940"/>
                </a:lnSpc>
              </a:pPr>
            </a:p>
            <a:p>
              <a:pPr algn="l" marL="0" indent="0" lvl="0">
                <a:lnSpc>
                  <a:spcPts val="2940"/>
                </a:lnSpc>
              </a:pPr>
              <a:r>
                <a:rPr lang="en-US" sz="2100">
                  <a:solidFill>
                    <a:srgbClr val="0A1D33"/>
                  </a:solidFill>
                  <a:latin typeface="DM Sans"/>
                  <a:ea typeface="DM Sans"/>
                  <a:cs typeface="DM Sans"/>
                  <a:sym typeface="DM Sans"/>
                </a:rPr>
                <a:t>Esto significa que existe exactamente un camino entre cualquier par de vértices.</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Los árboles son ampliamente utilizados para representar estructuras jerárquicas, como por ejemplo:</a:t>
              </a:r>
            </a:p>
            <a:p>
              <a:pPr algn="l" marL="0" indent="0" lvl="0">
                <a:lnSpc>
                  <a:spcPts val="2940"/>
                </a:lnSpc>
              </a:pPr>
            </a:p>
            <a:p>
              <a:pPr algn="l" marL="453390" indent="-226695" lvl="1">
                <a:lnSpc>
                  <a:spcPts val="2940"/>
                </a:lnSpc>
                <a:buFont typeface="Arial"/>
                <a:buChar char="•"/>
              </a:pPr>
              <a:r>
                <a:rPr lang="en-US" sz="2100">
                  <a:solidFill>
                    <a:srgbClr val="0A1D33"/>
                  </a:solidFill>
                  <a:latin typeface="DM Sans"/>
                  <a:ea typeface="DM Sans"/>
                  <a:cs typeface="DM Sans"/>
                  <a:sym typeface="DM Sans"/>
                </a:rPr>
                <a:t>Organización de archivos en un sistema operativo</a:t>
              </a:r>
            </a:p>
            <a:p>
              <a:pPr algn="l" marL="453390" indent="-226695" lvl="1">
                <a:lnSpc>
                  <a:spcPts val="2940"/>
                </a:lnSpc>
                <a:buFont typeface="Arial"/>
                <a:buChar char="•"/>
              </a:pPr>
              <a:r>
                <a:rPr lang="en-US" sz="2100">
                  <a:solidFill>
                    <a:srgbClr val="0A1D33"/>
                  </a:solidFill>
                  <a:latin typeface="DM Sans"/>
                  <a:ea typeface="DM Sans"/>
                  <a:cs typeface="DM Sans"/>
                  <a:sym typeface="DM Sans"/>
                </a:rPr>
                <a:t>Árboles genealógicos</a:t>
              </a:r>
            </a:p>
            <a:p>
              <a:pPr algn="l" marL="453390" indent="-226695" lvl="1">
                <a:lnSpc>
                  <a:spcPts val="2940"/>
                </a:lnSpc>
                <a:buFont typeface="Arial"/>
                <a:buChar char="•"/>
              </a:pPr>
              <a:r>
                <a:rPr lang="en-US" sz="2100">
                  <a:solidFill>
                    <a:srgbClr val="0A1D33"/>
                  </a:solidFill>
                  <a:latin typeface="DM Sans"/>
                  <a:ea typeface="DM Sans"/>
                  <a:cs typeface="DM Sans"/>
                  <a:sym typeface="DM Sans"/>
                </a:rPr>
                <a:t>Estructuras de datos en programación</a:t>
              </a:r>
            </a:p>
            <a:p>
              <a:pPr algn="l" marL="453390" indent="-226695" lvl="1">
                <a:lnSpc>
                  <a:spcPts val="2940"/>
                </a:lnSpc>
                <a:buFont typeface="Arial"/>
                <a:buChar char="•"/>
              </a:pPr>
              <a:r>
                <a:rPr lang="en-US" sz="2100">
                  <a:solidFill>
                    <a:srgbClr val="0A1D33"/>
                  </a:solidFill>
                  <a:latin typeface="DM Sans"/>
                  <a:ea typeface="DM Sans"/>
                  <a:cs typeface="DM Sans"/>
                  <a:sym typeface="DM Sans"/>
                </a:rPr>
                <a:t>Toma de decisiones en inteligencia artificial</a:t>
              </a:r>
            </a:p>
            <a:p>
              <a:pPr algn="l" marL="0" indent="0" lvl="0">
                <a:lnSpc>
                  <a:spcPts val="294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5927626" y="6149630"/>
            <a:ext cx="4278185" cy="4031367"/>
          </a:xfrm>
          <a:custGeom>
            <a:avLst/>
            <a:gdLst/>
            <a:ahLst/>
            <a:cxnLst/>
            <a:rect r="r" b="b" t="t" l="l"/>
            <a:pathLst>
              <a:path h="4031367" w="4278185">
                <a:moveTo>
                  <a:pt x="0" y="0"/>
                </a:moveTo>
                <a:lnTo>
                  <a:pt x="4278185" y="0"/>
                </a:lnTo>
                <a:lnTo>
                  <a:pt x="4278185" y="4031367"/>
                </a:lnTo>
                <a:lnTo>
                  <a:pt x="0" y="4031367"/>
                </a:lnTo>
                <a:lnTo>
                  <a:pt x="0" y="0"/>
                </a:lnTo>
                <a:close/>
              </a:path>
            </a:pathLst>
          </a:custGeom>
          <a:blipFill>
            <a:blip r:embed="rId3"/>
            <a:stretch>
              <a:fillRect l="0" t="0" r="0" b="0"/>
            </a:stretch>
          </a:blipFill>
        </p:spPr>
      </p:sp>
      <p:grpSp>
        <p:nvGrpSpPr>
          <p:cNvPr name="Group 5" id="5"/>
          <p:cNvGrpSpPr/>
          <p:nvPr/>
        </p:nvGrpSpPr>
        <p:grpSpPr>
          <a:xfrm rot="0">
            <a:off x="666750" y="666750"/>
            <a:ext cx="8324850" cy="6718881"/>
            <a:chOff x="0" y="0"/>
            <a:chExt cx="11099800" cy="8958508"/>
          </a:xfrm>
        </p:grpSpPr>
        <p:sp>
          <p:nvSpPr>
            <p:cNvPr name="TextBox 6" id="6"/>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A1D33"/>
                  </a:solidFill>
                  <a:latin typeface="Georgia Pro Light"/>
                  <a:ea typeface="Georgia Pro Light"/>
                  <a:cs typeface="Georgia Pro Light"/>
                  <a:sym typeface="Georgia Pro Light"/>
                </a:rPr>
                <a:t>Árboles Binarios</a:t>
              </a:r>
            </a:p>
          </p:txBody>
        </p:sp>
        <p:sp>
          <p:nvSpPr>
            <p:cNvPr name="TextBox 7" id="7"/>
            <p:cNvSpPr txBox="true"/>
            <p:nvPr/>
          </p:nvSpPr>
          <p:spPr>
            <a:xfrm rot="0">
              <a:off x="0" y="2047803"/>
              <a:ext cx="11099800" cy="691070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Un árbol binario es un árbol en el cual cada nodo puede tener como máximo dos hijos.</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Estos se denominan:</a:t>
              </a:r>
            </a:p>
            <a:p>
              <a:pPr algn="l" marL="0" indent="0" lvl="0">
                <a:lnSpc>
                  <a:spcPts val="2940"/>
                </a:lnSpc>
              </a:pPr>
            </a:p>
            <a:p>
              <a:pPr algn="l" marL="453390" indent="-226695" lvl="1">
                <a:lnSpc>
                  <a:spcPts val="2940"/>
                </a:lnSpc>
                <a:buFont typeface="Arial"/>
                <a:buChar char="•"/>
              </a:pPr>
              <a:r>
                <a:rPr lang="en-US" sz="2100">
                  <a:solidFill>
                    <a:srgbClr val="0A1D33"/>
                  </a:solidFill>
                  <a:latin typeface="DM Sans"/>
                  <a:ea typeface="DM Sans"/>
                  <a:cs typeface="DM Sans"/>
                  <a:sym typeface="DM Sans"/>
                </a:rPr>
                <a:t>Hijo izquierdo</a:t>
              </a:r>
            </a:p>
            <a:p>
              <a:pPr algn="l" marL="453390" indent="-226695" lvl="1">
                <a:lnSpc>
                  <a:spcPts val="2940"/>
                </a:lnSpc>
                <a:buFont typeface="Arial"/>
                <a:buChar char="•"/>
              </a:pPr>
              <a:r>
                <a:rPr lang="en-US" sz="2100">
                  <a:solidFill>
                    <a:srgbClr val="0A1D33"/>
                  </a:solidFill>
                  <a:latin typeface="DM Sans"/>
                  <a:ea typeface="DM Sans"/>
                  <a:cs typeface="DM Sans"/>
                  <a:sym typeface="DM Sans"/>
                </a:rPr>
                <a:t>Hijo derecho</a:t>
              </a:r>
            </a:p>
            <a:p>
              <a:pPr algn="l">
                <a:lnSpc>
                  <a:spcPts val="2940"/>
                </a:lnSpc>
              </a:pPr>
            </a:p>
            <a:p>
              <a:pPr algn="l" marL="0" indent="0" lvl="0">
                <a:lnSpc>
                  <a:spcPts val="2940"/>
                </a:lnSpc>
              </a:pPr>
              <a:r>
                <a:rPr lang="en-US" sz="2100">
                  <a:solidFill>
                    <a:srgbClr val="0A1D33"/>
                  </a:solidFill>
                  <a:latin typeface="DM Sans"/>
                  <a:ea typeface="DM Sans"/>
                  <a:cs typeface="DM Sans"/>
                  <a:sym typeface="DM Sans"/>
                </a:rPr>
                <a:t>Los árboles binarios son muy utilizados en informática para:</a:t>
              </a:r>
            </a:p>
            <a:p>
              <a:pPr algn="l" marL="0" indent="0" lvl="0">
                <a:lnSpc>
                  <a:spcPts val="2940"/>
                </a:lnSpc>
              </a:pPr>
            </a:p>
            <a:p>
              <a:pPr algn="l" marL="453390" indent="-226695" lvl="1">
                <a:lnSpc>
                  <a:spcPts val="2940"/>
                </a:lnSpc>
                <a:buFont typeface="Arial"/>
                <a:buChar char="•"/>
              </a:pPr>
              <a:r>
                <a:rPr lang="en-US" sz="2100">
                  <a:solidFill>
                    <a:srgbClr val="0A1D33"/>
                  </a:solidFill>
                  <a:latin typeface="DM Sans"/>
                  <a:ea typeface="DM Sans"/>
                  <a:cs typeface="DM Sans"/>
                  <a:sym typeface="DM Sans"/>
                </a:rPr>
                <a:t>estructuras de datos</a:t>
              </a:r>
            </a:p>
            <a:p>
              <a:pPr algn="l" marL="453390" indent="-226695" lvl="1">
                <a:lnSpc>
                  <a:spcPts val="2940"/>
                </a:lnSpc>
                <a:buFont typeface="Arial"/>
                <a:buChar char="•"/>
              </a:pPr>
              <a:r>
                <a:rPr lang="en-US" sz="2100">
                  <a:solidFill>
                    <a:srgbClr val="0A1D33"/>
                  </a:solidFill>
                  <a:latin typeface="DM Sans"/>
                  <a:ea typeface="DM Sans"/>
                  <a:cs typeface="DM Sans"/>
                  <a:sym typeface="DM Sans"/>
                </a:rPr>
                <a:t>algoritmos de búsqueda</a:t>
              </a:r>
            </a:p>
            <a:p>
              <a:pPr algn="l" marL="453390" indent="-226695" lvl="1">
                <a:lnSpc>
                  <a:spcPts val="2940"/>
                </a:lnSpc>
                <a:buFont typeface="Arial"/>
                <a:buChar char="•"/>
              </a:pPr>
              <a:r>
                <a:rPr lang="en-US" sz="2100">
                  <a:solidFill>
                    <a:srgbClr val="0A1D33"/>
                  </a:solidFill>
                  <a:latin typeface="DM Sans"/>
                  <a:ea typeface="DM Sans"/>
                  <a:cs typeface="DM Sans"/>
                  <a:sym typeface="DM Sans"/>
                </a:rPr>
                <a:t>compiladores</a:t>
              </a:r>
            </a:p>
            <a:p>
              <a:pPr algn="l" marL="453390" indent="-226695" lvl="1">
                <a:lnSpc>
                  <a:spcPts val="2940"/>
                </a:lnSpc>
                <a:buFont typeface="Arial"/>
                <a:buChar char="•"/>
              </a:pPr>
              <a:r>
                <a:rPr lang="en-US" sz="2100">
                  <a:solidFill>
                    <a:srgbClr val="0A1D33"/>
                  </a:solidFill>
                  <a:latin typeface="DM Sans"/>
                  <a:ea typeface="DM Sans"/>
                  <a:cs typeface="DM Sans"/>
                  <a:sym typeface="DM Sans"/>
                </a:rPr>
                <a:t>sistemas de bases de datos</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A1D33"/>
        </a:solidFill>
      </p:bgPr>
    </p:bg>
    <p:spTree>
      <p:nvGrpSpPr>
        <p:cNvPr id="1" name=""/>
        <p:cNvGrpSpPr/>
        <p:nvPr/>
      </p:nvGrpSpPr>
      <p:grpSpPr>
        <a:xfrm>
          <a:off x="0" y="0"/>
          <a:ext cx="0" cy="0"/>
          <a:chOff x="0" y="0"/>
          <a:chExt cx="0" cy="0"/>
        </a:xfrm>
      </p:grpSpPr>
      <p:sp>
        <p:nvSpPr>
          <p:cNvPr name="TextBox 2" id="2"/>
          <p:cNvSpPr txBox="true"/>
          <p:nvPr/>
        </p:nvSpPr>
        <p:spPr>
          <a:xfrm rot="0">
            <a:off x="9296400" y="2406015"/>
            <a:ext cx="7191375" cy="1080802"/>
          </a:xfrm>
          <a:prstGeom prst="rect">
            <a:avLst/>
          </a:prstGeom>
        </p:spPr>
        <p:txBody>
          <a:bodyPr anchor="t" rtlCol="false" tIns="0" lIns="0" bIns="0" rIns="0">
            <a:spAutoFit/>
          </a:bodyPr>
          <a:lstStyle/>
          <a:p>
            <a:pPr algn="l" marL="0" indent="0" lvl="0">
              <a:lnSpc>
                <a:spcPts val="2903"/>
              </a:lnSpc>
            </a:pPr>
            <a:r>
              <a:rPr lang="en-US" sz="2073">
                <a:solidFill>
                  <a:srgbClr val="FFFFFF"/>
                </a:solidFill>
                <a:latin typeface="DM Sans"/>
                <a:ea typeface="DM Sans"/>
                <a:cs typeface="DM Sans"/>
                <a:sym typeface="DM Sans"/>
              </a:rPr>
              <a:t>Un recorrido de árbol es el </a:t>
            </a:r>
            <a:r>
              <a:rPr lang="en-US" b="true" sz="2073">
                <a:solidFill>
                  <a:srgbClr val="FFFFFF"/>
                </a:solidFill>
                <a:latin typeface="DM Sans Bold"/>
                <a:ea typeface="DM Sans Bold"/>
                <a:cs typeface="DM Sans Bold"/>
                <a:sym typeface="DM Sans Bold"/>
              </a:rPr>
              <a:t>orden de visita</a:t>
            </a:r>
            <a:r>
              <a:rPr lang="en-US" sz="2073">
                <a:solidFill>
                  <a:srgbClr val="FFFFFF"/>
                </a:solidFill>
                <a:latin typeface="DM Sans"/>
                <a:ea typeface="DM Sans"/>
                <a:cs typeface="DM Sans"/>
                <a:sym typeface="DM Sans"/>
              </a:rPr>
              <a:t> de los nodos. Es fundamental para comprender cómo se procesan los datos en estructuras de árbol.</a:t>
            </a:r>
          </a:p>
        </p:txBody>
      </p:sp>
      <p:sp>
        <p:nvSpPr>
          <p:cNvPr name="TextBox 3" id="3"/>
          <p:cNvSpPr txBox="true"/>
          <p:nvPr/>
        </p:nvSpPr>
        <p:spPr>
          <a:xfrm rot="0">
            <a:off x="9296400" y="151066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DEFINICIÓN DE RECORRIDO</a:t>
            </a:r>
          </a:p>
        </p:txBody>
      </p:sp>
      <p:sp>
        <p:nvSpPr>
          <p:cNvPr name="TextBox 4" id="4"/>
          <p:cNvSpPr txBox="true"/>
          <p:nvPr/>
        </p:nvSpPr>
        <p:spPr>
          <a:xfrm rot="0">
            <a:off x="9296400" y="509587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FFFFF"/>
                </a:solidFill>
                <a:latin typeface="DM Sans"/>
                <a:ea typeface="DM Sans"/>
                <a:cs typeface="DM Sans"/>
                <a:sym typeface="DM Sans"/>
              </a:rPr>
              <a:t>Estos recorridos son esenciales en </a:t>
            </a:r>
            <a:r>
              <a:rPr lang="en-US" b="true" sz="2073">
                <a:solidFill>
                  <a:srgbClr val="FFFFFF"/>
                </a:solidFill>
                <a:latin typeface="DM Sans Bold"/>
                <a:ea typeface="DM Sans Bold"/>
                <a:cs typeface="DM Sans Bold"/>
                <a:sym typeface="DM Sans Bold"/>
              </a:rPr>
              <a:t>algoritmos</a:t>
            </a:r>
            <a:r>
              <a:rPr lang="en-US" sz="2073">
                <a:solidFill>
                  <a:srgbClr val="FFFFFF"/>
                </a:solidFill>
                <a:latin typeface="DM Sans"/>
                <a:ea typeface="DM Sans"/>
                <a:cs typeface="DM Sans"/>
                <a:sym typeface="DM Sans"/>
              </a:rPr>
              <a:t> y estructuras de datos, permitiendo operaciones eficientes como búsqueda, inserción y eliminación en árboles binarios y otros tipos.</a:t>
            </a:r>
          </a:p>
        </p:txBody>
      </p:sp>
      <p:sp>
        <p:nvSpPr>
          <p:cNvPr name="TextBox 5" id="5"/>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IMPORTANCIA EN ALGORITMOS</a:t>
            </a:r>
          </a:p>
        </p:txBody>
      </p:sp>
      <p:sp>
        <p:nvSpPr>
          <p:cNvPr name="TextBox 6" id="6"/>
          <p:cNvSpPr txBox="true"/>
          <p:nvPr/>
        </p:nvSpPr>
        <p:spPr>
          <a:xfrm rot="0">
            <a:off x="9296400" y="777811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FFFFF"/>
                </a:solidFill>
                <a:latin typeface="DM Sans"/>
                <a:ea typeface="DM Sans"/>
                <a:cs typeface="DM Sans"/>
                <a:sym typeface="DM Sans"/>
              </a:rPr>
              <a:t>Los principales tipos de recorrido incluyen Preorden, Inorden y Postorden. Cada tipo tiene aplicaciones específicas y se utiliza en diferentes contextos en informática.</a:t>
            </a:r>
          </a:p>
        </p:txBody>
      </p:sp>
      <p:sp>
        <p:nvSpPr>
          <p:cNvPr name="TextBox 7" id="7"/>
          <p:cNvSpPr txBox="true"/>
          <p:nvPr/>
        </p:nvSpPr>
        <p:spPr>
          <a:xfrm rot="0">
            <a:off x="9296400" y="688779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B0BEC5"/>
                </a:solidFill>
                <a:latin typeface="DM Sans Bold"/>
                <a:ea typeface="DM Sans Bold"/>
                <a:cs typeface="DM Sans Bold"/>
                <a:sym typeface="DM Sans Bold"/>
              </a:rPr>
              <a:t>TIPOS DE RECORRIDO</a:t>
            </a:r>
          </a:p>
        </p:txBody>
      </p:sp>
      <p:sp>
        <p:nvSpPr>
          <p:cNvPr name="TextBox 8" id="8"/>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FFFFF"/>
                </a:solidFill>
                <a:latin typeface="Georgia Pro Light"/>
                <a:ea typeface="Georgia Pro Light"/>
                <a:cs typeface="Georgia Pro Light"/>
                <a:sym typeface="Georgia Pro Light"/>
              </a:rPr>
              <a:t>Recorridos de Árboles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3830651" y="7014156"/>
            <a:ext cx="3023107" cy="3083051"/>
          </a:xfrm>
          <a:custGeom>
            <a:avLst/>
            <a:gdLst/>
            <a:ahLst/>
            <a:cxnLst/>
            <a:rect r="r" b="b" t="t" l="l"/>
            <a:pathLst>
              <a:path h="3083051" w="3023107">
                <a:moveTo>
                  <a:pt x="0" y="0"/>
                </a:moveTo>
                <a:lnTo>
                  <a:pt x="3023108" y="0"/>
                </a:lnTo>
                <a:lnTo>
                  <a:pt x="3023108" y="3083051"/>
                </a:lnTo>
                <a:lnTo>
                  <a:pt x="0" y="3083051"/>
                </a:lnTo>
                <a:lnTo>
                  <a:pt x="0" y="0"/>
                </a:lnTo>
                <a:close/>
              </a:path>
            </a:pathLst>
          </a:custGeom>
          <a:blipFill>
            <a:blip r:embed="rId3"/>
            <a:stretch>
              <a:fillRect l="0" t="0" r="-108262" b="-2106"/>
            </a:stretch>
          </a:blipFill>
        </p:spPr>
      </p:sp>
      <p:sp>
        <p:nvSpPr>
          <p:cNvPr name="Freeform 5" id="5"/>
          <p:cNvSpPr/>
          <p:nvPr/>
        </p:nvSpPr>
        <p:spPr>
          <a:xfrm flipH="false" flipV="false" rot="0">
            <a:off x="7127008" y="8199422"/>
            <a:ext cx="3087348" cy="712519"/>
          </a:xfrm>
          <a:custGeom>
            <a:avLst/>
            <a:gdLst/>
            <a:ahLst/>
            <a:cxnLst/>
            <a:rect r="r" b="b" t="t" l="l"/>
            <a:pathLst>
              <a:path h="712519" w="3087348">
                <a:moveTo>
                  <a:pt x="0" y="0"/>
                </a:moveTo>
                <a:lnTo>
                  <a:pt x="3087348" y="0"/>
                </a:lnTo>
                <a:lnTo>
                  <a:pt x="3087348" y="712519"/>
                </a:lnTo>
                <a:lnTo>
                  <a:pt x="0" y="712519"/>
                </a:lnTo>
                <a:lnTo>
                  <a:pt x="0" y="0"/>
                </a:lnTo>
                <a:close/>
              </a:path>
            </a:pathLst>
          </a:custGeom>
          <a:blipFill>
            <a:blip r:embed="rId3"/>
            <a:stretch>
              <a:fillRect l="-104584" t="-123997" r="0" b="-219235"/>
            </a:stretch>
          </a:blipFill>
        </p:spPr>
      </p:sp>
      <p:grpSp>
        <p:nvGrpSpPr>
          <p:cNvPr name="Group 6" id="6"/>
          <p:cNvGrpSpPr/>
          <p:nvPr/>
        </p:nvGrpSpPr>
        <p:grpSpPr>
          <a:xfrm rot="0">
            <a:off x="666750" y="666750"/>
            <a:ext cx="8324850" cy="6347406"/>
            <a:chOff x="0" y="0"/>
            <a:chExt cx="11099800" cy="8463208"/>
          </a:xfrm>
        </p:grpSpPr>
        <p:sp>
          <p:nvSpPr>
            <p:cNvPr name="TextBox 7" id="7"/>
            <p:cNvSpPr txBox="true"/>
            <p:nvPr/>
          </p:nvSpPr>
          <p:spPr>
            <a:xfrm rot="0">
              <a:off x="0" y="66675"/>
              <a:ext cx="11099800" cy="3040596"/>
            </a:xfrm>
            <a:prstGeom prst="rect">
              <a:avLst/>
            </a:prstGeom>
          </p:spPr>
          <p:txBody>
            <a:bodyPr anchor="t" rtlCol="false" tIns="0" lIns="0" bIns="0" rIns="0">
              <a:spAutoFit/>
            </a:bodyPr>
            <a:lstStyle/>
            <a:p>
              <a:pPr algn="l" marL="0" indent="0" lvl="0">
                <a:lnSpc>
                  <a:spcPts val="8800"/>
                </a:lnSpc>
              </a:pPr>
              <a:r>
                <a:rPr lang="en-US" sz="8000">
                  <a:solidFill>
                    <a:srgbClr val="0A1D33"/>
                  </a:solidFill>
                  <a:latin typeface="Georgia Pro Light"/>
                  <a:ea typeface="Georgia Pro Light"/>
                  <a:cs typeface="Georgia Pro Light"/>
                  <a:sym typeface="Georgia Pro Light"/>
                </a:rPr>
                <a:t>Recorrido Preorden</a:t>
              </a:r>
            </a:p>
          </p:txBody>
        </p:sp>
        <p:sp>
          <p:nvSpPr>
            <p:cNvPr name="TextBox 8" id="8"/>
            <p:cNvSpPr txBox="true"/>
            <p:nvPr/>
          </p:nvSpPr>
          <p:spPr>
            <a:xfrm rot="0">
              <a:off x="0" y="3533703"/>
              <a:ext cx="11099800" cy="492950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El recorrido preorden sigue el siguiente orden:</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Raíz → Subárbol izquierdo → Subárbol derecho</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En este recorrido primero se visita el nodo principal, luego los nodos del lado izquierdo y finalmente los del lado derecho.</a:t>
              </a:r>
            </a:p>
            <a:p>
              <a:pPr algn="l" marL="0" indent="0" lvl="0">
                <a:lnSpc>
                  <a:spcPts val="2940"/>
                </a:lnSpc>
              </a:pPr>
              <a:r>
                <a:rPr lang="en-US" sz="2100">
                  <a:solidFill>
                    <a:srgbClr val="0A1D33"/>
                  </a:solidFill>
                  <a:latin typeface="DM Sans"/>
                  <a:ea typeface="DM Sans"/>
                  <a:cs typeface="DM Sans"/>
                  <a:sym typeface="DM Sans"/>
                </a:rPr>
                <a:t>Este tipo de recorrido se utiliza en:</a:t>
              </a:r>
            </a:p>
            <a:p>
              <a:pPr algn="l" marL="0" indent="0" lvl="0">
                <a:lnSpc>
                  <a:spcPts val="2940"/>
                </a:lnSpc>
              </a:pPr>
            </a:p>
            <a:p>
              <a:pPr algn="l" marL="453390" indent="-226695" lvl="1">
                <a:lnSpc>
                  <a:spcPts val="2940"/>
                </a:lnSpc>
                <a:buFont typeface="Arial"/>
                <a:buChar char="•"/>
              </a:pPr>
              <a:r>
                <a:rPr lang="en-US" sz="2100">
                  <a:solidFill>
                    <a:srgbClr val="0A1D33"/>
                  </a:solidFill>
                  <a:latin typeface="DM Sans"/>
                  <a:ea typeface="DM Sans"/>
                  <a:cs typeface="DM Sans"/>
                  <a:sym typeface="DM Sans"/>
                </a:rPr>
                <a:t>copias de estructuras de árboles</a:t>
              </a:r>
            </a:p>
            <a:p>
              <a:pPr algn="l" marL="453390" indent="-226695" lvl="1">
                <a:lnSpc>
                  <a:spcPts val="2940"/>
                </a:lnSpc>
                <a:buFont typeface="Arial"/>
                <a:buChar char="•"/>
              </a:pPr>
              <a:r>
                <a:rPr lang="en-US" sz="2100">
                  <a:solidFill>
                    <a:srgbClr val="0A1D33"/>
                  </a:solidFill>
                  <a:latin typeface="DM Sans"/>
                  <a:ea typeface="DM Sans"/>
                  <a:cs typeface="DM Sans"/>
                  <a:sym typeface="DM Sans"/>
                </a:rPr>
                <a:t>representación de expresiones matemáticas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1486549" y="5272765"/>
            <a:ext cx="3005584" cy="3019839"/>
          </a:xfrm>
          <a:custGeom>
            <a:avLst/>
            <a:gdLst/>
            <a:ahLst/>
            <a:cxnLst/>
            <a:rect r="r" b="b" t="t" l="l"/>
            <a:pathLst>
              <a:path h="3019839" w="3005584">
                <a:moveTo>
                  <a:pt x="0" y="0"/>
                </a:moveTo>
                <a:lnTo>
                  <a:pt x="3005585" y="0"/>
                </a:lnTo>
                <a:lnTo>
                  <a:pt x="3005585" y="3019839"/>
                </a:lnTo>
                <a:lnTo>
                  <a:pt x="0" y="3019839"/>
                </a:lnTo>
                <a:lnTo>
                  <a:pt x="0" y="0"/>
                </a:lnTo>
                <a:close/>
              </a:path>
            </a:pathLst>
          </a:custGeom>
          <a:blipFill>
            <a:blip r:embed="rId3"/>
            <a:stretch>
              <a:fillRect l="0" t="0" r="-100948" b="0"/>
            </a:stretch>
          </a:blipFill>
        </p:spPr>
      </p:sp>
      <p:sp>
        <p:nvSpPr>
          <p:cNvPr name="Freeform 5" id="5"/>
          <p:cNvSpPr/>
          <p:nvPr/>
        </p:nvSpPr>
        <p:spPr>
          <a:xfrm flipH="false" flipV="false" rot="0">
            <a:off x="4829175" y="5272765"/>
            <a:ext cx="3245921" cy="952853"/>
          </a:xfrm>
          <a:custGeom>
            <a:avLst/>
            <a:gdLst/>
            <a:ahLst/>
            <a:cxnLst/>
            <a:rect r="r" b="b" t="t" l="l"/>
            <a:pathLst>
              <a:path h="952853" w="3245921">
                <a:moveTo>
                  <a:pt x="0" y="0"/>
                </a:moveTo>
                <a:lnTo>
                  <a:pt x="3245921" y="0"/>
                </a:lnTo>
                <a:lnTo>
                  <a:pt x="3245921" y="952854"/>
                </a:lnTo>
                <a:lnTo>
                  <a:pt x="0" y="952854"/>
                </a:lnTo>
                <a:lnTo>
                  <a:pt x="0" y="0"/>
                </a:lnTo>
                <a:close/>
              </a:path>
            </a:pathLst>
          </a:custGeom>
          <a:blipFill>
            <a:blip r:embed="rId4"/>
            <a:stretch>
              <a:fillRect l="-103526" t="0" r="0" b="-246659"/>
            </a:stretch>
          </a:blipFill>
        </p:spPr>
      </p:sp>
      <p:grpSp>
        <p:nvGrpSpPr>
          <p:cNvPr name="Group 6" id="6"/>
          <p:cNvGrpSpPr/>
          <p:nvPr/>
        </p:nvGrpSpPr>
        <p:grpSpPr>
          <a:xfrm rot="0">
            <a:off x="666750" y="666750"/>
            <a:ext cx="8324850" cy="4118556"/>
            <a:chOff x="0" y="0"/>
            <a:chExt cx="11099800" cy="5491408"/>
          </a:xfrm>
        </p:grpSpPr>
        <p:sp>
          <p:nvSpPr>
            <p:cNvPr name="TextBox 7" id="7"/>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A1D33"/>
                  </a:solidFill>
                  <a:latin typeface="Georgia Pro Light"/>
                  <a:ea typeface="Georgia Pro Light"/>
                  <a:cs typeface="Georgia Pro Light"/>
                  <a:sym typeface="Georgia Pro Light"/>
                </a:rPr>
                <a:t>Recorrido Inorden</a:t>
              </a:r>
            </a:p>
          </p:txBody>
        </p:sp>
        <p:sp>
          <p:nvSpPr>
            <p:cNvPr name="TextBox 8" id="8"/>
            <p:cNvSpPr txBox="true"/>
            <p:nvPr/>
          </p:nvSpPr>
          <p:spPr>
            <a:xfrm rot="0">
              <a:off x="0" y="2047803"/>
              <a:ext cx="11099800" cy="3443605"/>
            </a:xfrm>
            <a:prstGeom prst="rect">
              <a:avLst/>
            </a:prstGeom>
          </p:spPr>
          <p:txBody>
            <a:bodyPr anchor="t" rtlCol="false" tIns="0" lIns="0" bIns="0" rIns="0">
              <a:spAutoFit/>
            </a:bodyPr>
            <a:lstStyle/>
            <a:p>
              <a:pPr algn="l" marL="0" indent="0" lvl="0">
                <a:lnSpc>
                  <a:spcPts val="2940"/>
                </a:lnSpc>
              </a:pPr>
              <a:r>
                <a:rPr lang="en-US" sz="2100">
                  <a:solidFill>
                    <a:srgbClr val="0A1D33"/>
                  </a:solidFill>
                  <a:latin typeface="DM Sans"/>
                  <a:ea typeface="DM Sans"/>
                  <a:cs typeface="DM Sans"/>
                  <a:sym typeface="DM Sans"/>
                </a:rPr>
                <a:t>El recorrido inorden sigue el orden:</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Subárbol izquierdo → Raíz → Subárbol derecho</a:t>
              </a:r>
            </a:p>
            <a:p>
              <a:pPr algn="l" marL="0" indent="0" lvl="0">
                <a:lnSpc>
                  <a:spcPts val="2940"/>
                </a:lnSpc>
              </a:pPr>
            </a:p>
            <a:p>
              <a:pPr algn="l" marL="0" indent="0" lvl="0">
                <a:lnSpc>
                  <a:spcPts val="2940"/>
                </a:lnSpc>
              </a:pPr>
              <a:r>
                <a:rPr lang="en-US" sz="2100">
                  <a:solidFill>
                    <a:srgbClr val="0A1D33"/>
                  </a:solidFill>
                  <a:latin typeface="DM Sans"/>
                  <a:ea typeface="DM Sans"/>
                  <a:cs typeface="DM Sans"/>
                  <a:sym typeface="DM Sans"/>
                </a:rPr>
                <a:t>Este recorrido es especialmente importante en árboles binarios de búsqueda, ya que permite obtener los elementos ordenados de menor a mayor.</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D33"/>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
        <p:nvSpPr>
          <p:cNvPr name="Freeform 4" id="4"/>
          <p:cNvSpPr/>
          <p:nvPr/>
        </p:nvSpPr>
        <p:spPr>
          <a:xfrm flipH="false" flipV="false" rot="0">
            <a:off x="1705782" y="7214207"/>
            <a:ext cx="2669311" cy="2306100"/>
          </a:xfrm>
          <a:custGeom>
            <a:avLst/>
            <a:gdLst/>
            <a:ahLst/>
            <a:cxnLst/>
            <a:rect r="r" b="b" t="t" l="l"/>
            <a:pathLst>
              <a:path h="2306100" w="2669311">
                <a:moveTo>
                  <a:pt x="0" y="0"/>
                </a:moveTo>
                <a:lnTo>
                  <a:pt x="2669311" y="0"/>
                </a:lnTo>
                <a:lnTo>
                  <a:pt x="2669311" y="2306100"/>
                </a:lnTo>
                <a:lnTo>
                  <a:pt x="0" y="2306100"/>
                </a:lnTo>
                <a:lnTo>
                  <a:pt x="0" y="0"/>
                </a:lnTo>
                <a:close/>
              </a:path>
            </a:pathLst>
          </a:custGeom>
          <a:blipFill>
            <a:blip r:embed="rId3"/>
            <a:stretch>
              <a:fillRect l="0" t="-16909" r="-102003" b="0"/>
            </a:stretch>
          </a:blipFill>
        </p:spPr>
      </p:sp>
      <p:sp>
        <p:nvSpPr>
          <p:cNvPr name="Freeform 5" id="5"/>
          <p:cNvSpPr/>
          <p:nvPr/>
        </p:nvSpPr>
        <p:spPr>
          <a:xfrm flipH="false" flipV="false" rot="0">
            <a:off x="4644166" y="8367257"/>
            <a:ext cx="2699722" cy="644660"/>
          </a:xfrm>
          <a:custGeom>
            <a:avLst/>
            <a:gdLst/>
            <a:ahLst/>
            <a:cxnLst/>
            <a:rect r="r" b="b" t="t" l="l"/>
            <a:pathLst>
              <a:path h="644660" w="2699722">
                <a:moveTo>
                  <a:pt x="0" y="0"/>
                </a:moveTo>
                <a:lnTo>
                  <a:pt x="2699723" y="0"/>
                </a:lnTo>
                <a:lnTo>
                  <a:pt x="2699723" y="644660"/>
                </a:lnTo>
                <a:lnTo>
                  <a:pt x="0" y="644660"/>
                </a:lnTo>
                <a:lnTo>
                  <a:pt x="0" y="0"/>
                </a:lnTo>
                <a:close/>
              </a:path>
            </a:pathLst>
          </a:custGeom>
          <a:blipFill>
            <a:blip r:embed="rId4"/>
            <a:stretch>
              <a:fillRect l="-96729" t="-206052" r="0" b="-105881"/>
            </a:stretch>
          </a:blipFill>
        </p:spPr>
      </p:sp>
      <p:grpSp>
        <p:nvGrpSpPr>
          <p:cNvPr name="Group 6" id="6"/>
          <p:cNvGrpSpPr/>
          <p:nvPr/>
        </p:nvGrpSpPr>
        <p:grpSpPr>
          <a:xfrm rot="0">
            <a:off x="666750" y="666750"/>
            <a:ext cx="8324850" cy="5975931"/>
            <a:chOff x="0" y="0"/>
            <a:chExt cx="11099800" cy="7967908"/>
          </a:xfrm>
        </p:grpSpPr>
        <p:sp>
          <p:nvSpPr>
            <p:cNvPr name="TextBox 7" id="7"/>
            <p:cNvSpPr txBox="true"/>
            <p:nvPr/>
          </p:nvSpPr>
          <p:spPr>
            <a:xfrm rot="0">
              <a:off x="0" y="66675"/>
              <a:ext cx="11099800" cy="3040596"/>
            </a:xfrm>
            <a:prstGeom prst="rect">
              <a:avLst/>
            </a:prstGeom>
          </p:spPr>
          <p:txBody>
            <a:bodyPr anchor="t" rtlCol="false" tIns="0" lIns="0" bIns="0" rIns="0">
              <a:spAutoFit/>
            </a:bodyPr>
            <a:lstStyle/>
            <a:p>
              <a:pPr algn="l" marL="0" indent="0" lvl="0">
                <a:lnSpc>
                  <a:spcPts val="8800"/>
                </a:lnSpc>
              </a:pPr>
              <a:r>
                <a:rPr lang="en-US" sz="8000">
                  <a:solidFill>
                    <a:srgbClr val="FFFFFF"/>
                  </a:solidFill>
                  <a:latin typeface="Georgia Pro Light"/>
                  <a:ea typeface="Georgia Pro Light"/>
                  <a:cs typeface="Georgia Pro Light"/>
                  <a:sym typeface="Georgia Pro Light"/>
                </a:rPr>
                <a:t>Recorrido Postorden</a:t>
              </a:r>
            </a:p>
          </p:txBody>
        </p:sp>
        <p:sp>
          <p:nvSpPr>
            <p:cNvPr name="TextBox 8" id="8"/>
            <p:cNvSpPr txBox="true"/>
            <p:nvPr/>
          </p:nvSpPr>
          <p:spPr>
            <a:xfrm rot="0">
              <a:off x="0" y="3533703"/>
              <a:ext cx="11099800" cy="4434205"/>
            </a:xfrm>
            <a:prstGeom prst="rect">
              <a:avLst/>
            </a:prstGeom>
          </p:spPr>
          <p:txBody>
            <a:bodyPr anchor="t" rtlCol="false" tIns="0" lIns="0" bIns="0" rIns="0">
              <a:spAutoFit/>
            </a:bodyPr>
            <a:lstStyle/>
            <a:p>
              <a:pPr algn="l" marL="0" indent="0" lvl="0">
                <a:lnSpc>
                  <a:spcPts val="2940"/>
                </a:lnSpc>
              </a:pPr>
              <a:r>
                <a:rPr lang="en-US" sz="2100">
                  <a:solidFill>
                    <a:srgbClr val="FFFFFF"/>
                  </a:solidFill>
                  <a:latin typeface="DM Sans"/>
                  <a:ea typeface="DM Sans"/>
                  <a:cs typeface="DM Sans"/>
                  <a:sym typeface="DM Sans"/>
                </a:rPr>
                <a:t>El recorrido postorden sigue el orden:</a:t>
              </a:r>
            </a:p>
            <a:p>
              <a:pPr algn="l" marL="0" indent="0" lvl="0">
                <a:lnSpc>
                  <a:spcPts val="2940"/>
                </a:lnSpc>
              </a:pPr>
            </a:p>
            <a:p>
              <a:pPr algn="l" marL="0" indent="0" lvl="0">
                <a:lnSpc>
                  <a:spcPts val="2940"/>
                </a:lnSpc>
              </a:pPr>
              <a:r>
                <a:rPr lang="en-US" sz="2100">
                  <a:solidFill>
                    <a:srgbClr val="FFFFFF"/>
                  </a:solidFill>
                  <a:latin typeface="DM Sans"/>
                  <a:ea typeface="DM Sans"/>
                  <a:cs typeface="DM Sans"/>
                  <a:sym typeface="DM Sans"/>
                </a:rPr>
                <a:t>Subárbol izquierdo → Subárbol derecho → Raíz</a:t>
              </a:r>
            </a:p>
            <a:p>
              <a:pPr algn="l" marL="0" indent="0" lvl="0">
                <a:lnSpc>
                  <a:spcPts val="2940"/>
                </a:lnSpc>
              </a:pPr>
            </a:p>
            <a:p>
              <a:pPr algn="l" marL="0" indent="0" lvl="0">
                <a:lnSpc>
                  <a:spcPts val="2940"/>
                </a:lnSpc>
              </a:pPr>
              <a:r>
                <a:rPr lang="en-US" sz="2100">
                  <a:solidFill>
                    <a:srgbClr val="FFFFFF"/>
                  </a:solidFill>
                  <a:latin typeface="DM Sans"/>
                  <a:ea typeface="DM Sans"/>
                  <a:cs typeface="DM Sans"/>
                  <a:sym typeface="DM Sans"/>
                </a:rPr>
                <a:t>Este tipo de recorrido se utiliza frecuentemente en:</a:t>
              </a:r>
            </a:p>
            <a:p>
              <a:pPr algn="l" marL="0" indent="0" lvl="0">
                <a:lnSpc>
                  <a:spcPts val="2940"/>
                </a:lnSpc>
              </a:pPr>
            </a:p>
            <a:p>
              <a:pPr algn="l" marL="453390" indent="-226695" lvl="1">
                <a:lnSpc>
                  <a:spcPts val="2940"/>
                </a:lnSpc>
                <a:buFont typeface="Arial"/>
                <a:buChar char="•"/>
              </a:pPr>
              <a:r>
                <a:rPr lang="en-US" sz="2100">
                  <a:solidFill>
                    <a:srgbClr val="FFFFFF"/>
                  </a:solidFill>
                  <a:latin typeface="DM Sans"/>
                  <a:ea typeface="DM Sans"/>
                  <a:cs typeface="DM Sans"/>
                  <a:sym typeface="DM Sans"/>
                </a:rPr>
                <a:t>eliminación de árboles</a:t>
              </a:r>
            </a:p>
            <a:p>
              <a:pPr algn="l" marL="453390" indent="-226695" lvl="1">
                <a:lnSpc>
                  <a:spcPts val="2940"/>
                </a:lnSpc>
                <a:buFont typeface="Arial"/>
                <a:buChar char="•"/>
              </a:pPr>
              <a:r>
                <a:rPr lang="en-US" sz="2100">
                  <a:solidFill>
                    <a:srgbClr val="FFFFFF"/>
                  </a:solidFill>
                  <a:latin typeface="DM Sans"/>
                  <a:ea typeface="DM Sans"/>
                  <a:cs typeface="DM Sans"/>
                  <a:sym typeface="DM Sans"/>
                </a:rPr>
                <a:t>evaluación de expresiones matemáticas</a:t>
              </a:r>
            </a:p>
            <a:p>
              <a:pPr algn="l" marL="453390" indent="-226695" lvl="1">
                <a:lnSpc>
                  <a:spcPts val="2940"/>
                </a:lnSpc>
                <a:buFont typeface="Arial"/>
                <a:buChar char="•"/>
              </a:pPr>
              <a:r>
                <a:rPr lang="en-US" sz="2100">
                  <a:solidFill>
                    <a:srgbClr val="FFFFFF"/>
                  </a:solidFill>
                  <a:latin typeface="DM Sans"/>
                  <a:ea typeface="DM Sans"/>
                  <a:cs typeface="DM Sans"/>
                  <a:sym typeface="DM Sans"/>
                </a:rPr>
                <a:t>compiladores</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750" y="733425"/>
            <a:ext cx="15821025"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0A1D33"/>
                </a:solidFill>
                <a:latin typeface="Georgia Pro Light"/>
                <a:ea typeface="Georgia Pro Light"/>
                <a:cs typeface="Georgia Pro Light"/>
                <a:sym typeface="Georgia Pro Light"/>
              </a:rPr>
              <a:t>Aplicaciones Prácticas en Informática</a:t>
            </a:r>
          </a:p>
        </p:txBody>
      </p:sp>
      <p:grpSp>
        <p:nvGrpSpPr>
          <p:cNvPr name="Group 3" id="3"/>
          <p:cNvGrpSpPr/>
          <p:nvPr/>
        </p:nvGrpSpPr>
        <p:grpSpPr>
          <a:xfrm rot="0">
            <a:off x="666750" y="4248150"/>
            <a:ext cx="4314825" cy="3027709"/>
            <a:chOff x="0" y="0"/>
            <a:chExt cx="5753100" cy="4036945"/>
          </a:xfrm>
        </p:grpSpPr>
        <p:sp>
          <p:nvSpPr>
            <p:cNvPr name="TextBox 4" id="4"/>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0A1D33"/>
                  </a:solidFill>
                  <a:latin typeface="DM Sans"/>
                  <a:ea typeface="DM Sans"/>
                  <a:cs typeface="DM Sans"/>
                  <a:sym typeface="DM Sans"/>
                </a:rPr>
                <a:t>Los grafos modelan </a:t>
              </a:r>
              <a:r>
                <a:rPr lang="en-US" b="true" sz="2099">
                  <a:solidFill>
                    <a:srgbClr val="0A1D33"/>
                  </a:solidFill>
                  <a:latin typeface="DM Sans Bold"/>
                  <a:ea typeface="DM Sans Bold"/>
                  <a:cs typeface="DM Sans Bold"/>
                  <a:sym typeface="DM Sans Bold"/>
                </a:rPr>
                <a:t>conexiones en redes</a:t>
              </a:r>
              <a:r>
                <a:rPr lang="en-US" sz="2099">
                  <a:solidFill>
                    <a:srgbClr val="0A1D33"/>
                  </a:solidFill>
                  <a:latin typeface="DM Sans"/>
                  <a:ea typeface="DM Sans"/>
                  <a:cs typeface="DM Sans"/>
                  <a:sym typeface="DM Sans"/>
                </a:rPr>
                <a:t>, permitiendo el análisis y optimización del flujo de datos, lo que resulta crucial para la infraestructura de internet y la comunicación.</a:t>
              </a:r>
            </a:p>
          </p:txBody>
        </p:sp>
        <p:sp>
          <p:nvSpPr>
            <p:cNvPr name="TextBox 5" id="5"/>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0A1D33"/>
                  </a:solidFill>
                  <a:latin typeface="DM Sans Bold"/>
                  <a:ea typeface="DM Sans Bold"/>
                  <a:cs typeface="DM Sans Bold"/>
                  <a:sym typeface="DM Sans Bold"/>
                </a:rPr>
                <a:t>REDES</a:t>
              </a:r>
            </a:p>
          </p:txBody>
        </p:sp>
      </p:grpSp>
      <p:grpSp>
        <p:nvGrpSpPr>
          <p:cNvPr name="Group 6" id="6"/>
          <p:cNvGrpSpPr/>
          <p:nvPr/>
        </p:nvGrpSpPr>
        <p:grpSpPr>
          <a:xfrm rot="0">
            <a:off x="6419850" y="4248150"/>
            <a:ext cx="4314825" cy="3027709"/>
            <a:chOff x="0" y="0"/>
            <a:chExt cx="5753100" cy="4036945"/>
          </a:xfrm>
        </p:grpSpPr>
        <p:sp>
          <p:nvSpPr>
            <p:cNvPr name="TextBox 7" id="7"/>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0A1D33"/>
                  </a:solidFill>
                  <a:latin typeface="DM Sans"/>
                  <a:ea typeface="DM Sans"/>
                  <a:cs typeface="DM Sans"/>
                  <a:sym typeface="DM Sans"/>
                </a:rPr>
                <a:t>En bases de datos, los grafos son esenciales para </a:t>
              </a:r>
              <a:r>
                <a:rPr lang="en-US" b="true" sz="2099">
                  <a:solidFill>
                    <a:srgbClr val="0A1D33"/>
                  </a:solidFill>
                  <a:latin typeface="DM Sans Bold"/>
                  <a:ea typeface="DM Sans Bold"/>
                  <a:cs typeface="DM Sans Bold"/>
                  <a:sym typeface="DM Sans Bold"/>
                </a:rPr>
                <a:t>estructuras de índices</a:t>
              </a:r>
              <a:r>
                <a:rPr lang="en-US" sz="2099">
                  <a:solidFill>
                    <a:srgbClr val="0A1D33"/>
                  </a:solidFill>
                  <a:latin typeface="DM Sans"/>
                  <a:ea typeface="DM Sans"/>
                  <a:cs typeface="DM Sans"/>
                  <a:sym typeface="DM Sans"/>
                </a:rPr>
                <a:t>, facilitando las consultas rápidas y eficientes sobre grandes volúmenes de información conectada y relacionada.</a:t>
              </a:r>
            </a:p>
          </p:txBody>
        </p:sp>
        <p:sp>
          <p:nvSpPr>
            <p:cNvPr name="TextBox 8" id="8"/>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0A1D33"/>
                  </a:solidFill>
                  <a:latin typeface="DM Sans Bold"/>
                  <a:ea typeface="DM Sans Bold"/>
                  <a:cs typeface="DM Sans Bold"/>
                  <a:sym typeface="DM Sans Bold"/>
                </a:rPr>
                <a:t>BASES DE DATOS</a:t>
              </a:r>
            </a:p>
          </p:txBody>
        </p:sp>
      </p:grpSp>
      <p:grpSp>
        <p:nvGrpSpPr>
          <p:cNvPr name="Group 9" id="9"/>
          <p:cNvGrpSpPr/>
          <p:nvPr/>
        </p:nvGrpSpPr>
        <p:grpSpPr>
          <a:xfrm rot="0">
            <a:off x="12172950" y="4248150"/>
            <a:ext cx="4314825" cy="3391992"/>
            <a:chOff x="0" y="0"/>
            <a:chExt cx="5753100" cy="4522656"/>
          </a:xfrm>
        </p:grpSpPr>
        <p:sp>
          <p:nvSpPr>
            <p:cNvPr name="TextBox 10" id="10"/>
            <p:cNvSpPr txBox="true"/>
            <p:nvPr/>
          </p:nvSpPr>
          <p:spPr>
            <a:xfrm rot="0">
              <a:off x="0" y="1146175"/>
              <a:ext cx="5753100" cy="3376481"/>
            </a:xfrm>
            <a:prstGeom prst="rect">
              <a:avLst/>
            </a:prstGeom>
          </p:spPr>
          <p:txBody>
            <a:bodyPr anchor="t" rtlCol="false" tIns="0" lIns="0" bIns="0" rIns="0">
              <a:spAutoFit/>
            </a:bodyPr>
            <a:lstStyle/>
            <a:p>
              <a:pPr algn="l" marL="0" indent="0" lvl="0">
                <a:lnSpc>
                  <a:spcPts val="2939"/>
                </a:lnSpc>
              </a:pPr>
              <a:r>
                <a:rPr lang="en-US" sz="2099">
                  <a:solidFill>
                    <a:srgbClr val="0A1D33"/>
                  </a:solidFill>
                  <a:latin typeface="DM Sans"/>
                  <a:ea typeface="DM Sans"/>
                  <a:cs typeface="DM Sans"/>
                  <a:sym typeface="DM Sans"/>
                </a:rPr>
                <a:t>En inteligencia artificial, los grafos son utilizados para </a:t>
              </a:r>
              <a:r>
                <a:rPr lang="en-US" b="true" sz="2099">
                  <a:solidFill>
                    <a:srgbClr val="0A1D33"/>
                  </a:solidFill>
                  <a:latin typeface="DM Sans Bold"/>
                  <a:ea typeface="DM Sans Bold"/>
                  <a:cs typeface="DM Sans Bold"/>
                  <a:sym typeface="DM Sans Bold"/>
                </a:rPr>
                <a:t>representar conocimiento</a:t>
              </a:r>
              <a:r>
                <a:rPr lang="en-US" sz="2099">
                  <a:solidFill>
                    <a:srgbClr val="0A1D33"/>
                  </a:solidFill>
                  <a:latin typeface="DM Sans"/>
                  <a:ea typeface="DM Sans"/>
                  <a:cs typeface="DM Sans"/>
                  <a:sym typeface="DM Sans"/>
                </a:rPr>
                <a:t>, optimizando búsquedas y permitiendo la navegación eficaz en grandes conjuntos de datos interconectados.</a:t>
              </a:r>
            </a:p>
          </p:txBody>
        </p:sp>
        <p:sp>
          <p:nvSpPr>
            <p:cNvPr name="TextBox 11" id="11"/>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0A1D33"/>
                  </a:solidFill>
                  <a:latin typeface="DM Sans Bold"/>
                  <a:ea typeface="DM Sans Bold"/>
                  <a:cs typeface="DM Sans Bold"/>
                  <a:sym typeface="DM Sans Bold"/>
                </a:rPr>
                <a:t>INTELIGENCIA ARTIFICIAL</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grpSp>
        <p:nvGrpSpPr>
          <p:cNvPr name="Group 4" id="4"/>
          <p:cNvGrpSpPr/>
          <p:nvPr/>
        </p:nvGrpSpPr>
        <p:grpSpPr>
          <a:xfrm rot="0">
            <a:off x="1028700" y="2899027"/>
            <a:ext cx="796706" cy="781952"/>
            <a:chOff x="0" y="0"/>
            <a:chExt cx="685800" cy="673100"/>
          </a:xfrm>
        </p:grpSpPr>
        <p:sp>
          <p:nvSpPr>
            <p:cNvPr name="Freeform 5" id="5"/>
            <p:cNvSpPr/>
            <p:nvPr/>
          </p:nvSpPr>
          <p:spPr>
            <a:xfrm flipH="false" flipV="false" rot="0">
              <a:off x="0" y="0"/>
              <a:ext cx="685800" cy="668020"/>
            </a:xfrm>
            <a:custGeom>
              <a:avLst/>
              <a:gdLst/>
              <a:ahLst/>
              <a:cxnLst/>
              <a:rect r="r" b="b" t="t" l="l"/>
              <a:pathLst>
                <a:path h="668020" w="68580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0A1D33"/>
            </a:solidFill>
          </p:spPr>
        </p:sp>
        <p:sp>
          <p:nvSpPr>
            <p:cNvPr name="TextBox 6" id="6"/>
            <p:cNvSpPr txBox="true"/>
            <p:nvPr/>
          </p:nvSpPr>
          <p:spPr>
            <a:xfrm>
              <a:off x="139700" y="117475"/>
              <a:ext cx="406400" cy="441325"/>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825406" y="3018857"/>
            <a:ext cx="8211765" cy="4559014"/>
          </a:xfrm>
          <a:prstGeom prst="rect">
            <a:avLst/>
          </a:prstGeom>
        </p:spPr>
        <p:txBody>
          <a:bodyPr anchor="t" rtlCol="false" tIns="0" lIns="0" bIns="0" rIns="0">
            <a:spAutoFit/>
          </a:bodyPr>
          <a:lstStyle/>
          <a:p>
            <a:pPr algn="l" marL="0" indent="0" lvl="0">
              <a:lnSpc>
                <a:spcPts val="3071"/>
              </a:lnSpc>
            </a:pPr>
            <a:r>
              <a:rPr lang="en-US" sz="2194">
                <a:solidFill>
                  <a:srgbClr val="0A1D33"/>
                </a:solidFill>
                <a:latin typeface="DM Sans"/>
                <a:ea typeface="DM Sans"/>
                <a:cs typeface="DM Sans"/>
                <a:sym typeface="DM Sans"/>
              </a:rPr>
              <a:t>En conclusión, la teoría de grafos nos permite repres</a:t>
            </a:r>
            <a:r>
              <a:rPr lang="en-US" sz="2194">
                <a:solidFill>
                  <a:srgbClr val="0A1D33"/>
                </a:solidFill>
                <a:latin typeface="DM Sans"/>
                <a:ea typeface="DM Sans"/>
                <a:cs typeface="DM Sans"/>
                <a:sym typeface="DM Sans"/>
              </a:rPr>
              <a:t>entar y analizar diferentes tipos de redes mediante vértices y aristas. A través del concepto de distancia podemos identificar las rutas más cortas entre nodos, mientras que los árboles permiten organizar la información de manera jerárquica y eficiente.</a:t>
            </a:r>
          </a:p>
          <a:p>
            <a:pPr algn="l" marL="0" indent="0" lvl="0">
              <a:lnSpc>
                <a:spcPts val="3071"/>
              </a:lnSpc>
            </a:pPr>
          </a:p>
          <a:p>
            <a:pPr algn="l" marL="0" indent="0" lvl="0">
              <a:lnSpc>
                <a:spcPts val="3071"/>
              </a:lnSpc>
            </a:pPr>
            <a:r>
              <a:rPr lang="en-US" sz="2194">
                <a:solidFill>
                  <a:srgbClr val="0A1D33"/>
                </a:solidFill>
                <a:latin typeface="DM Sans"/>
                <a:ea typeface="DM Sans"/>
                <a:cs typeface="DM Sans"/>
                <a:sym typeface="DM Sans"/>
              </a:rPr>
              <a:t>Además, los recorridos de árboles como preorden, inorden y postorden son fundamentales para el funcionamiento de muchos algoritmos en informática. Por ello, estos conceptos tienen una gran importancia tanto en las matemáticas como en el desarrollo de sistemas computacionales.</a:t>
            </a:r>
          </a:p>
          <a:p>
            <a:pPr algn="l" marL="0" indent="0" lvl="0">
              <a:lnSpc>
                <a:spcPts val="3071"/>
              </a:lnSpc>
            </a:pPr>
          </a:p>
        </p:txBody>
      </p:sp>
      <p:sp>
        <p:nvSpPr>
          <p:cNvPr name="TextBox 8" id="8"/>
          <p:cNvSpPr txBox="true"/>
          <p:nvPr/>
        </p:nvSpPr>
        <p:spPr>
          <a:xfrm rot="0">
            <a:off x="666750" y="851535"/>
            <a:ext cx="9763125" cy="1282065"/>
          </a:xfrm>
          <a:prstGeom prst="rect">
            <a:avLst/>
          </a:prstGeom>
        </p:spPr>
        <p:txBody>
          <a:bodyPr anchor="t" rtlCol="false" tIns="0" lIns="0" bIns="0" rIns="0">
            <a:spAutoFit/>
          </a:bodyPr>
          <a:lstStyle/>
          <a:p>
            <a:pPr algn="l" marL="0" indent="0" lvl="0">
              <a:lnSpc>
                <a:spcPts val="9600"/>
              </a:lnSpc>
              <a:spcBef>
                <a:spcPct val="0"/>
              </a:spcBef>
            </a:pPr>
            <a:r>
              <a:rPr lang="en-US" b="true" sz="9600" strike="noStrike" u="none">
                <a:solidFill>
                  <a:srgbClr val="0A1D33"/>
                </a:solidFill>
                <a:latin typeface="Georgia Pro Bold"/>
                <a:ea typeface="Georgia Pro Bold"/>
                <a:cs typeface="Georgia Pro Bold"/>
                <a:sym typeface="Georgia Pro Bold"/>
              </a:rPr>
              <a:t>Conclusión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Distancia en Grafos</dc:description>
  <dc:identifier>DAHDH3R-Ank</dc:identifier>
  <dcterms:modified xsi:type="dcterms:W3CDTF">2011-08-01T06:04:30Z</dcterms:modified>
  <cp:revision>1</cp:revision>
  <dc:title>Presentation - Distancia en Grafos</dc:title>
</cp:coreProperties>
</file>