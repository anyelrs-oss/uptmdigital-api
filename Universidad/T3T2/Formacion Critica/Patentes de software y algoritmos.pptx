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Work Sans Semi-Bold" charset="1" panose="00000000000000000000"/>
      <p:regular r:id="rId15"/>
    </p:embeddedFont>
    <p:embeddedFont>
      <p:font typeface="Work Sans" charset="1" panose="00000000000000000000"/>
      <p:regular r:id="rId16"/>
    </p:embeddedFont>
    <p:embeddedFont>
      <p:font typeface="Work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CED6E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7834471"/>
            <a:ext cx="6886575" cy="1785779"/>
            <a:chOff x="0" y="0"/>
            <a:chExt cx="1813748" cy="470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3748" cy="470329"/>
            </a:xfrm>
            <a:custGeom>
              <a:avLst/>
              <a:gdLst/>
              <a:ahLst/>
              <a:cxnLst/>
              <a:rect r="r" b="b" t="t" l="l"/>
              <a:pathLst>
                <a:path h="470329" w="1813748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0125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3657600"/>
            <a:ext cx="6886575" cy="3872071"/>
            <a:chOff x="0" y="0"/>
            <a:chExt cx="1066911" cy="599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911" cy="599885"/>
            </a:xfrm>
            <a:custGeom>
              <a:avLst/>
              <a:gdLst/>
              <a:ahLst/>
              <a:cxnLst/>
              <a:rect r="r" b="b" t="t" l="l"/>
              <a:pathLst>
                <a:path h="599885" w="1066911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t="0" r="-20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3657600"/>
            <a:ext cx="9763125" cy="5962650"/>
            <a:chOff x="0" y="0"/>
            <a:chExt cx="4083676" cy="2494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4483" y="50038"/>
              <a:ext cx="3974583" cy="2394589"/>
            </a:xfrm>
            <a:custGeom>
              <a:avLst/>
              <a:gdLst/>
              <a:ahLst/>
              <a:cxnLst/>
              <a:rect r="r" b="b" t="t" l="l"/>
              <a:pathLst>
                <a:path h="2394589" w="3974583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l="0" t="-209" r="0" b="-20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83549" cy="2493903"/>
            </a:xfrm>
            <a:custGeom>
              <a:avLst/>
              <a:gdLst/>
              <a:ahLst/>
              <a:cxnLst/>
              <a:rect r="r" b="b" t="t" l="l"/>
              <a:pathLst>
                <a:path h="2493903" w="4083549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4A6A9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20953" y="1376364"/>
            <a:ext cx="1266822" cy="1266822"/>
          </a:xfrm>
          <a:custGeom>
            <a:avLst/>
            <a:gdLst/>
            <a:ahLst/>
            <a:cxnLst/>
            <a:rect r="r" b="b" t="t" l="l"/>
            <a:pathLst>
              <a:path h="1266822" w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60436"/>
            <a:ext cx="14192253" cy="285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1F3A5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Patentes de software y algoritmos: un análisis desde la legislación andina</a:t>
            </a:r>
          </a:p>
          <a:p>
            <a:pPr algn="l" marL="0" indent="0" lvl="0">
              <a:lnSpc>
                <a:spcPts val="95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1388359" y="7920166"/>
            <a:ext cx="5603210" cy="1495190"/>
            <a:chOff x="0" y="0"/>
            <a:chExt cx="7470947" cy="199358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470947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 spc="-165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Integrantes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75962"/>
              <a:ext cx="7470947" cy="1317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 spc="-16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Ángel Peña – C.I. 24.349.651</a:t>
              </a: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 spc="-16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Rubén Ramírez – C.I. 16.020.185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2448748" cy="2633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751" cy="2633665"/>
            </a:xfrm>
            <a:custGeom>
              <a:avLst/>
              <a:gdLst/>
              <a:ahLst/>
              <a:cxnLst/>
              <a:rect r="r" b="b" t="t" l="l"/>
              <a:pathLst>
                <a:path h="2633665" w="2448751">
                  <a:moveTo>
                    <a:pt x="2101792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354273"/>
                  </a:lnTo>
                  <a:cubicBezTo>
                    <a:pt x="0" y="2390784"/>
                    <a:pt x="13458" y="2426013"/>
                    <a:pt x="37800" y="2453225"/>
                  </a:cubicBezTo>
                  <a:lnTo>
                    <a:pt x="154967" y="2584201"/>
                  </a:lnTo>
                  <a:cubicBezTo>
                    <a:pt x="183122" y="2615677"/>
                    <a:pt x="223353" y="2633666"/>
                    <a:pt x="265584" y="2633665"/>
                  </a:cubicBezTo>
                  <a:lnTo>
                    <a:pt x="2300335" y="2633665"/>
                  </a:lnTo>
                  <a:cubicBezTo>
                    <a:pt x="2339697" y="2633666"/>
                    <a:pt x="2377447" y="2618029"/>
                    <a:pt x="2405281" y="2590196"/>
                  </a:cubicBezTo>
                  <a:cubicBezTo>
                    <a:pt x="2433114" y="2562363"/>
                    <a:pt x="2448751" y="2524613"/>
                    <a:pt x="2448751" y="2485251"/>
                  </a:cubicBezTo>
                  <a:lnTo>
                    <a:pt x="2448751" y="366141"/>
                  </a:lnTo>
                  <a:cubicBezTo>
                    <a:pt x="2448751" y="329143"/>
                    <a:pt x="2434932" y="293478"/>
                    <a:pt x="2410002" y="266140"/>
                  </a:cubicBezTo>
                  <a:lnTo>
                    <a:pt x="2211459" y="48414"/>
                  </a:lnTo>
                  <a:cubicBezTo>
                    <a:pt x="2183337" y="17574"/>
                    <a:pt x="2143529" y="0"/>
                    <a:pt x="2101792" y="0"/>
                  </a:cubicBezTo>
                  <a:close/>
                </a:path>
              </a:pathLst>
            </a:custGeom>
            <a:solidFill>
              <a:srgbClr val="1F3A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192553" cy="2358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51149" y="0"/>
                  </a:moveTo>
                  <a:lnTo>
                    <a:pt x="2141404" y="0"/>
                  </a:lnTo>
                  <a:cubicBezTo>
                    <a:pt x="2154970" y="0"/>
                    <a:pt x="2167980" y="5389"/>
                    <a:pt x="2177572" y="14981"/>
                  </a:cubicBezTo>
                  <a:cubicBezTo>
                    <a:pt x="2187164" y="24573"/>
                    <a:pt x="2192553" y="37583"/>
                    <a:pt x="2192553" y="51149"/>
                  </a:cubicBezTo>
                  <a:lnTo>
                    <a:pt x="2192553" y="2306975"/>
                  </a:lnTo>
                  <a:cubicBezTo>
                    <a:pt x="2192553" y="2320540"/>
                    <a:pt x="2187164" y="2333550"/>
                    <a:pt x="2177572" y="2343142"/>
                  </a:cubicBezTo>
                  <a:cubicBezTo>
                    <a:pt x="2167980" y="2352735"/>
                    <a:pt x="2154970" y="2358124"/>
                    <a:pt x="2141404" y="2358124"/>
                  </a:cubicBezTo>
                  <a:lnTo>
                    <a:pt x="51149" y="2358124"/>
                  </a:lnTo>
                  <a:cubicBezTo>
                    <a:pt x="37583" y="2358124"/>
                    <a:pt x="24573" y="2352735"/>
                    <a:pt x="14981" y="2343142"/>
                  </a:cubicBezTo>
                  <a:cubicBezTo>
                    <a:pt x="5389" y="2333550"/>
                    <a:pt x="0" y="2320540"/>
                    <a:pt x="0" y="2306975"/>
                  </a:cubicBezTo>
                  <a:lnTo>
                    <a:pt x="0" y="51149"/>
                  </a:lnTo>
                  <a:cubicBezTo>
                    <a:pt x="0" y="37583"/>
                    <a:pt x="5389" y="24573"/>
                    <a:pt x="14981" y="14981"/>
                  </a:cubicBezTo>
                  <a:cubicBezTo>
                    <a:pt x="24573" y="5389"/>
                    <a:pt x="37583" y="0"/>
                    <a:pt x="51149" y="0"/>
                  </a:cubicBezTo>
                  <a:close/>
                </a:path>
              </a:pathLst>
            </a:custGeom>
            <a:solidFill>
              <a:srgbClr val="A7B3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255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81936" y="1190507"/>
            <a:ext cx="7153778" cy="7905985"/>
            <a:chOff x="0" y="0"/>
            <a:chExt cx="1935901" cy="21394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5903" cy="2139471"/>
            </a:xfrm>
            <a:custGeom>
              <a:avLst/>
              <a:gdLst/>
              <a:ahLst/>
              <a:cxnLst/>
              <a:rect r="r" b="b" t="t" l="l"/>
              <a:pathLst>
                <a:path h="2139471" w="1935903">
                  <a:moveTo>
                    <a:pt x="144846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961798"/>
                  </a:lnTo>
                  <a:cubicBezTo>
                    <a:pt x="0" y="2059924"/>
                    <a:pt x="79547" y="2139471"/>
                    <a:pt x="177673" y="2139471"/>
                  </a:cubicBezTo>
                  <a:lnTo>
                    <a:pt x="1758230" y="2139471"/>
                  </a:lnTo>
                  <a:cubicBezTo>
                    <a:pt x="1856356" y="2139471"/>
                    <a:pt x="1935903" y="2059924"/>
                    <a:pt x="1935903" y="1961798"/>
                  </a:cubicBezTo>
                  <a:lnTo>
                    <a:pt x="1935903" y="523958"/>
                  </a:lnTo>
                  <a:cubicBezTo>
                    <a:pt x="1935903" y="480251"/>
                    <a:pt x="1919793" y="438079"/>
                    <a:pt x="1890654" y="405503"/>
                  </a:cubicBezTo>
                  <a:lnTo>
                    <a:pt x="1580877" y="59214"/>
                  </a:lnTo>
                  <a:cubicBezTo>
                    <a:pt x="1547173" y="21536"/>
                    <a:pt x="1499013" y="0"/>
                    <a:pt x="14484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0" r="0" b="-13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05025" y="1562100"/>
            <a:ext cx="5448300" cy="7583913"/>
            <a:chOff x="0" y="0"/>
            <a:chExt cx="7264400" cy="1011188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50129" y="9661669"/>
              <a:ext cx="7214271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3350"/>
              <a:ext cx="72644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Introducción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37927"/>
              <a:ext cx="7264400" cy="733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165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Nuestro subtema ab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o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rda las pate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nte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s de sof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ware y alg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o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ritmos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de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sde la legislación andina. En la actualidad, el software es un elemento clave del desarrollo tecnológico,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p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ero no tod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s las creaciones digi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ales pued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en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ser pa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te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ntada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. Por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e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so, 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n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alizaremos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cómo la legislación 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ndina</a:t>
              </a:r>
              <a:r>
                <a:rPr lang="en-US" sz="3000" spc="-165" strike="noStrike" u="none">
                  <a:solidFill>
                    <a:srgbClr val="A7B3C4"/>
                  </a:solidFill>
                  <a:latin typeface="Work Sans"/>
                  <a:ea typeface="Work Sans"/>
                  <a:cs typeface="Work Sans"/>
                  <a:sym typeface="Work Sans"/>
                </a:rPr>
                <a:t> regula este aspecto y cómo esa postura influye en el Estado venezolano.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ED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1F3A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12639675" cy="1787927"/>
            <a:chOff x="0" y="0"/>
            <a:chExt cx="16852900" cy="23839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168529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Conceptos fundamentales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55253"/>
              <a:ext cx="168529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atentes, S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oftwa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 y A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lgor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tm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4248150"/>
            <a:ext cx="4010025" cy="3268980"/>
            <a:chOff x="0" y="0"/>
            <a:chExt cx="5346700" cy="43586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53467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¿Qué es una patente?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65225"/>
              <a:ext cx="5346700" cy="3193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Una patente es un de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rec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ho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e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xc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l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usivo otorgado por el Estado a una persona natural o jurídica sobre una invención, permitiéndole explotar de manera exclusiva dicha creación por un período determinado.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38987" y="4248150"/>
            <a:ext cx="4010025" cy="3040380"/>
            <a:chOff x="0" y="0"/>
            <a:chExt cx="5346700" cy="40538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5346700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Requisitos de patentabilidad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74825"/>
              <a:ext cx="5346700" cy="2279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Para que una invención sea patentable, debe cumplir con tres requisitos fundamentales: 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novedad</a:t>
              </a: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, nivel inventivo y aplicación industrial.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4548056" cy="3954780"/>
            <a:chOff x="0" y="0"/>
            <a:chExt cx="6064074" cy="527304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53467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Definición de software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65225"/>
              <a:ext cx="6064074" cy="4107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 strike="noStrike" u="none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El software puede definirse como un conjunto organizado de instrucciones que permiten a un sistema informático ejecutar determinadas tareas. Por su parte, los algoritmos son secuencias lógicas o métodos matemáticos diseñados para resolver un problema específico.</a:t>
              </a:r>
            </a:p>
            <a:p>
              <a:pPr algn="l" marL="0" indent="0" lvl="0">
                <a:lnSpc>
                  <a:spcPts val="273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1F3A5F"/>
            </a:soli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6886575" cy="5227692"/>
            <a:chOff x="0" y="0"/>
            <a:chExt cx="9182100" cy="697025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769731"/>
              <a:ext cx="7264400" cy="420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En el ámbito regional, l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a Comunidad Andina de Naciones establece nor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ma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s 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co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munes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n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mat</a:t>
              </a: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eria de propiedad intelectual. La Decisión 486 regula la propiedad industrial y define qué puede ser patentado.</a:t>
              </a:r>
            </a:p>
            <a:p>
              <a:pPr algn="l" marL="0" indent="0" lvl="0">
                <a:lnSpc>
                  <a:spcPts val="2520"/>
                </a:lnSpc>
              </a:pPr>
            </a:p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Esta decisión establece claramente que los programas de computación, los métodos matemáticos y los algoritmos, considerados ‘como tales’, no son patentables.”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9182100" cy="2465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Legislación Andina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12605" y="981075"/>
            <a:ext cx="6946695" cy="7471274"/>
            <a:chOff x="0" y="0"/>
            <a:chExt cx="3482081" cy="3745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483" y="50038"/>
              <a:ext cx="3372988" cy="3645589"/>
            </a:xfrm>
            <a:custGeom>
              <a:avLst/>
              <a:gdLst/>
              <a:ahLst/>
              <a:cxnLst/>
              <a:rect r="r" b="b" t="t" l="l"/>
              <a:pathLst>
                <a:path h="3645589" w="3372988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1954" cy="3744903"/>
            </a:xfrm>
            <a:custGeom>
              <a:avLst/>
              <a:gdLst/>
              <a:ahLst/>
              <a:cxnLst/>
              <a:rect r="r" b="b" t="t" l="l"/>
              <a:pathLst>
                <a:path h="3744903" w="3481954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CED6E0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1F3A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1562100"/>
            <a:ext cx="4619625" cy="6267450"/>
            <a:chOff x="0" y="0"/>
            <a:chExt cx="3957992" cy="53698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4483" y="50038"/>
              <a:ext cx="3848899" cy="5270371"/>
            </a:xfrm>
            <a:custGeom>
              <a:avLst/>
              <a:gdLst/>
              <a:ahLst/>
              <a:cxnLst/>
              <a:rect r="r" b="b" t="t" l="l"/>
              <a:pathLst>
                <a:path h="5270371" w="3848899">
                  <a:moveTo>
                    <a:pt x="3761269" y="5270371"/>
                  </a:moveTo>
                  <a:lnTo>
                    <a:pt x="87757" y="5270371"/>
                  </a:lnTo>
                  <a:cubicBezTo>
                    <a:pt x="39370" y="5270371"/>
                    <a:pt x="0" y="5231128"/>
                    <a:pt x="0" y="5182614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761142" y="0"/>
                  </a:lnTo>
                  <a:cubicBezTo>
                    <a:pt x="3809529" y="0"/>
                    <a:pt x="3848899" y="39243"/>
                    <a:pt x="3848899" y="87757"/>
                  </a:cubicBezTo>
                  <a:lnTo>
                    <a:pt x="3848899" y="5182614"/>
                  </a:lnTo>
                  <a:cubicBezTo>
                    <a:pt x="3848899" y="5231001"/>
                    <a:pt x="3809656" y="5270371"/>
                    <a:pt x="3761142" y="5270371"/>
                  </a:cubicBezTo>
                  <a:close/>
                </a:path>
              </a:pathLst>
            </a:custGeom>
            <a:blipFill>
              <a:blip r:embed="rId2"/>
              <a:stretch>
                <a:fillRect l="-65" t="0" r="-6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7865" cy="5369685"/>
            </a:xfrm>
            <a:custGeom>
              <a:avLst/>
              <a:gdLst/>
              <a:ahLst/>
              <a:cxnLst/>
              <a:rect r="r" b="b" t="t" l="l"/>
              <a:pathLst>
                <a:path h="5369685" w="3957865">
                  <a:moveTo>
                    <a:pt x="0" y="91567"/>
                  </a:moveTo>
                  <a:lnTo>
                    <a:pt x="0" y="5278118"/>
                  </a:lnTo>
                  <a:cubicBezTo>
                    <a:pt x="0" y="5328664"/>
                    <a:pt x="41021" y="5369685"/>
                    <a:pt x="91567" y="5369685"/>
                  </a:cubicBezTo>
                  <a:lnTo>
                    <a:pt x="3866298" y="5369685"/>
                  </a:lnTo>
                  <a:cubicBezTo>
                    <a:pt x="3916844" y="5369685"/>
                    <a:pt x="3957865" y="5328664"/>
                    <a:pt x="3957865" y="5278118"/>
                  </a:cubicBezTo>
                  <a:lnTo>
                    <a:pt x="3957865" y="91567"/>
                  </a:lnTo>
                  <a:cubicBezTo>
                    <a:pt x="3957865" y="41021"/>
                    <a:pt x="3916844" y="0"/>
                    <a:pt x="3866298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116109" y="331724"/>
                  </a:moveTo>
                  <a:lnTo>
                    <a:pt x="3775239" y="331724"/>
                  </a:lnTo>
                  <a:cubicBezTo>
                    <a:pt x="3825785" y="331724"/>
                    <a:pt x="3866806" y="372745"/>
                    <a:pt x="3866806" y="423291"/>
                  </a:cubicBezTo>
                  <a:lnTo>
                    <a:pt x="3866806" y="5187059"/>
                  </a:lnTo>
                  <a:cubicBezTo>
                    <a:pt x="3866806" y="5237605"/>
                    <a:pt x="3825785" y="5278626"/>
                    <a:pt x="3775239" y="5278626"/>
                  </a:cubicBezTo>
                  <a:lnTo>
                    <a:pt x="182753" y="5278626"/>
                  </a:lnTo>
                  <a:cubicBezTo>
                    <a:pt x="132207" y="5278626"/>
                    <a:pt x="91186" y="5237605"/>
                    <a:pt x="91186" y="5187059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819056" y="91186"/>
                  </a:lnTo>
                  <a:cubicBezTo>
                    <a:pt x="2845091" y="91186"/>
                    <a:pt x="2869983" y="102235"/>
                    <a:pt x="2887382" y="121666"/>
                  </a:cubicBezTo>
                  <a:lnTo>
                    <a:pt x="3048037" y="301244"/>
                  </a:lnTo>
                  <a:cubicBezTo>
                    <a:pt x="3065436" y="320675"/>
                    <a:pt x="3090201" y="331724"/>
                    <a:pt x="3116363" y="331724"/>
                  </a:cubicBezTo>
                  <a:lnTo>
                    <a:pt x="3116109" y="331724"/>
                  </a:lnTo>
                  <a:close/>
                </a:path>
              </a:pathLst>
            </a:custGeom>
            <a:solidFill>
              <a:srgbClr val="CED6E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05025" y="1695450"/>
            <a:ext cx="8324850" cy="358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 spc="-384">
                <a:solidFill>
                  <a:srgbClr val="CED6E0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La legi</a:t>
            </a:r>
            <a:r>
              <a:rPr lang="en-US" b="true" sz="6999" spc="-384">
                <a:solidFill>
                  <a:srgbClr val="CED6E0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slación andina excluye el software y los algoritmos del régimen de patentes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2448748" cy="2633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751" cy="2633665"/>
            </a:xfrm>
            <a:custGeom>
              <a:avLst/>
              <a:gdLst/>
              <a:ahLst/>
              <a:cxnLst/>
              <a:rect r="r" b="b" t="t" l="l"/>
              <a:pathLst>
                <a:path h="2633665" w="2448751">
                  <a:moveTo>
                    <a:pt x="2101792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354273"/>
                  </a:lnTo>
                  <a:cubicBezTo>
                    <a:pt x="0" y="2390784"/>
                    <a:pt x="13458" y="2426013"/>
                    <a:pt x="37800" y="2453225"/>
                  </a:cubicBezTo>
                  <a:lnTo>
                    <a:pt x="154967" y="2584201"/>
                  </a:lnTo>
                  <a:cubicBezTo>
                    <a:pt x="183122" y="2615677"/>
                    <a:pt x="223353" y="2633666"/>
                    <a:pt x="265584" y="2633665"/>
                  </a:cubicBezTo>
                  <a:lnTo>
                    <a:pt x="2300335" y="2633665"/>
                  </a:lnTo>
                  <a:cubicBezTo>
                    <a:pt x="2339697" y="2633666"/>
                    <a:pt x="2377447" y="2618029"/>
                    <a:pt x="2405281" y="2590196"/>
                  </a:cubicBezTo>
                  <a:cubicBezTo>
                    <a:pt x="2433114" y="2562363"/>
                    <a:pt x="2448751" y="2524613"/>
                    <a:pt x="2448751" y="2485251"/>
                  </a:cubicBezTo>
                  <a:lnTo>
                    <a:pt x="2448751" y="366141"/>
                  </a:lnTo>
                  <a:cubicBezTo>
                    <a:pt x="2448751" y="329143"/>
                    <a:pt x="2434932" y="293478"/>
                    <a:pt x="2410002" y="266140"/>
                  </a:cubicBezTo>
                  <a:lnTo>
                    <a:pt x="2211459" y="48414"/>
                  </a:lnTo>
                  <a:cubicBezTo>
                    <a:pt x="2183337" y="17574"/>
                    <a:pt x="2143529" y="0"/>
                    <a:pt x="2101792" y="0"/>
                  </a:cubicBezTo>
                  <a:close/>
                </a:path>
              </a:pathLst>
            </a:custGeom>
            <a:solidFill>
              <a:srgbClr val="1F3A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192553" cy="2358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51149" y="0"/>
                  </a:moveTo>
                  <a:lnTo>
                    <a:pt x="2141404" y="0"/>
                  </a:lnTo>
                  <a:cubicBezTo>
                    <a:pt x="2154970" y="0"/>
                    <a:pt x="2167980" y="5389"/>
                    <a:pt x="2177572" y="14981"/>
                  </a:cubicBezTo>
                  <a:cubicBezTo>
                    <a:pt x="2187164" y="24573"/>
                    <a:pt x="2192553" y="37583"/>
                    <a:pt x="2192553" y="51149"/>
                  </a:cubicBezTo>
                  <a:lnTo>
                    <a:pt x="2192553" y="2306975"/>
                  </a:lnTo>
                  <a:cubicBezTo>
                    <a:pt x="2192553" y="2320540"/>
                    <a:pt x="2187164" y="2333550"/>
                    <a:pt x="2177572" y="2343142"/>
                  </a:cubicBezTo>
                  <a:cubicBezTo>
                    <a:pt x="2167980" y="2352735"/>
                    <a:pt x="2154970" y="2358124"/>
                    <a:pt x="2141404" y="2358124"/>
                  </a:cubicBezTo>
                  <a:lnTo>
                    <a:pt x="51149" y="2358124"/>
                  </a:lnTo>
                  <a:cubicBezTo>
                    <a:pt x="37583" y="2358124"/>
                    <a:pt x="24573" y="2352735"/>
                    <a:pt x="14981" y="2343142"/>
                  </a:cubicBezTo>
                  <a:cubicBezTo>
                    <a:pt x="5389" y="2333550"/>
                    <a:pt x="0" y="2320540"/>
                    <a:pt x="0" y="2306975"/>
                  </a:cubicBezTo>
                  <a:lnTo>
                    <a:pt x="0" y="51149"/>
                  </a:lnTo>
                  <a:cubicBezTo>
                    <a:pt x="0" y="37583"/>
                    <a:pt x="5389" y="24573"/>
                    <a:pt x="14981" y="14981"/>
                  </a:cubicBezTo>
                  <a:cubicBezTo>
                    <a:pt x="24573" y="5389"/>
                    <a:pt x="37583" y="0"/>
                    <a:pt x="51149" y="0"/>
                  </a:cubicBezTo>
                  <a:close/>
                </a:path>
              </a:pathLst>
            </a:custGeom>
            <a:solidFill>
              <a:srgbClr val="A7B3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255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81936" y="1190507"/>
            <a:ext cx="7153778" cy="7905985"/>
            <a:chOff x="0" y="0"/>
            <a:chExt cx="1935901" cy="21394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5903" cy="2139471"/>
            </a:xfrm>
            <a:custGeom>
              <a:avLst/>
              <a:gdLst/>
              <a:ahLst/>
              <a:cxnLst/>
              <a:rect r="r" b="b" t="t" l="l"/>
              <a:pathLst>
                <a:path h="2139471" w="1935903">
                  <a:moveTo>
                    <a:pt x="144846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961798"/>
                  </a:lnTo>
                  <a:cubicBezTo>
                    <a:pt x="0" y="2059924"/>
                    <a:pt x="79547" y="2139471"/>
                    <a:pt x="177673" y="2139471"/>
                  </a:cubicBezTo>
                  <a:lnTo>
                    <a:pt x="1758230" y="2139471"/>
                  </a:lnTo>
                  <a:cubicBezTo>
                    <a:pt x="1856356" y="2139471"/>
                    <a:pt x="1935903" y="2059924"/>
                    <a:pt x="1935903" y="1961798"/>
                  </a:cubicBezTo>
                  <a:lnTo>
                    <a:pt x="1935903" y="523958"/>
                  </a:lnTo>
                  <a:cubicBezTo>
                    <a:pt x="1935903" y="480251"/>
                    <a:pt x="1919793" y="438079"/>
                    <a:pt x="1890654" y="405503"/>
                  </a:cubicBezTo>
                  <a:lnTo>
                    <a:pt x="1580877" y="59214"/>
                  </a:lnTo>
                  <a:cubicBezTo>
                    <a:pt x="1547173" y="21536"/>
                    <a:pt x="1499013" y="0"/>
                    <a:pt x="14484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0" r="0" b="-13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05025" y="1562100"/>
            <a:ext cx="6002629" cy="6923826"/>
            <a:chOff x="0" y="0"/>
            <a:chExt cx="8003506" cy="923176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160946"/>
              <a:ext cx="8003506" cy="5070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8"/>
                </a:lnSpc>
              </a:pP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Venezuela ha adoptado históricamente los principios de l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a legislación andina. En consecuencia, el Es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ta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do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venezolan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o m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a</a:t>
              </a: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ntiene una postura contraria a la patentabilidad del software y los algoritmos.</a:t>
              </a:r>
            </a:p>
            <a:p>
              <a:pPr algn="l" marL="0" indent="0" lvl="0">
                <a:lnSpc>
                  <a:spcPts val="3028"/>
                </a:lnSpc>
              </a:pPr>
            </a:p>
            <a:p>
              <a:pPr algn="l" marL="0" indent="0" lvl="0">
                <a:lnSpc>
                  <a:spcPts val="3028"/>
                </a:lnSpc>
              </a:pPr>
              <a:r>
                <a:rPr lang="en-US" sz="2329" spc="-128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En lugar de patentes, el software se protege mediante derechos de autor, lo que permite reconocer la autoría sin privatizar el conocimiento lógico o matemático.”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3350"/>
              <a:ext cx="7752215" cy="364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Apl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ic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ac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ión 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l Estado</a:t>
              </a:r>
              <a:r>
                <a:rPr lang="en-US" b="true" sz="6999" spc="-384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 venezolano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1F3A5F"/>
            </a:solidFill>
            <a:ln cap="rnd" w="12700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8207580" cy="5174738"/>
            <a:chOff x="0" y="0"/>
            <a:chExt cx="10943440" cy="68996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95194"/>
              <a:ext cx="8657880" cy="5004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3"/>
                </a:lnSpc>
              </a:pP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D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esde una perspectiva crítica, 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es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a 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po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tura tiene ventajas y desventajas.</a:t>
              </a:r>
            </a:p>
            <a:p>
              <a:pPr algn="l" marL="0" indent="0" lvl="0">
                <a:lnSpc>
                  <a:spcPts val="3003"/>
                </a:lnSpc>
              </a:pP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Por un lado, favorece el acceso al conocimiento, el desarrollo académico y el software libre.</a:t>
              </a:r>
            </a:p>
            <a:p>
              <a:pPr algn="l" marL="0" indent="0" lvl="0">
                <a:lnSpc>
                  <a:spcPts val="3003"/>
                </a:lnSpc>
              </a:pP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Por otro, puede limitar ciertos incentivos económicos en el sector privado.</a:t>
              </a:r>
            </a:p>
            <a:p>
              <a:pPr algn="l" marL="0" indent="0" lvl="0">
                <a:lnSpc>
                  <a:spcPts val="3003"/>
                </a:lnSpc>
              </a:pPr>
              <a:r>
                <a:rPr lang="en-US" sz="2502" spc="-137">
                  <a:solidFill>
                    <a:srgbClr val="CED6E0"/>
                  </a:solidFill>
                  <a:latin typeface="Work Sans"/>
                  <a:ea typeface="Work Sans"/>
                  <a:cs typeface="Work Sans"/>
                  <a:sym typeface="Work Sans"/>
                </a:rPr>
                <a:t> Sin embargo, el Estado prioriza la soberanía tecnológica y el interés colectivo sobre la monopolización del conocimiento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52400"/>
              <a:ext cx="10943440" cy="1537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42"/>
                </a:lnSpc>
              </a:pPr>
              <a:r>
                <a:rPr lang="en-US" b="true" sz="8342" spc="-458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Imp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lic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</a:t>
              </a:r>
              <a:r>
                <a:rPr lang="en-US" b="true" sz="8342" spc="-458" strike="noStrike" u="none">
                  <a:solidFill>
                    <a:srgbClr val="CED6E0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nes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12605" y="981075"/>
            <a:ext cx="6946695" cy="7471274"/>
            <a:chOff x="0" y="0"/>
            <a:chExt cx="3482081" cy="3745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483" y="50038"/>
              <a:ext cx="3372988" cy="3645589"/>
            </a:xfrm>
            <a:custGeom>
              <a:avLst/>
              <a:gdLst/>
              <a:ahLst/>
              <a:cxnLst/>
              <a:rect r="r" b="b" t="t" l="l"/>
              <a:pathLst>
                <a:path h="3645589" w="3372988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1954" cy="3744903"/>
            </a:xfrm>
            <a:custGeom>
              <a:avLst/>
              <a:gdLst/>
              <a:ahLst/>
              <a:cxnLst/>
              <a:rect r="r" b="b" t="t" l="l"/>
              <a:pathLst>
                <a:path h="3744903" w="3481954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CED6E0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1F3A5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1562100"/>
            <a:ext cx="4619625" cy="6267450"/>
            <a:chOff x="0" y="0"/>
            <a:chExt cx="3957992" cy="53698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4483" y="50038"/>
              <a:ext cx="3848899" cy="5270371"/>
            </a:xfrm>
            <a:custGeom>
              <a:avLst/>
              <a:gdLst/>
              <a:ahLst/>
              <a:cxnLst/>
              <a:rect r="r" b="b" t="t" l="l"/>
              <a:pathLst>
                <a:path h="5270371" w="3848899">
                  <a:moveTo>
                    <a:pt x="3761269" y="5270371"/>
                  </a:moveTo>
                  <a:lnTo>
                    <a:pt x="87757" y="5270371"/>
                  </a:lnTo>
                  <a:cubicBezTo>
                    <a:pt x="39370" y="5270371"/>
                    <a:pt x="0" y="5231128"/>
                    <a:pt x="0" y="5182614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761142" y="0"/>
                  </a:lnTo>
                  <a:cubicBezTo>
                    <a:pt x="3809529" y="0"/>
                    <a:pt x="3848899" y="39243"/>
                    <a:pt x="3848899" y="87757"/>
                  </a:cubicBezTo>
                  <a:lnTo>
                    <a:pt x="3848899" y="5182614"/>
                  </a:lnTo>
                  <a:cubicBezTo>
                    <a:pt x="3848899" y="5231001"/>
                    <a:pt x="3809656" y="5270371"/>
                    <a:pt x="3761142" y="5270371"/>
                  </a:cubicBezTo>
                  <a:close/>
                </a:path>
              </a:pathLst>
            </a:custGeom>
            <a:blipFill>
              <a:blip r:embed="rId2"/>
              <a:stretch>
                <a:fillRect l="-65" t="0" r="-6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57865" cy="5369685"/>
            </a:xfrm>
            <a:custGeom>
              <a:avLst/>
              <a:gdLst/>
              <a:ahLst/>
              <a:cxnLst/>
              <a:rect r="r" b="b" t="t" l="l"/>
              <a:pathLst>
                <a:path h="5369685" w="3957865">
                  <a:moveTo>
                    <a:pt x="0" y="91567"/>
                  </a:moveTo>
                  <a:lnTo>
                    <a:pt x="0" y="5278118"/>
                  </a:lnTo>
                  <a:cubicBezTo>
                    <a:pt x="0" y="5328664"/>
                    <a:pt x="41021" y="5369685"/>
                    <a:pt x="91567" y="5369685"/>
                  </a:cubicBezTo>
                  <a:lnTo>
                    <a:pt x="3866298" y="5369685"/>
                  </a:lnTo>
                  <a:cubicBezTo>
                    <a:pt x="3916844" y="5369685"/>
                    <a:pt x="3957865" y="5328664"/>
                    <a:pt x="3957865" y="5278118"/>
                  </a:cubicBezTo>
                  <a:lnTo>
                    <a:pt x="3957865" y="91567"/>
                  </a:lnTo>
                  <a:cubicBezTo>
                    <a:pt x="3957865" y="41021"/>
                    <a:pt x="3916844" y="0"/>
                    <a:pt x="3866298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116109" y="331724"/>
                  </a:moveTo>
                  <a:lnTo>
                    <a:pt x="3775239" y="331724"/>
                  </a:lnTo>
                  <a:cubicBezTo>
                    <a:pt x="3825785" y="331724"/>
                    <a:pt x="3866806" y="372745"/>
                    <a:pt x="3866806" y="423291"/>
                  </a:cubicBezTo>
                  <a:lnTo>
                    <a:pt x="3866806" y="5187059"/>
                  </a:lnTo>
                  <a:cubicBezTo>
                    <a:pt x="3866806" y="5237605"/>
                    <a:pt x="3825785" y="5278626"/>
                    <a:pt x="3775239" y="5278626"/>
                  </a:cubicBezTo>
                  <a:lnTo>
                    <a:pt x="182753" y="5278626"/>
                  </a:lnTo>
                  <a:cubicBezTo>
                    <a:pt x="132207" y="5278626"/>
                    <a:pt x="91186" y="5237605"/>
                    <a:pt x="91186" y="5187059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819056" y="91186"/>
                  </a:lnTo>
                  <a:cubicBezTo>
                    <a:pt x="2845091" y="91186"/>
                    <a:pt x="2869983" y="102235"/>
                    <a:pt x="2887382" y="121666"/>
                  </a:cubicBezTo>
                  <a:lnTo>
                    <a:pt x="3048037" y="301244"/>
                  </a:lnTo>
                  <a:cubicBezTo>
                    <a:pt x="3065436" y="320675"/>
                    <a:pt x="3090201" y="331724"/>
                    <a:pt x="3116363" y="331724"/>
                  </a:cubicBezTo>
                  <a:lnTo>
                    <a:pt x="3116109" y="331724"/>
                  </a:lnTo>
                  <a:close/>
                </a:path>
              </a:pathLst>
            </a:custGeom>
            <a:solidFill>
              <a:srgbClr val="CED6E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05025" y="1695450"/>
            <a:ext cx="8324850" cy="447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</a:pPr>
            <a:r>
              <a:rPr lang="en-US" b="true" sz="6999" spc="-384">
                <a:solidFill>
                  <a:srgbClr val="CED6E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 patentar </a:t>
            </a:r>
            <a:r>
              <a:rPr lang="en-US" b="true" sz="6999" spc="-384">
                <a:solidFill>
                  <a:srgbClr val="CED6E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el software no significa no protegerlo, sino protegerlo de otra manera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4A6A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3657600"/>
            <a:ext cx="8324850" cy="5962650"/>
            <a:chOff x="0" y="0"/>
            <a:chExt cx="1289737" cy="9237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9737" cy="923771"/>
            </a:xfrm>
            <a:custGeom>
              <a:avLst/>
              <a:gdLst/>
              <a:ahLst/>
              <a:cxnLst/>
              <a:rect r="r" b="b" t="t" l="l"/>
              <a:pathLst>
                <a:path h="923771" w="1289737">
                  <a:moveTo>
                    <a:pt x="37199" y="0"/>
                  </a:moveTo>
                  <a:lnTo>
                    <a:pt x="1252538" y="0"/>
                  </a:lnTo>
                  <a:cubicBezTo>
                    <a:pt x="1262404" y="0"/>
                    <a:pt x="1271866" y="3919"/>
                    <a:pt x="1278842" y="10895"/>
                  </a:cubicBezTo>
                  <a:cubicBezTo>
                    <a:pt x="1285818" y="17872"/>
                    <a:pt x="1289737" y="27333"/>
                    <a:pt x="1289737" y="37199"/>
                  </a:cubicBezTo>
                  <a:lnTo>
                    <a:pt x="1289737" y="886571"/>
                  </a:lnTo>
                  <a:cubicBezTo>
                    <a:pt x="1289737" y="896437"/>
                    <a:pt x="1285818" y="905899"/>
                    <a:pt x="1278842" y="912875"/>
                  </a:cubicBezTo>
                  <a:cubicBezTo>
                    <a:pt x="1271866" y="919851"/>
                    <a:pt x="1262404" y="923771"/>
                    <a:pt x="1252538" y="923771"/>
                  </a:cubicBezTo>
                  <a:lnTo>
                    <a:pt x="37199" y="923771"/>
                  </a:lnTo>
                  <a:cubicBezTo>
                    <a:pt x="27333" y="923771"/>
                    <a:pt x="17872" y="919851"/>
                    <a:pt x="10895" y="912875"/>
                  </a:cubicBezTo>
                  <a:cubicBezTo>
                    <a:pt x="3919" y="905899"/>
                    <a:pt x="0" y="896437"/>
                    <a:pt x="0" y="88657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20434" y="1570221"/>
            <a:ext cx="13424266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CED6E0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Conclusión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3657600"/>
            <a:ext cx="8324850" cy="5962650"/>
            <a:chOff x="0" y="0"/>
            <a:chExt cx="2192553" cy="15704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125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4675" y="4248150"/>
            <a:ext cx="6244585" cy="5884545"/>
            <a:chOff x="0" y="0"/>
            <a:chExt cx="8326114" cy="784606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8326114" cy="6115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En c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nclusión, la legislación andina, a t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avés de la Decisión 486, excluye el softwa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 y l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o</a:t>
              </a: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 algoritmos del régimen de patentes, postura asumida por el Estado venezolano.</a:t>
              </a:r>
            </a:p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A7B3C4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 Este enfoque refleja una visión crítica de la propiedad intelectual, orientada a garantizar el acceso al conocimiento y el desarrollo tecnológico con sentido social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374255"/>
              <a:ext cx="72644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969341" y="4248150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Patentes de software</dc:description>
  <dc:identifier>DAG82Oy6wvg</dc:identifier>
  <dcterms:modified xsi:type="dcterms:W3CDTF">2011-08-01T06:04:30Z</dcterms:modified>
  <cp:revision>1</cp:revision>
  <dc:title>Patentes de software y algoritmos</dc:title>
</cp:coreProperties>
</file>