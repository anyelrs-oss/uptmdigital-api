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572000" cy="45720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Bolivariana de Venezuela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840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del Poder Popular para la Educación Universitaria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0350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Politécnica Territorial del Estado Mérida "Kléber Ramírez"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0" y="914400"/>
            <a:ext cx="6400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05156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la Gestión Académica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2212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Universidad Politécnica Territorial del Estado Mérida "Kléber Ramírez"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371600" y="2633472"/>
            <a:ext cx="6400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78892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Peña – C.I. 24.349.651   |   Rubén Ramírez – C.I. 16.020.185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0632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 Comunitaria: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Yermain Rojas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3375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 III – Ingeniería en Sistemas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5935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Ejido, Estado Mérida  |  Mayo 2026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91032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Técnica – Proyecto Sociotecnológico  |  UPTMKR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8580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583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583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5953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731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UPTM Digital?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51560" y="10058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multiplataforma desarrollada en Flutter, orientada a digitalizar y optimizar los procesos académicos del DARE de la UPTMKR.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15727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15727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73936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1645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General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51560" y="19202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académico institucional (DARE) opera restringido a la red local, limitando el acceso de estudiantes y docentes desde el exterior, agravado por un ciberataque que afectó la infraestructura.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24871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20040" y="24871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88336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2560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Sociotecnológico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51560" y="28346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que integra la participación comunitaria universitaria con el desarrollo tecnológico, respondiendo a necesidades reales diagnosticadas mediante técnicas participativas.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34015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20040" y="34015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2736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3474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051560" y="37490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imperativo institucional y nacional de modernizar los servicios universitarios, garantizando acceso seguro, continuo e inclusivo a la información académica.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Participativo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la Comunidad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640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Politécnica Territorial del Estado Mérida "Kléber Ramírez" – UPTMKR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207008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07008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673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6968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86968" y="159105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Don Tulio Febres Cordero, Ejido, Estado Mérida, Venezuela.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1207008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207008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1673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230368" y="159105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profesionales integrales con visión humanista y tecnológica, comprometidos con el desarrollo sostenible del país y la transformación social.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2743200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74320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5292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6968" y="2834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86968" y="312724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una institución de referencia en educación politécnica territorial, reconocida por la calidad académica, la innovación y la vinculación comunitaria.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63440" y="2743200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274320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85292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2834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de Contacto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230368" y="312724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Yermain Rojas – Jefa del Departamento de Admisión, Registro y Evaluación (DARE)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Detectada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crítica en la gestión académica digital de la UPTMKR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105156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051560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106424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 red local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138074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DARE únicamente opera dentro de la red interna universitaria.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05156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051560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106424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Ciberataque institucional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00600" y="138074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ataque informático comprometió la infraestructura, agravando la inaccesibilidad.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91109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1911096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196596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limitado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224028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y docentes no pueden consultar información académica de forma remota.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191109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1911096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96596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800600" y="224028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como constancias y horarios siguen gestionándose en papel, generando demoras.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277063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" y="2770632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82549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remoto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3099816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total de canal digital externo seguro para acceder a datos académicos.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277063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2770632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282549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modernización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00600" y="3099816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comunidad universitaria demanda soluciones digitales ágiles, seguras y accesibles.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del Problema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 en trámites académicos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80160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Desinformación estudiantil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administrativa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32704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institucional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08976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CENTRAL: Limitado acceso remoto y seguro al sistema académico DARE de la UPTMKR para estudiantes y docentes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DARE restringido a red local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56432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Ciberataque que comprometió la infraestructura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32704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API o canal externo seguro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08976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académicos manuales y presenciales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Objetivos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académica ágil y transparente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80160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universitaria informada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administrativa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32704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institucional fortalecida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08976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CENTRAL: Desarrollar UPTM Digital para garantizar acceso seguro y accesible al sistema académico DARE de la UPTMKR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API REST con autenticación JWT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56432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app Flutter multiplataforma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32704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base de datos PostgreSQL/Supabase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08976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procesos y trámites académicos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FODA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212140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594360"/>
            <a:ext cx="4160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923544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con conocimientos en Flutter y desarrollo móvil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institucional del DARE y del cuerpo directivo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moderna (API REST, JWT, Supabase)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sociotecnológico con participación comunitaria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594360"/>
            <a:ext cx="4160520" cy="212140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594360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923544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Creciente demanda de servicios universitarios digitales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herramientas open-source de calidad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del Plan Nacional de Telecomunicaciones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escalar a otras instituciones universitarias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60520" cy="212140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34640"/>
            <a:ext cx="416052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163824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conectividad para funciones online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presupuestarias del proyecto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del nuevo sistema para usuarios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mantenimiento continuo del backend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160520" cy="212140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34640"/>
            <a:ext cx="416052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163824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Ciberataques e intentos de intrusión al sistema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Inestabilidad del servicio de internet institucional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 por parte de algunos usuarios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políticas institucionales o nacionales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Sociotecnológico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Técnica de la Situación Problemática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7548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966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del sistema actual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271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DARE opera exclusivamente en la red LAN universitaria, sin ningún mecanismo de acceso externo.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728216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2821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1728216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764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informática comprometida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39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ciberataque afectó la infraestructura institucional, evidenciando la necesidad de arquitecturas más robustas.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496312"/>
            <a:ext cx="475488" cy="62179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9631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2496312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532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limitado para la comunidad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807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y docentes se ven imposibilitados de consultar notas, horarios y tramitar constancias fuera del campus.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264408"/>
            <a:ext cx="475488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6440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3264408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3009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una app móvil segura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5753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demanda una aplicación que implemente autenticación JWT, HTTPS y comunicación cifrada con el backend.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032504"/>
            <a:ext cx="475488" cy="6217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3250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960" y="4032504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069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 con operatividad offline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debe funcionar con datos en caché cuando no exista conectividad, garantizando disponibilidad continua.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85800"/>
            <a:ext cx="8503920" cy="320040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85800"/>
            <a:ext cx="85039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3831336"/>
            <a:ext cx="85039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7498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11887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móvil denominada UPTM Digital, orientada a optimizar los procesos académicos y administrativos del Departamento de Admisión, Registro y Evaluación (DARE) de la Universidad Politécnica Territorial del Estado Mérida "Kleber Ramírez", garantizando una salida segura y accesible del sistema institucional para estudiantes y docentes.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594360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649224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la situación actual del sistema de gestión académica del DARE, identificando las limitaciones de acceso, seguridad y funcionalidad que afectan a estudiantes y docentes de la UPTMKR.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4475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1444752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499616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del sistema de la aplicación móvil UPTM Digital, definiendo los módulos funcionales, la estructura de base de datos, los flujos de usuario y los mecanismos de seguridad requeridos.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95144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951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" y="2295144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350008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los módulos funcionales de la aplicación móvil UPTM Digital utilizando Flutter como framework de desarrollo, integrando una API REST en ASP.NET Core con autenticación mediante JWT y base de datos PostgreSQL.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4553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3145536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200400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módulo de seguridad y control de acceso mediante generación y validación de códigos QR dinámicos, garantizando la autenticidad de los usuarios dentro del campus universitario.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995928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9592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" y="3995928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050792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funcionamiento de la aplicación móvil UPTM Digital mediante pruebas funcionales, de rendimiento y de seguridad, verificando el cumplimiento de los requisitos establecidos y la satisfacción de los usuarios.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e Importancia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9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6583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106984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 los procesos universitarios, eliminando brechas tecnológicas entre la institución y su comunidad.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5943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59436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6492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6583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Tecnológica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10128" y="106984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acceso igualitario a servicios académicos para toda la comunidad, independientemente de su ubicación.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5943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594360"/>
            <a:ext cx="274320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492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6583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Procesos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90488" y="106984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tiempos y errores en la gestión de constancias, horarios, notas y control de asistencia.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26974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697480"/>
            <a:ext cx="27432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5234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276148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Institucional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29768" y="317296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autenticación JWT, cifrado BCrypt y HTTPS para proteger la información académica sensible.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26974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697480"/>
            <a:ext cx="2743200" cy="4114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752344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276148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Universitaria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10128" y="317296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la información y mejora la comunicación entre administración, docentes y estudiantes.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26974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2697480"/>
            <a:ext cx="27432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752344"/>
            <a:ext cx="301752" cy="30175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37960" y="276148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Patria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190488" y="317296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alinea con los objetivos nacionales de soberanía tecnológica, transformación digital y desarrollo científico.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 y Alcances del 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geográfico: UPTMKR, Ejido, Estado Mérida.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beneficiaria: estudiantes, docentes y personal del DARE.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desarrollo: Trayecto III – 2025/2026.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objetivo: DARE (Admisión, Registro y Evaluación).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dispositivos móviles Android (con compatibilidad iOS mediante Flutter).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0058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autenticación segura con JWT y BCrypt.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4813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notas, horarios e información académica.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9568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validación de constancias digitales.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4323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mediante códigos QR dinámicos.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90779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comunicación institucional en tiempo real.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con caché local para acceso sin 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594360"/>
            <a:ext cx="0" cy="416052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Factibilidad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202996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disponible (smartphones Android)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y ASP.NET Core: frameworks estables y documentados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y Supabase: soluciones probadas en producción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 competencias en Kotlin, Flutter y API REST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594360"/>
            <a:ext cx="202996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87752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desarrollo open-source sin costo de licencia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y Render ofrecen planes gratuitos para desarrollo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 mínimo en fase inicial del proyecto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concentrada en recurso humano (horas de desarrollo)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594360"/>
            <a:ext cx="2029968" cy="4572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64024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 de la comunidad universitaria por soluciones digitales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directa en la calidad del servicio académico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filas y trámites presenciales innecesarios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tecnológica para toda la comunidad UPTMKR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48856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8856" y="594360"/>
            <a:ext cx="2029968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0296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 que reduce la curva de aprendizaje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manual de usuario incluidos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capacitación para administradores del DARE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planificado para la fase de implantación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Referencial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de Investigación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86968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418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(Reino Unido): Implementación de apps móviles para la gestión académica con arquitectura API REST, sentando precedente en educación a distancia digital.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545336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00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Melbourne (Australia): Sistemas de acceso móvil a datos universitarios con autenticación robusta y modo offline.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85039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95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87752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 (México): Desarrollo de aplicaciones móviles para consulta de notas y horarios, ampliamente adoptadas por la comunidad estudiantil.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0098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venezolanos de gestión universitaria: Experiencias documentadas en digitalización de procesos en instituciones de educación superior.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995928"/>
            <a:ext cx="850392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95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88536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434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DARE UPTMKR: Plataforma web interna de gestión académica que opera en red local, base del presente proyecto de modernización.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946904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0017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automatización previos en la UPTMKR que evidenciaron la necesidad de acceso remoto y seguro.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Teóricas y Tecnológicas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594360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" y="594360"/>
            <a:ext cx="2103120" cy="74980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6751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Sociotecnológico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68580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componente social y el tecnológico como sistemas interdependientes. El desarrollo tecnológico debe responder a las necesidades reales de la comunidad.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3560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35608"/>
            <a:ext cx="54864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" y="1435608"/>
            <a:ext cx="2103120" cy="749808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General de Sistemas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1527048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 la aplicación como un sistema compuesto por subsistemas interrelacionados: autenticación, gestión académica, control de acceso y comunicación.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27685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276856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" y="2276856"/>
            <a:ext cx="2103120" cy="749808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500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Prototipos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368296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iterativa que permite construir versiones funcionales del sistema para obtener retroalimentación continua del usuario final.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11810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18104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3118104"/>
            <a:ext cx="2103120" cy="749808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9125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Informática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320954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CIA (Confidencialidad, Integridad, Disponibilidad) aplicados mediante JWT, BCrypt, HTTPS y validación de entradas.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95935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959352"/>
            <a:ext cx="54864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" y="3959352"/>
            <a:ext cx="2103120" cy="749808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325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4050792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 que orienta la adopción de tecnologías digitales para mejorar la eficiencia institucional y la experiencia del usuario.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94360"/>
            <a:ext cx="202996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 multiplataforma (Android/iOS)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594360"/>
            <a:ext cx="2029968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87168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nativo Android de alta seguridad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594360"/>
            <a:ext cx="2029968" cy="5486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para API REST robusta en C#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56832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56832" y="594360"/>
            <a:ext cx="202996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48272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de alto rendimiento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581912"/>
            <a:ext cx="2029968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Backend-as-a-Service sobre PostgreSQL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95728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395728" y="1581912"/>
            <a:ext cx="2029968" cy="548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87168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seguros para autenticación stateless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1581912"/>
            <a:ext cx="2029968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17720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seguro de contraseñas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56832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56832" y="1581912"/>
            <a:ext cx="2029968" cy="54864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48272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cloud para despliegue del backend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569464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2569464"/>
            <a:ext cx="2029968" cy="54864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679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30266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colaboración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95728" y="2569464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395728" y="2569464"/>
            <a:ext cx="2029968" cy="5486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87168" y="2679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487168" y="30266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UI/UX y prototipado visual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26280" y="2569464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26280" y="2569464"/>
            <a:ext cx="2029968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679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17720" y="30266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comunicación HTTP/JSON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Legales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73152" cy="9601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503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66751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de la RBV (1999)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87552" y="97840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102 y 110 – Derecho a la educación y reconocimiento de la ciencia y tecnología como herramientas del desarrollo nacional.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16459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645920"/>
            <a:ext cx="73152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195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171907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LOCTI – Ley Orgánica de Ciencia, Tecnología e Innovación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87552" y="202996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la investigación aplicada y el desarrollo tecnológico en instituciones de educación superior del país.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69748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697480"/>
            <a:ext cx="73152" cy="9601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535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277063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Infogobierno (2013)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87552" y="308152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al uso de tecnologías libres y estándares abiertos en el sector público. Regula el manejo de datos electrónicos del Estado.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374904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749040"/>
            <a:ext cx="73152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0507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7552" y="382219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Universidades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87552" y="413308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el marco regulatorio de las instituciones de educación universitaria, sus competencias y obligaciones con la sociedad.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del 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38404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Sociotecnológico y Participativo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13258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Participativo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0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1078992"/>
            <a:ext cx="13258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0672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1078992"/>
            <a:ext cx="13258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35424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078992"/>
            <a:ext cx="13258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0176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1078992"/>
            <a:ext cx="13258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24928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078992"/>
            <a:ext cx="13258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173736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73736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21284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012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Comunitario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0120" y="215798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directa, entrevistas con actores clave del DARE e inventario de procesos para identificar la problemática.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173736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63440" y="173736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212848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0352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Comunitaria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303520" y="215798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Involucramiento continuo de estudiantes, docentes y personal administrativo en la validación de requerimientos y prototipo.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20040" y="315468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20040" y="315468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630168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6012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Recolección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960120" y="357530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participante, entrevistas semiestructuradas, análisis documental y diagnóstico participativo.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663440" y="315468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663440" y="315468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630168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30352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Iterativa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303520" y="357530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incluye ciclos de revisión con la comunidad, asegurando que el sistema responda a las necesidades reales.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Desarrollo – Modelo de Prototipos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de UPTM Digital sigue el Modelo de Prototipos, metodología iterativa e incremental que permite construir versiones funcionales del sistema con retroalimentación continua del usuario.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02920" cy="1481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4081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requisitos con el DARE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98448"/>
            <a:ext cx="502920" cy="14813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9844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4081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Rápido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7373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preliminar de módulos y arquitectura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29844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98448"/>
            <a:ext cx="502920" cy="14813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9844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14081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Figma, wireframes y flujos UX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44368"/>
            <a:ext cx="502920" cy="14813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4436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30540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3832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Flutter + API REST + PostgreSQL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94436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944368"/>
            <a:ext cx="502920" cy="148132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94436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40480" y="30540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33832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 prototipo funcional al usuario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94436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944368"/>
            <a:ext cx="502920" cy="14813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94436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66560" y="30540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33832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ajustes según feedback recibido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Tecnológicos y Técnicas e Instrumentos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portátiles para desarrollo (Windows/Linux)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Android para pruebas funcionales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institucional o VPS en la nube (Render)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red universitaria (LAN / Internet)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/ VS Code – IDEs de desarrollo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SDK + Dart – Framework móvil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– Backend API REST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Supabase – Base de datos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– Control de versiones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520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– Prototipado UI/UX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850392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221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 INSTRUMENTOS: Observación participante  •  Entrevistas semiestructuradas  •  Diagnóstico comunitario  •  Análisis documental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V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Software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y Acrónimos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94360"/>
          <a:ext cx="8503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040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Acrónimo / Término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Programming Interface – Interfaz de programación para comunicación entre sistemas.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Web Token – Estándar para transmisión segura de información entre partes mediante tokens firmados.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de Google para desarrollo de apps multiplataforma con una sola base de código.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gestión de bases de datos relacional de código abierto y alta confiabilidad.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Response – Código de respuesta rápida utilizado para acceso y control en el campus.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 – Operaciones fundamentales sobre datos en un sistema.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del servidor que gestiona la lógica de negocio, base de datos y API REST.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de presentación con la que interactúa el usuario final (interfaz de la app).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 de Admisión, Registro y Evaluación – Unidad académico-administrativa de la UPTMKR.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del Negocio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675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658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06984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y comprender los procesos de negocio de la UPTMKR relacionados con la gestión académica, para garantizar que la solución tecnológica responda fielmente a la realidad institucional.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59436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594360"/>
            <a:ext cx="41605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675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2352" y="658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Modelado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06984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actores, procesos, reglas y flujos de información que intervienen en la gestión del DARE, formalizando el comportamiento del sistema antes de codificar.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69748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697480"/>
            <a:ext cx="416052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706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8952" y="27614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317296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ambigüedades en los requisitos, facilita la comunicación entre el equipo de desarrollo y los usuarios finales, y sirve como base para los diagramas UML del sistema.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69748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697480"/>
            <a:ext cx="416052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706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02352" y="27614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Utilizadas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17296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(Casos de Uso, Clases, Actividades, Secuencia, Estado), Modelo Entidad-Relación y especificación de reglas de negocio documentadas.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Actores y Modelo de Objetos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ACTORES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5486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42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notas, horarios, descarga constancias y usa QR.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00784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700784"/>
            <a:ext cx="54864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notas, consulta horarios y lista de estudiantes.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95728"/>
            <a:ext cx="54864" cy="6035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32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 del sistema, usuarios y reportes.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90672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090672"/>
            <a:ext cx="54864" cy="60350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códigos QR para control de acceso al campus.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85616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785616"/>
            <a:ext cx="54864" cy="60350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operatividad del sistema y la base de datos.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OBJETOS (Entidades)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42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12435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autenticación y perfil base del sistema.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517904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554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175564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Usuario con datos académicos e inscripciones.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02996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066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22677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Usuario con asignaciones de asignaturas.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542032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578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27797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nombre, unidades de crédito y trayecto.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05409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90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32918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Docente–Asignatura–Aula–Día–Hora.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566160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02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380390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por lapso asociadas a Estudiante y Asignatura.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407822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43159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digitales generados y firmados digitalmente.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590288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4626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ControlAcceso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00600" y="48280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entradas/salidas validadas por QR.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Procesos y Reglas de Negocio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PROCESOS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74320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académica institucional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acceso y seguridad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trayectos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137160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control de acceso QR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registro de notas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horarios y constancias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005840"/>
            <a:ext cx="274320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137160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usuarios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de la base de datos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y actualización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71216"/>
            <a:ext cx="850392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7121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CLAVE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Token de acceso con expiración configurable; renovable mediante refresh token.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575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BCrypt: Contraseñas almacenadas con hash irreversible; nunca en texto plano.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8770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Cada actor solo accede a las funciones correspondientes a su perfil.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1788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Dinámico: Código válido por sesión/día; no reutilizable para prevenir fraudes.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Validaciones: Todos los campos son validados en frontend y backend (doble capa).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9436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Usuarios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completo de cuentas de usuario con roles diferenciados (estudiante, docente, administrador, seguridad).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Estudiantes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Registro, consulta y actualización de datos académicos e historial de inscripciones de estudiantes.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Docentes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de asignaciones, horarios y carga académica del personal docente.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Horarios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Creación, visualización y modificación de horarios académicos por trayecto, sección y período.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Constancias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y descarga de constancias digitales de estudio, notas y cursante con firma electrónica.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Acceso 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códigos QR dinámicos y validación para control de acceso al campus universitario.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27432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83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6583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+ BCrypt. Comunicación HTTPS cifrada. Control de roles y permisos.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59436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6583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6583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 &lt; 2s por petición. Manejo eficiente de concurrencia.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59436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583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9672" y="6583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9048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que permite agregar nuevos módulos sin refactorización mayor.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715768"/>
            <a:ext cx="274320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7977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" y="27797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2976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disponible 99% del tiempo. Modo offline con caché local para datos críticos.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715768"/>
            <a:ext cx="27432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77977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9312" y="27797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1012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 (API 26). Diseñado con Flutter para futura extensión a iOS.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2715768"/>
            <a:ext cx="2743200" cy="4114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77977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19672" y="27797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19048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 con diseño Material 3. Accesible para usuarios con poca experiencia.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594360"/>
            <a:ext cx="18288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7955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7955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67712" y="685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Actores: Estudiante, Docente, Admin, Seguridad. Casos: Login, Consultar Notas, Generar Constancia, Validar QR, Gestionar Usuarios.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463040"/>
            <a:ext cx="182880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642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1664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67712" y="1554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Entidades: Usuario, Estudiante, Docente, Asignatura, Horario, Nota, Constancia, ControlAcceso. Relaciones: herencia, composición, asociación.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2331720"/>
            <a:ext cx="18288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328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2532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Actividades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267712" y="2423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de: autenticación, generación de constancia, registro de notas y validación QR. Incluye decisiones y flujos alternativos.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320040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20040" y="3200400"/>
            <a:ext cx="182880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0156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34015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Secuencia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267712" y="3291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entre: App Flutter → API REST → BD PostgreSQL. Muestra request/response para cada caso de uso principal.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040" y="4069080"/>
            <a:ext cx="1828800" cy="7772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70248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42702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Estado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267712" y="4160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de: Sesión de usuario (activo/inactivo/expirado), Constancia (borrador/generada/descargada) y QR (generado/validado/expirado).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Base de Datos e Interfaz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– Vista General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implementa una arquitectura cliente-servidor de tres capas con comunicación segura mediante HTTPS y autenticación stateless por JWT.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283464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207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1481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(Android/iOS)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Material 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local (Hive)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QR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2953512"/>
            <a:ext cx="13716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170432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170432"/>
            <a:ext cx="283464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6187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1207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886200" y="1481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(C#)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2900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RESTful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datos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2953512"/>
            <a:ext cx="13716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63640" y="1170432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1170432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6187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1207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858000" y="1481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Supabase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0080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relacionales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académico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segura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Lógica y Física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LÓGICA (Capas)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6052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60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UI – Pantallas, widgets, navegación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1755648"/>
            <a:ext cx="0" cy="164592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20240"/>
            <a:ext cx="4160520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751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– Repositorios – DTOs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2670048"/>
            <a:ext cx="0" cy="164592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34640"/>
            <a:ext cx="416052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89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– Controladores – Servicios – JWT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3584448"/>
            <a:ext cx="0" cy="164592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49040"/>
            <a:ext cx="4160520" cy="74980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03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– ORM Entity Framework – Supabase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FÍSICA (Nodos)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170432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03520" y="1060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Móvil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0352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Android con Flutter app instalada.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19202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84832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0352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(HTTPS)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303520" y="22860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comunicación cifrado TLS/SSL.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663440" y="28346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999232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03520" y="2889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Cloud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303520" y="3200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en Render con ASP.NET Core desplegado.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663440" y="37490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913632"/>
            <a:ext cx="411480" cy="4114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0352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303520" y="4114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 en infraestructura cloud.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 de Datos e Interfaz Gráfica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– Modelo Entidad-Relación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987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principales: Usuarios, Estudiantes, Docentes, Asignaturas, Horarios, Notas, Constancias, ControlAcceso.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53619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1:N (Docente–Asignatura), N:M (Estudiante–Asignatura), 1:1 (Usuario–Perfil).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0848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 garantizada mediante claves foráneas y constraints.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6334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como clave primaria para mayor seguridad y escalabilidad distribuida.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18211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PostgreSQL (Supabase) con respaldo automático y cifrado en reposo.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– UI/UX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2412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73168" y="987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Material 3 – Guía oficial de Flutter para interfaces modernas y consistentes.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773168" y="153619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institucional UPTMKR: azul institucional, blanco y acentos celestes.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73168" y="20848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Navegación: Bottom Navigation Bar con acceso rápido a módulos principales.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73168" y="26334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inicial en Figma con validación participativa de la comunidad.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73168" y="318211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Accesibilidad: contraste AA, etiquetas semánticas y soporte para lectores de pantalla.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de la Aplicación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0" y="594360"/>
            <a:ext cx="219456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594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AUTENTICACIÓN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0" cy="36576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PRINCIPAL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8992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23160"/>
            <a:ext cx="16002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78992" y="3017520"/>
            <a:ext cx="0" cy="32004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0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8528" y="2423160"/>
            <a:ext cx="160020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3017520"/>
            <a:ext cx="0" cy="32004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8528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38528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07408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02736" y="2423160"/>
            <a:ext cx="16002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07408" y="3017520"/>
            <a:ext cx="0" cy="320040"/>
          </a:xfrm>
          <a:prstGeom prst="line">
            <a:avLst/>
          </a:prstGeom>
          <a:noFill/>
          <a:ln w="19050">
            <a:solidFill>
              <a:srgbClr val="6A1B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02736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71616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66944" y="2423160"/>
            <a:ext cx="1600200" cy="5943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66944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QR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3017520"/>
            <a:ext cx="0" cy="320040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66944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6944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35824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31152" y="2423160"/>
            <a:ext cx="160020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35824" y="3017520"/>
            <a:ext cx="0" cy="32004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1152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0040" y="39136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Navegación con Bottom Navigation Bar  |  ← → Transiciones con animaciones suaves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e Implantación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0607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13533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cada RF documentado mediante casos de prueba específicos.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20240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22677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 de acceso no autorizado, inyección SQL, tokens expirados.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34640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89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" y="31821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simultánea, tiempo de respuesta de la API, estrés del servidor.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49040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03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Compatibilidad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40965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Android 8.0+ de diferentes fabricantes y resoluciones.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IMPLANTACIÓN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005840"/>
            <a:ext cx="54864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0607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del Backend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13533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la API REST en Render con dominio seguro HTTPS.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9202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920240"/>
            <a:ext cx="54864" cy="74980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BD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28032" y="22677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y configuración de Supabase/PostgreSQL en producción.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834640"/>
            <a:ext cx="54864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889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App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31821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firmado distribuido vía enlace institucional o Google Play.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749040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803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28032" y="40965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para administradores del DARE, docentes y personal de seguridad.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5720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594360"/>
            <a:ext cx="801928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649224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fundamentado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923544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diagnóstico participativo permitió identificar con precisión las limitaciones del sistema DARE y las necesidades reales de la comunidad universitaria.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35608"/>
            <a:ext cx="45720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43560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" y="1435608"/>
            <a:ext cx="801928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490472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sólida y moderna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1764792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propuesta (Flutter + API REST + PostgreSQL/Supabase + JWT) garantiza seguridad, escalabilidad y rendimiento óptimo para el contexto institucional.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276856"/>
            <a:ext cx="45720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7685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2276856"/>
            <a:ext cx="801928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31720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al enfoque sociotecnológico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606040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integra activamente la participación comunitaria, validando cada etapa del desarrollo con los actores universitarios involucrados.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118104"/>
            <a:ext cx="457200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181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" y="3118104"/>
            <a:ext cx="801928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172968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 institucional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3447288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representa un avance significativo en la modernización de la UPTMKR, eliminando barreras de acceso y automatizando procesos críticos.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959352"/>
            <a:ext cx="457200" cy="7132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5935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" y="3959352"/>
            <a:ext cx="801928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014216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objetivos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4288536"/>
            <a:ext cx="7790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objetivos específicos planteados fueron abordados metodológicamente, desde el diagnóstico hasta la propuesta de implantación y evaluación.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583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658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futura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los módulos de forma que permitan incorporar nuevas funcionalidades como pagos en línea, biblioteca digital y comunicados institucionales.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59436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6583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658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módulos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1012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módulos de evaluación docente, gestión de pasantías, certificación digital y comunicación directa entre tutores y estudiantes.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594360"/>
            <a:ext cx="274320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583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9672" y="658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externas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9048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UPTM Digital con sistemas nacionales como OPSU, MPPEU y plataformas de pago digital para completar el ecosistema académico.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715768"/>
            <a:ext cx="27432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7977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" y="27797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2976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autenticación biométrica (huella/reconocimiento facial), auditoría de accesos y análisis de vulnerabilidades periódico.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715768"/>
            <a:ext cx="27432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77977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9312" y="27797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iOS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31012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la arquitectura Flutter para lanzar la aplicación en iOS, ampliando el alcance a dispositivos Apple sin reescribir el código.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2715768"/>
            <a:ext cx="2743200" cy="4114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77977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19672" y="27797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continuo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19048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un equipo de soporte técnico dentro de la UPTMKR para garantizar actualizaciones, corrección de errores y evolución del sistema.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5486400" cy="5486400"/>
          </a:xfrm>
          <a:prstGeom prst="ellipse">
            <a:avLst/>
          </a:prstGeom>
          <a:solidFill>
            <a:srgbClr val="1565C0">
              <a:alpha val="28000"/>
            </a:srgbClr>
          </a:solidFill>
          <a:ln w="12700">
            <a:solidFill>
              <a:srgbClr val="1565C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560320" cy="2560320"/>
          </a:xfrm>
          <a:prstGeom prst="ellipse">
            <a:avLst/>
          </a:prstGeom>
          <a:solidFill>
            <a:srgbClr val="00BCD4">
              <a:alpha val="22000"/>
            </a:srgbClr>
          </a:solidFill>
          <a:ln w="12700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4747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960120"/>
            <a:ext cx="64008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155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su atención!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– Gestión Académica Móvil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1600" y="2487168"/>
            <a:ext cx="64008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Peña</a:t>
            </a:r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C.I. 24.349.651   |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Rubén Ramírez</a:t>
            </a:r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C.I. 16.020.185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71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 Comunitaria: Prof. Yermain Rojas  |  Trayecto III – Ingeniería en Sistemas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553712"/>
            <a:ext cx="9144000" cy="5760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553712"/>
            <a:ext cx="9144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Politécnica Territorial del Estado Mérida "Kléber Ramírez"  |  UPTMKR  |  Ejido, Estado Mérida  |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UPTM Digital – Gestión Académica Móvil</dc:title>
  <dc:subject>PptxGenJS Presentation</dc:subject>
  <dc:creator>Ángel Peña / Rubén Ramírez</dc:creator>
  <cp:lastModifiedBy>Ángel Peña / Rubén Ramírez</cp:lastModifiedBy>
  <cp:revision>1</cp:revision>
  <dcterms:created xsi:type="dcterms:W3CDTF">2026-05-07T05:51:31Z</dcterms:created>
  <dcterms:modified xsi:type="dcterms:W3CDTF">2026-05-07T05:51:31Z</dcterms:modified>
</cp:coreProperties>
</file>