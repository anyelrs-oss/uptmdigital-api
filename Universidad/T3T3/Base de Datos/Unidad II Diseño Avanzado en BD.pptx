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Inter Bold" charset="1" panose="020B0802030000000004"/>
      <p:regular r:id="rId21"/>
    </p:embeddedFont>
    <p:embeddedFont>
      <p:font typeface="DM Sans" charset="1" panose="00000000000000000000"/>
      <p:regular r:id="rId22"/>
    </p:embeddedFont>
    <p:embeddedFont>
      <p:font typeface="Inter" charset="1" panose="020B0502030000000004"/>
      <p:regular r:id="rId23"/>
    </p:embeddedFont>
    <p:embeddedFont>
      <p:font typeface="Open Sans" charset="1" panose="020B0606030504020204"/>
      <p:regular r:id="rId24"/>
    </p:embeddedFont>
    <p:embeddedFont>
      <p:font typeface="Open Sans Bold" charset="1" panose="020B080603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.jpeg" Type="http://schemas.openxmlformats.org/officeDocument/2006/relationships/image"/><Relationship Id="rId4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666" r="0" b="-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67640"/>
            <a:ext cx="18288000" cy="10454640"/>
          </a:xfrm>
          <a:custGeom>
            <a:avLst/>
            <a:gdLst/>
            <a:ahLst/>
            <a:cxnLst/>
            <a:rect r="r" b="b" t="t" l="l"/>
            <a:pathLst>
              <a:path h="10454640" w="18288000">
                <a:moveTo>
                  <a:pt x="0" y="0"/>
                </a:moveTo>
                <a:lnTo>
                  <a:pt x="18288000" y="0"/>
                </a:lnTo>
                <a:lnTo>
                  <a:pt x="18288000" y="10454640"/>
                </a:lnTo>
                <a:lnTo>
                  <a:pt x="0" y="10454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8342228"/>
            <a:ext cx="18591887" cy="1944772"/>
            <a:chOff x="0" y="0"/>
            <a:chExt cx="4896629" cy="5122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96629" cy="512203"/>
            </a:xfrm>
            <a:custGeom>
              <a:avLst/>
              <a:gdLst/>
              <a:ahLst/>
              <a:cxnLst/>
              <a:rect r="r" b="b" t="t" l="l"/>
              <a:pathLst>
                <a:path h="512203" w="4896629">
                  <a:moveTo>
                    <a:pt x="0" y="0"/>
                  </a:moveTo>
                  <a:lnTo>
                    <a:pt x="4896629" y="0"/>
                  </a:lnTo>
                  <a:lnTo>
                    <a:pt x="4896629" y="512203"/>
                  </a:lnTo>
                  <a:lnTo>
                    <a:pt x="0" y="512203"/>
                  </a:ln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96629" cy="550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87608" y="1579552"/>
            <a:ext cx="7671692" cy="5460369"/>
            <a:chOff x="0" y="0"/>
            <a:chExt cx="1188546" cy="8459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8546" cy="845954"/>
            </a:xfrm>
            <a:custGeom>
              <a:avLst/>
              <a:gdLst/>
              <a:ahLst/>
              <a:cxnLst/>
              <a:rect r="r" b="b" t="t" l="l"/>
              <a:pathLst>
                <a:path h="845954" w="1188546">
                  <a:moveTo>
                    <a:pt x="34311" y="0"/>
                  </a:moveTo>
                  <a:lnTo>
                    <a:pt x="1154235" y="0"/>
                  </a:lnTo>
                  <a:cubicBezTo>
                    <a:pt x="1173184" y="0"/>
                    <a:pt x="1188546" y="15362"/>
                    <a:pt x="1188546" y="34311"/>
                  </a:cubicBezTo>
                  <a:lnTo>
                    <a:pt x="1188546" y="811643"/>
                  </a:lnTo>
                  <a:cubicBezTo>
                    <a:pt x="1188546" y="820743"/>
                    <a:pt x="1184931" y="829470"/>
                    <a:pt x="1178496" y="835905"/>
                  </a:cubicBezTo>
                  <a:cubicBezTo>
                    <a:pt x="1172062" y="842339"/>
                    <a:pt x="1163335" y="845954"/>
                    <a:pt x="1154235" y="845954"/>
                  </a:cubicBezTo>
                  <a:lnTo>
                    <a:pt x="34311" y="845954"/>
                  </a:lnTo>
                  <a:cubicBezTo>
                    <a:pt x="25211" y="845954"/>
                    <a:pt x="16484" y="842339"/>
                    <a:pt x="10050" y="835905"/>
                  </a:cubicBezTo>
                  <a:cubicBezTo>
                    <a:pt x="3615" y="829470"/>
                    <a:pt x="0" y="820743"/>
                    <a:pt x="0" y="811643"/>
                  </a:cubicBezTo>
                  <a:lnTo>
                    <a:pt x="0" y="34311"/>
                  </a:lnTo>
                  <a:cubicBezTo>
                    <a:pt x="0" y="25211"/>
                    <a:pt x="3615" y="16484"/>
                    <a:pt x="10050" y="10050"/>
                  </a:cubicBezTo>
                  <a:cubicBezTo>
                    <a:pt x="16484" y="3615"/>
                    <a:pt x="25211" y="0"/>
                    <a:pt x="3431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423" r="0" b="-2423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116545" y="948860"/>
            <a:ext cx="710898" cy="751626"/>
          </a:xfrm>
          <a:custGeom>
            <a:avLst/>
            <a:gdLst/>
            <a:ahLst/>
            <a:cxnLst/>
            <a:rect r="r" b="b" t="t" l="l"/>
            <a:pathLst>
              <a:path h="751626" w="710898">
                <a:moveTo>
                  <a:pt x="0" y="0"/>
                </a:moveTo>
                <a:lnTo>
                  <a:pt x="710897" y="0"/>
                </a:lnTo>
                <a:lnTo>
                  <a:pt x="710897" y="751626"/>
                </a:lnTo>
                <a:lnTo>
                  <a:pt x="0" y="751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87608" y="7039921"/>
            <a:ext cx="7671692" cy="690452"/>
          </a:xfrm>
          <a:custGeom>
            <a:avLst/>
            <a:gdLst/>
            <a:ahLst/>
            <a:cxnLst/>
            <a:rect r="r" b="b" t="t" l="l"/>
            <a:pathLst>
              <a:path h="690452" w="7671692">
                <a:moveTo>
                  <a:pt x="0" y="0"/>
                </a:moveTo>
                <a:lnTo>
                  <a:pt x="7671692" y="0"/>
                </a:lnTo>
                <a:lnTo>
                  <a:pt x="7671692" y="690452"/>
                </a:lnTo>
                <a:lnTo>
                  <a:pt x="0" y="6904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978068"/>
            <a:ext cx="6814576" cy="205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04"/>
              </a:lnSpc>
            </a:pPr>
            <a:r>
              <a:rPr lang="en-US" b="true" sz="5468">
                <a:solidFill>
                  <a:srgbClr val="255E69"/>
                </a:solidFill>
                <a:latin typeface="Inter Bold"/>
                <a:ea typeface="Inter Bold"/>
                <a:cs typeface="Inter Bold"/>
                <a:sym typeface="Inter Bold"/>
              </a:rPr>
              <a:t>UNIDAD II:</a:t>
            </a:r>
          </a:p>
          <a:p>
            <a:pPr algn="l" marL="0" indent="0" lvl="0">
              <a:lnSpc>
                <a:spcPts val="5304"/>
              </a:lnSpc>
            </a:pPr>
            <a:r>
              <a:rPr lang="en-US" b="true" sz="5468">
                <a:solidFill>
                  <a:srgbClr val="255E69"/>
                </a:solidFill>
                <a:latin typeface="Inter Bold"/>
                <a:ea typeface="Inter Bold"/>
                <a:cs typeface="Inter Bold"/>
                <a:sym typeface="Inter Bold"/>
              </a:rPr>
              <a:t>DISEÑO AVANZADO</a:t>
            </a:r>
          </a:p>
          <a:p>
            <a:pPr algn="l" marL="0" indent="0" lvl="0">
              <a:lnSpc>
                <a:spcPts val="5304"/>
              </a:lnSpc>
            </a:pPr>
            <a:r>
              <a:rPr lang="en-US" b="true" sz="5468">
                <a:solidFill>
                  <a:srgbClr val="255E69"/>
                </a:solidFill>
                <a:latin typeface="Inter Bold"/>
                <a:ea typeface="Inter Bold"/>
                <a:cs typeface="Inter Bold"/>
                <a:sym typeface="Inter Bold"/>
              </a:rPr>
              <a:t>EN BASE DE DATOS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65870" y="1108040"/>
            <a:ext cx="5040072" cy="86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1"/>
              </a:lnSpc>
              <a:spcBef>
                <a:spcPct val="0"/>
              </a:spcBef>
            </a:pPr>
            <a:r>
              <a:rPr lang="en-US" sz="248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Universidad Politécnica Territorial del Estado Mérida "Kleber Ramírez"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298130"/>
            <a:ext cx="6177242" cy="136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14"/>
              </a:lnSpc>
              <a:spcBef>
                <a:spcPct val="0"/>
              </a:spcBef>
            </a:pPr>
            <a:r>
              <a:rPr lang="en-US" sz="2581">
                <a:solidFill>
                  <a:srgbClr val="255E69"/>
                </a:solidFill>
                <a:latin typeface="Inter"/>
                <a:ea typeface="Inter"/>
                <a:cs typeface="Inter"/>
                <a:sym typeface="Inter"/>
              </a:rPr>
              <a:t>Autores: Ángel Peña, Ruben Ramirez | Trayecto III – Ing. Informática | Prof. Ruz Plaza | Mayo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39772" y="-1013654"/>
            <a:ext cx="4448129" cy="11477194"/>
            <a:chOff x="0" y="0"/>
            <a:chExt cx="1171524" cy="302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1524" cy="3022800"/>
            </a:xfrm>
            <a:custGeom>
              <a:avLst/>
              <a:gdLst/>
              <a:ahLst/>
              <a:cxnLst/>
              <a:rect r="r" b="b" t="t" l="l"/>
              <a:pathLst>
                <a:path h="3022800" w="1171524">
                  <a:moveTo>
                    <a:pt x="60917" y="0"/>
                  </a:moveTo>
                  <a:lnTo>
                    <a:pt x="1110607" y="0"/>
                  </a:lnTo>
                  <a:cubicBezTo>
                    <a:pt x="1144250" y="0"/>
                    <a:pt x="1171524" y="27274"/>
                    <a:pt x="1171524" y="60917"/>
                  </a:cubicBezTo>
                  <a:lnTo>
                    <a:pt x="1171524" y="2961883"/>
                  </a:lnTo>
                  <a:cubicBezTo>
                    <a:pt x="1171524" y="2995527"/>
                    <a:pt x="1144250" y="3022800"/>
                    <a:pt x="1110607" y="3022800"/>
                  </a:cubicBezTo>
                  <a:lnTo>
                    <a:pt x="60917" y="3022800"/>
                  </a:lnTo>
                  <a:cubicBezTo>
                    <a:pt x="27274" y="3022800"/>
                    <a:pt x="0" y="2995527"/>
                    <a:pt x="0" y="2961883"/>
                  </a:cubicBezTo>
                  <a:lnTo>
                    <a:pt x="0" y="60917"/>
                  </a:lnTo>
                  <a:cubicBezTo>
                    <a:pt x="0" y="27274"/>
                    <a:pt x="27274" y="0"/>
                    <a:pt x="60917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71524" cy="306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730167"/>
            <a:ext cx="4895803" cy="6826665"/>
            <a:chOff x="0" y="0"/>
            <a:chExt cx="703397" cy="9808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3397" cy="980811"/>
            </a:xfrm>
            <a:custGeom>
              <a:avLst/>
              <a:gdLst/>
              <a:ahLst/>
              <a:cxnLst/>
              <a:rect r="r" b="b" t="t" l="l"/>
              <a:pathLst>
                <a:path h="980811" w="703397">
                  <a:moveTo>
                    <a:pt x="53765" y="0"/>
                  </a:moveTo>
                  <a:lnTo>
                    <a:pt x="649632" y="0"/>
                  </a:lnTo>
                  <a:cubicBezTo>
                    <a:pt x="663891" y="0"/>
                    <a:pt x="677567" y="5665"/>
                    <a:pt x="687650" y="15748"/>
                  </a:cubicBezTo>
                  <a:cubicBezTo>
                    <a:pt x="697733" y="25831"/>
                    <a:pt x="703397" y="39506"/>
                    <a:pt x="703397" y="53765"/>
                  </a:cubicBezTo>
                  <a:lnTo>
                    <a:pt x="703397" y="927046"/>
                  </a:lnTo>
                  <a:cubicBezTo>
                    <a:pt x="703397" y="956740"/>
                    <a:pt x="679326" y="980811"/>
                    <a:pt x="649632" y="980811"/>
                  </a:cubicBezTo>
                  <a:lnTo>
                    <a:pt x="53765" y="980811"/>
                  </a:lnTo>
                  <a:cubicBezTo>
                    <a:pt x="24072" y="980811"/>
                    <a:pt x="0" y="956740"/>
                    <a:pt x="0" y="927046"/>
                  </a:cubicBezTo>
                  <a:lnTo>
                    <a:pt x="0" y="53765"/>
                  </a:lnTo>
                  <a:cubicBezTo>
                    <a:pt x="0" y="24072"/>
                    <a:pt x="24072" y="0"/>
                    <a:pt x="53765" y="0"/>
                  </a:cubicBezTo>
                  <a:close/>
                </a:path>
              </a:pathLst>
            </a:custGeom>
            <a:blipFill>
              <a:blip r:embed="rId3"/>
              <a:stretch>
                <a:fillRect l="-2028" t="0" r="-202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04930" y="5470733"/>
            <a:ext cx="2897183" cy="289718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107650" y="1844467"/>
            <a:ext cx="4685938" cy="747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25"/>
              </a:lnSpc>
              <a:spcBef>
                <a:spcPct val="0"/>
              </a:spcBef>
            </a:pPr>
            <a:r>
              <a:rPr lang="en-US" b="true" sz="5695" strike="noStrike" u="none">
                <a:solidFill>
                  <a:srgbClr val="255E69"/>
                </a:solidFill>
                <a:latin typeface="Inter Bold"/>
                <a:ea typeface="Inter Bold"/>
                <a:cs typeface="Inter Bold"/>
                <a:sym typeface="Inter Bold"/>
              </a:rPr>
              <a:t>Introducción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326820" y="209207"/>
            <a:ext cx="1411058" cy="70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2"/>
              </a:lnSpc>
              <a:spcBef>
                <a:spcPct val="0"/>
              </a:spcBef>
            </a:pPr>
            <a:r>
              <a:rPr lang="en-US" sz="4108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07650" y="2787115"/>
            <a:ext cx="9794239" cy="208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46"/>
              </a:lnSpc>
              <a:spcBef>
                <a:spcPct val="0"/>
              </a:spcBef>
            </a:pPr>
            <a:r>
              <a:rPr lang="en-US" sz="23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diseño avanzado de bases de datos es fundamental en los sistemas modernos. Desde los modelos jerárquicos hasta las arquitecturas NoSQL actuales, la evolución tecnológica ha transformado cómo almacenamos y gestionamos información en entornos empresariales.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515379" y="5470733"/>
            <a:ext cx="2897183" cy="289718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23444" y="5470733"/>
            <a:ext cx="2897183" cy="289718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056063" y="5907373"/>
            <a:ext cx="992738" cy="61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11"/>
              </a:lnSpc>
              <a:spcBef>
                <a:spcPct val="0"/>
              </a:spcBef>
            </a:pPr>
            <a:r>
              <a:rPr lang="en-US" b="true" sz="3650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65320" y="5907373"/>
            <a:ext cx="992738" cy="61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11"/>
              </a:lnSpc>
              <a:spcBef>
                <a:spcPct val="0"/>
              </a:spcBef>
            </a:pPr>
            <a:r>
              <a:rPr lang="en-US" b="true" sz="3650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75666" y="5907373"/>
            <a:ext cx="992738" cy="61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11"/>
              </a:lnSpc>
              <a:spcBef>
                <a:spcPct val="0"/>
              </a:spcBef>
            </a:pPr>
            <a:r>
              <a:rPr lang="en-US" b="true" sz="3650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63209" y="6710486"/>
            <a:ext cx="2978446" cy="78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8"/>
              </a:lnSpc>
              <a:spcBef>
                <a:spcPct val="0"/>
              </a:spcBef>
            </a:pPr>
            <a:r>
              <a:rPr lang="en-US" sz="2255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Importancia en sistemas modernos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93326" y="6710486"/>
            <a:ext cx="2978446" cy="78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8"/>
              </a:lnSpc>
              <a:spcBef>
                <a:spcPct val="0"/>
              </a:spcBef>
            </a:pPr>
            <a:r>
              <a:rPr lang="en-US" sz="2255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Evolución histórica de modelos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23444" y="6710486"/>
            <a:ext cx="2978446" cy="78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8"/>
              </a:lnSpc>
              <a:spcBef>
                <a:spcPct val="0"/>
              </a:spcBef>
            </a:pPr>
            <a:r>
              <a:rPr lang="en-US" sz="2255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Relevancia en Ingeniería Informática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39772" y="0"/>
            <a:ext cx="7449317" cy="10287000"/>
            <a:chOff x="0" y="0"/>
            <a:chExt cx="196196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196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1960">
                  <a:moveTo>
                    <a:pt x="0" y="0"/>
                  </a:moveTo>
                  <a:lnTo>
                    <a:pt x="1961960" y="0"/>
                  </a:lnTo>
                  <a:lnTo>
                    <a:pt x="196196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6196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436371" y="2418111"/>
            <a:ext cx="823336" cy="82333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0" y="4995662"/>
            <a:ext cx="6759044" cy="65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59"/>
              </a:lnSpc>
            </a:pPr>
            <a:r>
              <a:rPr lang="en-US" b="true" sz="5009">
                <a:solidFill>
                  <a:srgbClr val="FDFDFD"/>
                </a:solidFill>
                <a:latin typeface="Inter Bold"/>
                <a:ea typeface="Inter Bold"/>
                <a:cs typeface="Inter Bold"/>
                <a:sym typeface="Inter Bold"/>
              </a:rPr>
              <a:t>Calidad de Esquemas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436371" y="3574971"/>
            <a:ext cx="823336" cy="8233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36371" y="4731832"/>
            <a:ext cx="823336" cy="82333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436371" y="5888693"/>
            <a:ext cx="823336" cy="82333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436371" y="7045539"/>
            <a:ext cx="823336" cy="82333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108995" y="2418096"/>
            <a:ext cx="823336" cy="82333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108995" y="3574957"/>
            <a:ext cx="823336" cy="82333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108995" y="4731818"/>
            <a:ext cx="823336" cy="823336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08995" y="5888679"/>
            <a:ext cx="823336" cy="823336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108995" y="7045539"/>
            <a:ext cx="823336" cy="823336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7230450" y="2491976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230450" y="3648837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230450" y="4805698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230450" y="5962558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30450" y="7120592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03074" y="2491962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903074" y="3648823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903074" y="4806871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903074" y="5962544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903074" y="7120592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465628" y="3751161"/>
            <a:ext cx="3437446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Integridad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465628" y="4908021"/>
            <a:ext cx="3437446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Consistencia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465628" y="6055343"/>
            <a:ext cx="3437446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Normalización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465628" y="7176516"/>
            <a:ext cx="3437446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Redundancias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465628" y="2594329"/>
            <a:ext cx="3437446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Definición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138252" y="2547886"/>
            <a:ext cx="3437446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Flexibilidad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138252" y="3658348"/>
            <a:ext cx="3437446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Adaptabilidad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138252" y="7169418"/>
            <a:ext cx="3437446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Seguridad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138252" y="6018468"/>
            <a:ext cx="3905757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Optimización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138252" y="4833737"/>
            <a:ext cx="3437446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Rendimiento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584190" y="1890555"/>
            <a:ext cx="5675110" cy="6502994"/>
            <a:chOff x="0" y="0"/>
            <a:chExt cx="879223" cy="10074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9223" cy="1007484"/>
            </a:xfrm>
            <a:custGeom>
              <a:avLst/>
              <a:gdLst/>
              <a:ahLst/>
              <a:cxnLst/>
              <a:rect r="r" b="b" t="t" l="l"/>
              <a:pathLst>
                <a:path h="1007484" w="879223">
                  <a:moveTo>
                    <a:pt x="43654" y="0"/>
                  </a:moveTo>
                  <a:lnTo>
                    <a:pt x="835569" y="0"/>
                  </a:lnTo>
                  <a:cubicBezTo>
                    <a:pt x="859679" y="0"/>
                    <a:pt x="879223" y="19545"/>
                    <a:pt x="879223" y="43654"/>
                  </a:cubicBezTo>
                  <a:lnTo>
                    <a:pt x="879223" y="963830"/>
                  </a:lnTo>
                  <a:cubicBezTo>
                    <a:pt x="879223" y="975408"/>
                    <a:pt x="874624" y="986511"/>
                    <a:pt x="866437" y="994698"/>
                  </a:cubicBezTo>
                  <a:cubicBezTo>
                    <a:pt x="858250" y="1002885"/>
                    <a:pt x="847147" y="1007484"/>
                    <a:pt x="835569" y="1007484"/>
                  </a:cubicBezTo>
                  <a:lnTo>
                    <a:pt x="43654" y="1007484"/>
                  </a:lnTo>
                  <a:cubicBezTo>
                    <a:pt x="32076" y="1007484"/>
                    <a:pt x="20973" y="1002885"/>
                    <a:pt x="12786" y="994698"/>
                  </a:cubicBezTo>
                  <a:cubicBezTo>
                    <a:pt x="4599" y="986511"/>
                    <a:pt x="0" y="975408"/>
                    <a:pt x="0" y="963830"/>
                  </a:cubicBezTo>
                  <a:lnTo>
                    <a:pt x="0" y="43654"/>
                  </a:lnTo>
                  <a:cubicBezTo>
                    <a:pt x="0" y="32076"/>
                    <a:pt x="4599" y="20973"/>
                    <a:pt x="12786" y="12786"/>
                  </a:cubicBezTo>
                  <a:cubicBezTo>
                    <a:pt x="20973" y="4599"/>
                    <a:pt x="32076" y="0"/>
                    <a:pt x="4365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953" r="0" b="-3953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4482460"/>
            <a:ext cx="12392278" cy="4775840"/>
            <a:chOff x="0" y="0"/>
            <a:chExt cx="3263810" cy="12578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63810" cy="1257834"/>
            </a:xfrm>
            <a:custGeom>
              <a:avLst/>
              <a:gdLst/>
              <a:ahLst/>
              <a:cxnLst/>
              <a:rect r="r" b="b" t="t" l="l"/>
              <a:pathLst>
                <a:path h="1257834" w="3263810">
                  <a:moveTo>
                    <a:pt x="0" y="0"/>
                  </a:moveTo>
                  <a:lnTo>
                    <a:pt x="3263810" y="0"/>
                  </a:lnTo>
                  <a:lnTo>
                    <a:pt x="3263810" y="1257834"/>
                  </a:lnTo>
                  <a:lnTo>
                    <a:pt x="0" y="1257834"/>
                  </a:ln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63810" cy="1295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143000"/>
            <a:ext cx="8264385" cy="747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25"/>
              </a:lnSpc>
              <a:spcBef>
                <a:spcPct val="0"/>
              </a:spcBef>
            </a:pPr>
            <a:r>
              <a:rPr lang="en-US" b="true" sz="5695">
                <a:solidFill>
                  <a:srgbClr val="255E69"/>
                </a:solidFill>
                <a:latin typeface="Inter Bold"/>
                <a:ea typeface="Inter Bold"/>
                <a:cs typeface="Inter Bold"/>
                <a:sym typeface="Inter Bold"/>
              </a:rPr>
              <a:t>Normalización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26820" y="209207"/>
            <a:ext cx="1411058" cy="70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2"/>
              </a:lnSpc>
              <a:spcBef>
                <a:spcPct val="0"/>
              </a:spcBef>
            </a:pPr>
            <a:r>
              <a:rPr lang="en-US" sz="4108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044690"/>
            <a:ext cx="9093173" cy="158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06"/>
              </a:lnSpc>
              <a:spcBef>
                <a:spcPct val="0"/>
              </a:spcBef>
            </a:pPr>
            <a:r>
              <a:rPr lang="en-US" sz="22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Proceso sistemático para organizar datos en tablas, eliminando redundancias y dependencias problemáticas. Las formas normales garantizan integridad, eficiencia y consistencia en el diseño de bases de datos relacionales.</a:t>
            </a:r>
          </a:p>
        </p:txBody>
      </p:sp>
      <p:sp>
        <p:nvSpPr>
          <p:cNvPr name="AutoShape 11" id="11"/>
          <p:cNvSpPr/>
          <p:nvPr/>
        </p:nvSpPr>
        <p:spPr>
          <a:xfrm flipH="true">
            <a:off x="7243889" y="4864833"/>
            <a:ext cx="0" cy="407194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226904" y="4798158"/>
            <a:ext cx="992738" cy="61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11"/>
              </a:lnSpc>
              <a:spcBef>
                <a:spcPct val="0"/>
              </a:spcBef>
            </a:pPr>
            <a:r>
              <a:rPr lang="en-US" b="true" sz="3650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96302" y="4816728"/>
            <a:ext cx="992738" cy="61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11"/>
              </a:lnSpc>
              <a:spcBef>
                <a:spcPct val="0"/>
              </a:spcBef>
            </a:pPr>
            <a:r>
              <a:rPr lang="en-US" b="true" sz="3650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78396" y="5568223"/>
            <a:ext cx="5279718" cy="48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2"/>
              </a:lnSpc>
              <a:spcBef>
                <a:spcPct val="0"/>
              </a:spcBef>
            </a:pPr>
            <a:r>
              <a:rPr lang="en-US" b="true" sz="2851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Primera Forma Normal (1FN)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96327" y="5602443"/>
            <a:ext cx="5279718" cy="48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92"/>
              </a:lnSpc>
              <a:spcBef>
                <a:spcPct val="0"/>
              </a:spcBef>
            </a:pPr>
            <a:r>
              <a:rPr lang="en-US" b="true" sz="2851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Segunda y Tercera FN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6496" y="6382116"/>
            <a:ext cx="5279718" cy="198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6"/>
              </a:lnSpc>
              <a:spcBef>
                <a:spcPct val="0"/>
              </a:spcBef>
            </a:pPr>
            <a:r>
              <a:rPr lang="en-US" sz="2290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• Eliminación de grupos repetitivos</a:t>
            </a:r>
          </a:p>
          <a:p>
            <a:pPr algn="l" marL="0" indent="0" lvl="0">
              <a:lnSpc>
                <a:spcPts val="3206"/>
              </a:lnSpc>
              <a:spcBef>
                <a:spcPct val="0"/>
              </a:spcBef>
            </a:pPr>
            <a:r>
              <a:rPr lang="en-US" sz="2290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• Valores atómicos en cada celda</a:t>
            </a:r>
          </a:p>
          <a:p>
            <a:pPr algn="l" marL="0" indent="0" lvl="0">
              <a:lnSpc>
                <a:spcPts val="3206"/>
              </a:lnSpc>
              <a:spcBef>
                <a:spcPct val="0"/>
              </a:spcBef>
            </a:pPr>
            <a:r>
              <a:rPr lang="en-US" sz="2290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• Cada campo contiene un solo valor</a:t>
            </a:r>
          </a:p>
          <a:p>
            <a:pPr algn="l" marL="0" indent="0" lvl="0">
              <a:lnSpc>
                <a:spcPts val="3206"/>
              </a:lnSpc>
              <a:spcBef>
                <a:spcPct val="0"/>
              </a:spcBef>
            </a:pPr>
            <a:r>
              <a:rPr lang="en-US" sz="2290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• Identificador único por registro</a:t>
            </a:r>
          </a:p>
          <a:p>
            <a:pPr algn="l" marL="0" indent="0" lvl="0">
              <a:lnSpc>
                <a:spcPts val="3206"/>
              </a:lnSpc>
              <a:spcBef>
                <a:spcPct val="0"/>
              </a:spcBef>
            </a:pPr>
            <a:r>
              <a:rPr lang="en-US" sz="2290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• Base para normalización avanzada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96327" y="6382116"/>
            <a:ext cx="5279718" cy="198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06"/>
              </a:lnSpc>
              <a:spcBef>
                <a:spcPct val="0"/>
              </a:spcBef>
            </a:pPr>
            <a:r>
              <a:rPr lang="en-US" sz="2290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2FN: Dependencia funcional completa de la clave primaria, sin dependencias parciales.</a:t>
            </a:r>
          </a:p>
          <a:p>
            <a:pPr algn="just" marL="0" indent="0" lvl="0">
              <a:lnSpc>
                <a:spcPts val="3206"/>
              </a:lnSpc>
              <a:spcBef>
                <a:spcPct val="0"/>
              </a:spcBef>
            </a:pPr>
            <a:r>
              <a:rPr lang="en-US" sz="2290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3FN: Eliminación de dependencias transitivas entre atributos no clave.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39772" y="0"/>
            <a:ext cx="7449317" cy="10287000"/>
            <a:chOff x="0" y="0"/>
            <a:chExt cx="196196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196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1960">
                  <a:moveTo>
                    <a:pt x="0" y="0"/>
                  </a:moveTo>
                  <a:lnTo>
                    <a:pt x="1961960" y="0"/>
                  </a:lnTo>
                  <a:lnTo>
                    <a:pt x="196196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6196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436371" y="2418111"/>
            <a:ext cx="823336" cy="82333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07074" y="4957562"/>
            <a:ext cx="6740965" cy="464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2"/>
              </a:lnSpc>
            </a:pPr>
            <a:r>
              <a:rPr lang="en-US" b="true" sz="3517">
                <a:solidFill>
                  <a:srgbClr val="FDFDFD"/>
                </a:solidFill>
                <a:latin typeface="Inter Bold"/>
                <a:ea typeface="Inter Bold"/>
                <a:cs typeface="Inter Bold"/>
                <a:sym typeface="Inter Bold"/>
              </a:rPr>
              <a:t>Paradigmas de Bases de Datos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436371" y="3574971"/>
            <a:ext cx="823336" cy="8233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36371" y="4731832"/>
            <a:ext cx="823336" cy="82333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436371" y="5888693"/>
            <a:ext cx="823336" cy="82333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436371" y="7045539"/>
            <a:ext cx="823336" cy="82333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108995" y="2418096"/>
            <a:ext cx="823336" cy="82333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108995" y="3574957"/>
            <a:ext cx="823336" cy="82333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108995" y="4731818"/>
            <a:ext cx="823336" cy="823336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08995" y="5888679"/>
            <a:ext cx="823336" cy="823336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108995" y="7045539"/>
            <a:ext cx="823336" cy="823336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7230450" y="2511026"/>
            <a:ext cx="1235178" cy="38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230450" y="3667887"/>
            <a:ext cx="1235178" cy="38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230450" y="4824748"/>
            <a:ext cx="1235178" cy="38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230450" y="5981608"/>
            <a:ext cx="1235178" cy="38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30450" y="7139642"/>
            <a:ext cx="1235178" cy="38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03074" y="2511012"/>
            <a:ext cx="1235178" cy="38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903074" y="3667873"/>
            <a:ext cx="1235178" cy="38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903074" y="4825921"/>
            <a:ext cx="1235178" cy="38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903074" y="5981594"/>
            <a:ext cx="1235178" cy="38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903074" y="7139642"/>
            <a:ext cx="1235178" cy="38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9"/>
              </a:lnSpc>
              <a:spcBef>
                <a:spcPct val="0"/>
              </a:spcBef>
            </a:pPr>
            <a:r>
              <a:rPr lang="en-US" sz="2221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465628" y="3779736"/>
            <a:ext cx="3437446" cy="30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0"/>
              </a:lnSpc>
              <a:spcBef>
                <a:spcPct val="0"/>
              </a:spcBef>
            </a:pPr>
            <a:r>
              <a:rPr lang="en-US" sz="1843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Estructura árbol padre-hijo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465628" y="4936596"/>
            <a:ext cx="3437446" cy="30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0"/>
              </a:lnSpc>
              <a:spcBef>
                <a:spcPct val="0"/>
              </a:spcBef>
            </a:pPr>
            <a:r>
              <a:rPr lang="en-US" sz="1843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En Red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465628" y="6083918"/>
            <a:ext cx="3437446" cy="30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0"/>
              </a:lnSpc>
              <a:spcBef>
                <a:spcPct val="0"/>
              </a:spcBef>
            </a:pPr>
            <a:r>
              <a:rPr lang="en-US" sz="1843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Múltiples relaciones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465628" y="7205091"/>
            <a:ext cx="3437446" cy="30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0"/>
              </a:lnSpc>
              <a:spcBef>
                <a:spcPct val="0"/>
              </a:spcBef>
            </a:pPr>
            <a:r>
              <a:rPr lang="en-US" sz="1843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Relacional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465628" y="2622904"/>
            <a:ext cx="3437446" cy="30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0"/>
              </a:lnSpc>
              <a:spcBef>
                <a:spcPct val="0"/>
              </a:spcBef>
            </a:pPr>
            <a:r>
              <a:rPr lang="en-US" sz="1843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Jerárquico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138252" y="2576461"/>
            <a:ext cx="3437446" cy="30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0"/>
              </a:lnSpc>
              <a:spcBef>
                <a:spcPct val="0"/>
              </a:spcBef>
            </a:pPr>
            <a:r>
              <a:rPr lang="en-US" sz="1843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Tablas y SQL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138252" y="3686923"/>
            <a:ext cx="3437446" cy="30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0"/>
              </a:lnSpc>
              <a:spcBef>
                <a:spcPct val="0"/>
              </a:spcBef>
            </a:pPr>
            <a:r>
              <a:rPr lang="en-US" sz="1843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Orientado a Objetos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138252" y="7197993"/>
            <a:ext cx="3437446" cy="30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0"/>
              </a:lnSpc>
              <a:spcBef>
                <a:spcPct val="0"/>
              </a:spcBef>
            </a:pPr>
            <a:r>
              <a:rPr lang="en-US" sz="1843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Escalabilidad horizontal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138252" y="6047043"/>
            <a:ext cx="3905757" cy="30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0"/>
              </a:lnSpc>
              <a:spcBef>
                <a:spcPct val="0"/>
              </a:spcBef>
            </a:pPr>
            <a:r>
              <a:rPr lang="en-US" sz="1843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NoSQL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138252" y="4862312"/>
            <a:ext cx="3437446" cy="30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0"/>
              </a:lnSpc>
              <a:spcBef>
                <a:spcPct val="0"/>
              </a:spcBef>
            </a:pPr>
            <a:r>
              <a:rPr lang="en-US" sz="1843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Clases y herencia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39772" y="-1013654"/>
            <a:ext cx="4448129" cy="11477194"/>
            <a:chOff x="0" y="0"/>
            <a:chExt cx="1171524" cy="302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1524" cy="3022800"/>
            </a:xfrm>
            <a:custGeom>
              <a:avLst/>
              <a:gdLst/>
              <a:ahLst/>
              <a:cxnLst/>
              <a:rect r="r" b="b" t="t" l="l"/>
              <a:pathLst>
                <a:path h="3022800" w="1171524">
                  <a:moveTo>
                    <a:pt x="60917" y="0"/>
                  </a:moveTo>
                  <a:lnTo>
                    <a:pt x="1110607" y="0"/>
                  </a:lnTo>
                  <a:cubicBezTo>
                    <a:pt x="1144250" y="0"/>
                    <a:pt x="1171524" y="27274"/>
                    <a:pt x="1171524" y="60917"/>
                  </a:cubicBezTo>
                  <a:lnTo>
                    <a:pt x="1171524" y="2961883"/>
                  </a:lnTo>
                  <a:cubicBezTo>
                    <a:pt x="1171524" y="2995527"/>
                    <a:pt x="1144250" y="3022800"/>
                    <a:pt x="1110607" y="3022800"/>
                  </a:cubicBezTo>
                  <a:lnTo>
                    <a:pt x="60917" y="3022800"/>
                  </a:lnTo>
                  <a:cubicBezTo>
                    <a:pt x="27274" y="3022800"/>
                    <a:pt x="0" y="2995527"/>
                    <a:pt x="0" y="2961883"/>
                  </a:cubicBezTo>
                  <a:lnTo>
                    <a:pt x="0" y="60917"/>
                  </a:lnTo>
                  <a:cubicBezTo>
                    <a:pt x="0" y="27274"/>
                    <a:pt x="27274" y="0"/>
                    <a:pt x="60917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71524" cy="306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730167"/>
            <a:ext cx="4895803" cy="6826665"/>
            <a:chOff x="0" y="0"/>
            <a:chExt cx="703397" cy="9808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3397" cy="980811"/>
            </a:xfrm>
            <a:custGeom>
              <a:avLst/>
              <a:gdLst/>
              <a:ahLst/>
              <a:cxnLst/>
              <a:rect r="r" b="b" t="t" l="l"/>
              <a:pathLst>
                <a:path h="980811" w="703397">
                  <a:moveTo>
                    <a:pt x="53765" y="0"/>
                  </a:moveTo>
                  <a:lnTo>
                    <a:pt x="649632" y="0"/>
                  </a:lnTo>
                  <a:cubicBezTo>
                    <a:pt x="663891" y="0"/>
                    <a:pt x="677567" y="5665"/>
                    <a:pt x="687650" y="15748"/>
                  </a:cubicBezTo>
                  <a:cubicBezTo>
                    <a:pt x="697733" y="25831"/>
                    <a:pt x="703397" y="39506"/>
                    <a:pt x="703397" y="53765"/>
                  </a:cubicBezTo>
                  <a:lnTo>
                    <a:pt x="703397" y="927046"/>
                  </a:lnTo>
                  <a:cubicBezTo>
                    <a:pt x="703397" y="956740"/>
                    <a:pt x="679326" y="980811"/>
                    <a:pt x="649632" y="980811"/>
                  </a:cubicBezTo>
                  <a:lnTo>
                    <a:pt x="53765" y="980811"/>
                  </a:lnTo>
                  <a:cubicBezTo>
                    <a:pt x="24072" y="980811"/>
                    <a:pt x="0" y="956740"/>
                    <a:pt x="0" y="927046"/>
                  </a:cubicBezTo>
                  <a:lnTo>
                    <a:pt x="0" y="53765"/>
                  </a:lnTo>
                  <a:cubicBezTo>
                    <a:pt x="0" y="24072"/>
                    <a:pt x="24072" y="0"/>
                    <a:pt x="53765" y="0"/>
                  </a:cubicBezTo>
                  <a:close/>
                </a:path>
              </a:pathLst>
            </a:custGeom>
            <a:blipFill>
              <a:blip r:embed="rId3"/>
              <a:stretch>
                <a:fillRect l="-2028" t="0" r="-202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04930" y="5470733"/>
            <a:ext cx="2897183" cy="289718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107650" y="1806367"/>
            <a:ext cx="4685938" cy="443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4"/>
              </a:lnSpc>
              <a:spcBef>
                <a:spcPct val="0"/>
              </a:spcBef>
            </a:pPr>
            <a:r>
              <a:rPr lang="en-US" b="true" sz="3458" strike="noStrike" u="none">
                <a:solidFill>
                  <a:srgbClr val="255E69"/>
                </a:solidFill>
                <a:latin typeface="Inter Bold"/>
                <a:ea typeface="Inter Bold"/>
                <a:cs typeface="Inter Bold"/>
                <a:sym typeface="Inter Bold"/>
              </a:rPr>
              <a:t>Paradigma Relacional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326820" y="247307"/>
            <a:ext cx="1411058" cy="42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2"/>
              </a:lnSpc>
              <a:spcBef>
                <a:spcPct val="0"/>
              </a:spcBef>
            </a:pPr>
            <a:r>
              <a:rPr lang="en-US" sz="249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06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07650" y="2806165"/>
            <a:ext cx="9794239" cy="763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31"/>
              </a:lnSpc>
              <a:spcBef>
                <a:spcPct val="0"/>
              </a:spcBef>
            </a:pPr>
            <a:r>
              <a:rPr lang="en-US" sz="145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modelo relacional organiza datos en tablas (relaciones) compuestas por filas (tuplas/registros) y columnas (atributos). SQL es el lenguaje estándar para consultas y manipulación. Las claves primarias identifican registros únicos, mientras las claves foráneas establecen relaciones entre tablas garantizando integridad referencial.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515379" y="5470733"/>
            <a:ext cx="2897183" cy="289718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23444" y="5470733"/>
            <a:ext cx="2897183" cy="289718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056063" y="5926423"/>
            <a:ext cx="992738" cy="384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3"/>
              </a:lnSpc>
              <a:spcBef>
                <a:spcPct val="0"/>
              </a:spcBef>
            </a:pPr>
            <a:r>
              <a:rPr lang="en-US" b="true" sz="2216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65320" y="5926423"/>
            <a:ext cx="992738" cy="384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3"/>
              </a:lnSpc>
              <a:spcBef>
                <a:spcPct val="0"/>
              </a:spcBef>
            </a:pPr>
            <a:r>
              <a:rPr lang="en-US" b="true" sz="2216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75666" y="5926423"/>
            <a:ext cx="992738" cy="384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3"/>
              </a:lnSpc>
              <a:spcBef>
                <a:spcPct val="0"/>
              </a:spcBef>
            </a:pPr>
            <a:r>
              <a:rPr lang="en-US" b="true" sz="2216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63209" y="6720011"/>
            <a:ext cx="2978446" cy="47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17"/>
              </a:lnSpc>
              <a:spcBef>
                <a:spcPct val="0"/>
              </a:spcBef>
            </a:pPr>
            <a:r>
              <a:rPr lang="en-US" sz="1369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Tablas, filas y columnas estructuradas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93326" y="6720011"/>
            <a:ext cx="2978446" cy="23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17"/>
              </a:lnSpc>
              <a:spcBef>
                <a:spcPct val="0"/>
              </a:spcBef>
            </a:pPr>
            <a:r>
              <a:rPr lang="en-US" sz="1369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SQL: lenguaje estándar de consultas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23444" y="6720011"/>
            <a:ext cx="2978446" cy="23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17"/>
              </a:lnSpc>
              <a:spcBef>
                <a:spcPct val="0"/>
              </a:spcBef>
            </a:pPr>
            <a:r>
              <a:rPr lang="en-US" sz="1369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Claves primarias y foráneas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39772" y="0"/>
            <a:ext cx="7449317" cy="10287000"/>
            <a:chOff x="0" y="0"/>
            <a:chExt cx="196196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196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1960">
                  <a:moveTo>
                    <a:pt x="0" y="0"/>
                  </a:moveTo>
                  <a:lnTo>
                    <a:pt x="1961960" y="0"/>
                  </a:lnTo>
                  <a:lnTo>
                    <a:pt x="196196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6196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436371" y="2418111"/>
            <a:ext cx="823336" cy="82333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07074" y="4948037"/>
            <a:ext cx="6740965" cy="79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7"/>
              </a:lnSpc>
            </a:pPr>
            <a:r>
              <a:rPr lang="en-US" b="true" sz="3100">
                <a:solidFill>
                  <a:srgbClr val="FDFDFD"/>
                </a:solidFill>
                <a:latin typeface="Inter Bold"/>
                <a:ea typeface="Inter Bold"/>
                <a:cs typeface="Inter Bold"/>
                <a:sym typeface="Inter Bold"/>
              </a:rPr>
              <a:t>Bases de Datos Orientadas a Objetos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436371" y="3574971"/>
            <a:ext cx="823336" cy="8233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36371" y="4731832"/>
            <a:ext cx="823336" cy="82333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436371" y="5888693"/>
            <a:ext cx="823336" cy="82333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436371" y="7045539"/>
            <a:ext cx="823336" cy="82333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108995" y="2418096"/>
            <a:ext cx="823336" cy="82333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108995" y="3574957"/>
            <a:ext cx="823336" cy="82333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108995" y="4731818"/>
            <a:ext cx="823336" cy="823336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08995" y="5888679"/>
            <a:ext cx="823336" cy="823336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108995" y="7045539"/>
            <a:ext cx="823336" cy="823336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7230450" y="2530076"/>
            <a:ext cx="1235178" cy="32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40"/>
              </a:lnSpc>
              <a:spcBef>
                <a:spcPct val="0"/>
              </a:spcBef>
            </a:pPr>
            <a:r>
              <a:rPr lang="en-US" sz="1957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230450" y="3686937"/>
            <a:ext cx="1235178" cy="32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40"/>
              </a:lnSpc>
              <a:spcBef>
                <a:spcPct val="0"/>
              </a:spcBef>
            </a:pPr>
            <a:r>
              <a:rPr lang="en-US" sz="1957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230450" y="4843798"/>
            <a:ext cx="1235178" cy="32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40"/>
              </a:lnSpc>
              <a:spcBef>
                <a:spcPct val="0"/>
              </a:spcBef>
            </a:pPr>
            <a:r>
              <a:rPr lang="en-US" sz="1957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230450" y="6000658"/>
            <a:ext cx="1235178" cy="32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40"/>
              </a:lnSpc>
              <a:spcBef>
                <a:spcPct val="0"/>
              </a:spcBef>
            </a:pPr>
            <a:r>
              <a:rPr lang="en-US" sz="1957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30450" y="7158692"/>
            <a:ext cx="1235178" cy="32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40"/>
              </a:lnSpc>
              <a:spcBef>
                <a:spcPct val="0"/>
              </a:spcBef>
            </a:pPr>
            <a:r>
              <a:rPr lang="en-US" sz="1957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03074" y="2530062"/>
            <a:ext cx="1235178" cy="32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40"/>
              </a:lnSpc>
              <a:spcBef>
                <a:spcPct val="0"/>
              </a:spcBef>
            </a:pPr>
            <a:r>
              <a:rPr lang="en-US" sz="1957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903074" y="3686923"/>
            <a:ext cx="1235178" cy="32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40"/>
              </a:lnSpc>
              <a:spcBef>
                <a:spcPct val="0"/>
              </a:spcBef>
            </a:pPr>
            <a:r>
              <a:rPr lang="en-US" sz="1957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903074" y="4844971"/>
            <a:ext cx="1235178" cy="32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40"/>
              </a:lnSpc>
              <a:spcBef>
                <a:spcPct val="0"/>
              </a:spcBef>
            </a:pPr>
            <a:r>
              <a:rPr lang="en-US" sz="1957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903074" y="6000644"/>
            <a:ext cx="1235178" cy="32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40"/>
              </a:lnSpc>
              <a:spcBef>
                <a:spcPct val="0"/>
              </a:spcBef>
            </a:pPr>
            <a:r>
              <a:rPr lang="en-US" sz="1957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903074" y="7158692"/>
            <a:ext cx="1235178" cy="32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40"/>
              </a:lnSpc>
              <a:spcBef>
                <a:spcPct val="0"/>
              </a:spcBef>
            </a:pPr>
            <a:r>
              <a:rPr lang="en-US" sz="1957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465628" y="3789261"/>
            <a:ext cx="3437446" cy="26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3"/>
              </a:lnSpc>
              <a:spcBef>
                <a:spcPct val="0"/>
              </a:spcBef>
            </a:pPr>
            <a:r>
              <a:rPr lang="en-US" sz="162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Plantillas de objetos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465628" y="4946121"/>
            <a:ext cx="3437446" cy="26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3"/>
              </a:lnSpc>
              <a:spcBef>
                <a:spcPct val="0"/>
              </a:spcBef>
            </a:pPr>
            <a:r>
              <a:rPr lang="en-US" sz="162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Objetos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465628" y="6093443"/>
            <a:ext cx="3437446" cy="26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3"/>
              </a:lnSpc>
              <a:spcBef>
                <a:spcPct val="0"/>
              </a:spcBef>
            </a:pPr>
            <a:r>
              <a:rPr lang="en-US" sz="162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Instancias con estado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465628" y="7214616"/>
            <a:ext cx="3437446" cy="26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3"/>
              </a:lnSpc>
              <a:spcBef>
                <a:spcPct val="0"/>
              </a:spcBef>
            </a:pPr>
            <a:r>
              <a:rPr lang="en-US" sz="162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Herencia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465628" y="2632429"/>
            <a:ext cx="3437446" cy="26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3"/>
              </a:lnSpc>
              <a:spcBef>
                <a:spcPct val="0"/>
              </a:spcBef>
            </a:pPr>
            <a:r>
              <a:rPr lang="en-US" sz="162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Clases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138252" y="2585986"/>
            <a:ext cx="3437446" cy="26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3"/>
              </a:lnSpc>
              <a:spcBef>
                <a:spcPct val="0"/>
              </a:spcBef>
            </a:pPr>
            <a:r>
              <a:rPr lang="en-US" sz="162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Reutilización de código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138252" y="3696448"/>
            <a:ext cx="3437446" cy="26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3"/>
              </a:lnSpc>
              <a:spcBef>
                <a:spcPct val="0"/>
              </a:spcBef>
            </a:pPr>
            <a:r>
              <a:rPr lang="en-US" sz="162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Encapsulamiento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138252" y="7207518"/>
            <a:ext cx="3437446" cy="26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3"/>
              </a:lnSpc>
              <a:spcBef>
                <a:spcPct val="0"/>
              </a:spcBef>
            </a:pPr>
            <a:r>
              <a:rPr lang="en-US" sz="162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Múltiples comportamientos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138252" y="6056568"/>
            <a:ext cx="3905757" cy="26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3"/>
              </a:lnSpc>
              <a:spcBef>
                <a:spcPct val="0"/>
              </a:spcBef>
            </a:pPr>
            <a:r>
              <a:rPr lang="en-US" sz="162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Polimorfismo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138252" y="4871837"/>
            <a:ext cx="3437446" cy="26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3"/>
              </a:lnSpc>
              <a:spcBef>
                <a:spcPct val="0"/>
              </a:spcBef>
            </a:pPr>
            <a:r>
              <a:rPr lang="en-US" sz="162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Ocultamiento de info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28443" y="2571721"/>
            <a:ext cx="4222972" cy="3378111"/>
            <a:chOff x="0" y="0"/>
            <a:chExt cx="812800" cy="6501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50189"/>
            </a:xfrm>
            <a:custGeom>
              <a:avLst/>
              <a:gdLst/>
              <a:ahLst/>
              <a:cxnLst/>
              <a:rect r="r" b="b" t="t" l="l"/>
              <a:pathLst>
                <a:path h="650189" w="812800">
                  <a:moveTo>
                    <a:pt x="42166" y="0"/>
                  </a:moveTo>
                  <a:lnTo>
                    <a:pt x="770634" y="0"/>
                  </a:lnTo>
                  <a:cubicBezTo>
                    <a:pt x="781817" y="0"/>
                    <a:pt x="792542" y="4442"/>
                    <a:pt x="800450" y="12350"/>
                  </a:cubicBezTo>
                  <a:cubicBezTo>
                    <a:pt x="808358" y="20258"/>
                    <a:pt x="812800" y="30983"/>
                    <a:pt x="812800" y="42166"/>
                  </a:cubicBezTo>
                  <a:lnTo>
                    <a:pt x="812800" y="608023"/>
                  </a:lnTo>
                  <a:cubicBezTo>
                    <a:pt x="812800" y="619206"/>
                    <a:pt x="808358" y="629931"/>
                    <a:pt x="800450" y="637839"/>
                  </a:cubicBezTo>
                  <a:cubicBezTo>
                    <a:pt x="792542" y="645746"/>
                    <a:pt x="781817" y="650189"/>
                    <a:pt x="770634" y="650189"/>
                  </a:cubicBezTo>
                  <a:lnTo>
                    <a:pt x="42166" y="650189"/>
                  </a:lnTo>
                  <a:cubicBezTo>
                    <a:pt x="18878" y="650189"/>
                    <a:pt x="0" y="631310"/>
                    <a:pt x="0" y="608023"/>
                  </a:cubicBezTo>
                  <a:lnTo>
                    <a:pt x="0" y="42166"/>
                  </a:lnTo>
                  <a:cubicBezTo>
                    <a:pt x="0" y="30983"/>
                    <a:pt x="4442" y="20258"/>
                    <a:pt x="12350" y="12350"/>
                  </a:cubicBezTo>
                  <a:cubicBezTo>
                    <a:pt x="20258" y="4442"/>
                    <a:pt x="30983" y="0"/>
                    <a:pt x="4216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550" r="0" b="-55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032514" y="2571721"/>
            <a:ext cx="4222972" cy="3378111"/>
            <a:chOff x="0" y="0"/>
            <a:chExt cx="812800" cy="6501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50189"/>
            </a:xfrm>
            <a:custGeom>
              <a:avLst/>
              <a:gdLst/>
              <a:ahLst/>
              <a:cxnLst/>
              <a:rect r="r" b="b" t="t" l="l"/>
              <a:pathLst>
                <a:path h="650189" w="812800">
                  <a:moveTo>
                    <a:pt x="42166" y="0"/>
                  </a:moveTo>
                  <a:lnTo>
                    <a:pt x="770634" y="0"/>
                  </a:lnTo>
                  <a:cubicBezTo>
                    <a:pt x="781817" y="0"/>
                    <a:pt x="792542" y="4442"/>
                    <a:pt x="800450" y="12350"/>
                  </a:cubicBezTo>
                  <a:cubicBezTo>
                    <a:pt x="808358" y="20258"/>
                    <a:pt x="812800" y="30983"/>
                    <a:pt x="812800" y="42166"/>
                  </a:cubicBezTo>
                  <a:lnTo>
                    <a:pt x="812800" y="608023"/>
                  </a:lnTo>
                  <a:cubicBezTo>
                    <a:pt x="812800" y="619206"/>
                    <a:pt x="808358" y="629931"/>
                    <a:pt x="800450" y="637839"/>
                  </a:cubicBezTo>
                  <a:cubicBezTo>
                    <a:pt x="792542" y="645746"/>
                    <a:pt x="781817" y="650189"/>
                    <a:pt x="770634" y="650189"/>
                  </a:cubicBezTo>
                  <a:lnTo>
                    <a:pt x="42166" y="650189"/>
                  </a:lnTo>
                  <a:cubicBezTo>
                    <a:pt x="18878" y="650189"/>
                    <a:pt x="0" y="631310"/>
                    <a:pt x="0" y="608023"/>
                  </a:cubicBezTo>
                  <a:lnTo>
                    <a:pt x="0" y="42166"/>
                  </a:lnTo>
                  <a:cubicBezTo>
                    <a:pt x="0" y="30983"/>
                    <a:pt x="4442" y="20258"/>
                    <a:pt x="12350" y="12350"/>
                  </a:cubicBezTo>
                  <a:cubicBezTo>
                    <a:pt x="20258" y="4442"/>
                    <a:pt x="30983" y="0"/>
                    <a:pt x="4216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550" r="0" b="-55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433690" y="2571721"/>
            <a:ext cx="4222972" cy="3378111"/>
            <a:chOff x="0" y="0"/>
            <a:chExt cx="812800" cy="6501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650189"/>
            </a:xfrm>
            <a:custGeom>
              <a:avLst/>
              <a:gdLst/>
              <a:ahLst/>
              <a:cxnLst/>
              <a:rect r="r" b="b" t="t" l="l"/>
              <a:pathLst>
                <a:path h="650189" w="812800">
                  <a:moveTo>
                    <a:pt x="42166" y="0"/>
                  </a:moveTo>
                  <a:lnTo>
                    <a:pt x="770634" y="0"/>
                  </a:lnTo>
                  <a:cubicBezTo>
                    <a:pt x="781817" y="0"/>
                    <a:pt x="792542" y="4442"/>
                    <a:pt x="800450" y="12350"/>
                  </a:cubicBezTo>
                  <a:cubicBezTo>
                    <a:pt x="808358" y="20258"/>
                    <a:pt x="812800" y="30983"/>
                    <a:pt x="812800" y="42166"/>
                  </a:cubicBezTo>
                  <a:lnTo>
                    <a:pt x="812800" y="608023"/>
                  </a:lnTo>
                  <a:cubicBezTo>
                    <a:pt x="812800" y="619206"/>
                    <a:pt x="808358" y="629931"/>
                    <a:pt x="800450" y="637839"/>
                  </a:cubicBezTo>
                  <a:cubicBezTo>
                    <a:pt x="792542" y="645746"/>
                    <a:pt x="781817" y="650189"/>
                    <a:pt x="770634" y="650189"/>
                  </a:cubicBezTo>
                  <a:lnTo>
                    <a:pt x="42166" y="650189"/>
                  </a:lnTo>
                  <a:cubicBezTo>
                    <a:pt x="18878" y="650189"/>
                    <a:pt x="0" y="631310"/>
                    <a:pt x="0" y="608023"/>
                  </a:cubicBezTo>
                  <a:lnTo>
                    <a:pt x="0" y="42166"/>
                  </a:lnTo>
                  <a:cubicBezTo>
                    <a:pt x="0" y="30983"/>
                    <a:pt x="4442" y="20258"/>
                    <a:pt x="12350" y="12350"/>
                  </a:cubicBezTo>
                  <a:cubicBezTo>
                    <a:pt x="20258" y="4442"/>
                    <a:pt x="30983" y="0"/>
                    <a:pt x="4216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550" r="0" b="-55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507982" y="6254632"/>
            <a:ext cx="19429185" cy="4150698"/>
            <a:chOff x="0" y="0"/>
            <a:chExt cx="5423189" cy="11585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23189" cy="1158567"/>
            </a:xfrm>
            <a:custGeom>
              <a:avLst/>
              <a:gdLst/>
              <a:ahLst/>
              <a:cxnLst/>
              <a:rect r="r" b="b" t="t" l="l"/>
              <a:pathLst>
                <a:path h="1158567" w="5423189">
                  <a:moveTo>
                    <a:pt x="20322" y="0"/>
                  </a:moveTo>
                  <a:lnTo>
                    <a:pt x="5402867" y="0"/>
                  </a:lnTo>
                  <a:cubicBezTo>
                    <a:pt x="5414091" y="0"/>
                    <a:pt x="5423189" y="9098"/>
                    <a:pt x="5423189" y="20322"/>
                  </a:cubicBezTo>
                  <a:lnTo>
                    <a:pt x="5423189" y="1138245"/>
                  </a:lnTo>
                  <a:cubicBezTo>
                    <a:pt x="5423189" y="1149469"/>
                    <a:pt x="5414091" y="1158567"/>
                    <a:pt x="5402867" y="1158567"/>
                  </a:cubicBezTo>
                  <a:lnTo>
                    <a:pt x="20322" y="1158567"/>
                  </a:lnTo>
                  <a:cubicBezTo>
                    <a:pt x="9098" y="1158567"/>
                    <a:pt x="0" y="1149469"/>
                    <a:pt x="0" y="1138245"/>
                  </a:cubicBezTo>
                  <a:lnTo>
                    <a:pt x="0" y="20322"/>
                  </a:lnTo>
                  <a:cubicBezTo>
                    <a:pt x="0" y="9098"/>
                    <a:pt x="9098" y="0"/>
                    <a:pt x="20322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423189" cy="1196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326820" y="209207"/>
            <a:ext cx="1411058" cy="70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2"/>
              </a:lnSpc>
              <a:spcBef>
                <a:spcPct val="0"/>
              </a:spcBef>
            </a:pPr>
            <a:r>
              <a:rPr lang="en-US" sz="4108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08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86687" y="1133475"/>
            <a:ext cx="8514625" cy="732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31"/>
              </a:lnSpc>
              <a:spcBef>
                <a:spcPct val="0"/>
              </a:spcBef>
            </a:pPr>
            <a:r>
              <a:rPr lang="en-US" b="true" sz="5496">
                <a:solidFill>
                  <a:srgbClr val="255E69"/>
                </a:solidFill>
                <a:latin typeface="Inter Bold"/>
                <a:ea typeface="Inter Bold"/>
                <a:cs typeface="Inter Bold"/>
                <a:sym typeface="Inter Bold"/>
              </a:rPr>
              <a:t>Bases de Datos NoSQL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8443" y="6474500"/>
            <a:ext cx="4222972" cy="45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12"/>
              </a:lnSpc>
              <a:spcBef>
                <a:spcPct val="0"/>
              </a:spcBef>
            </a:pPr>
            <a:r>
              <a:rPr lang="en-US" b="true" sz="2651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Clave-Valor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28443" y="7111050"/>
            <a:ext cx="4222972" cy="148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31"/>
              </a:lnSpc>
            </a:pPr>
            <a:r>
              <a:rPr lang="en-US" sz="2199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Almacenamiento simple y rápido con pares clave-valor. Ejemplos: Redis, DynamoDB. Ideal para caché, sesiones y datos de alta velocidad.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32514" y="7111050"/>
            <a:ext cx="4222972" cy="148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31"/>
              </a:lnSpc>
            </a:pPr>
            <a:r>
              <a:rPr lang="en-US" sz="2199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Datos en formato JSON/BSON flexible. Ejemplos: MongoDB, CouchDB. Perfecto para aplicaciones web y contenido dinámico sin esquema fijo.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36586" y="7111050"/>
            <a:ext cx="4222972" cy="148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31"/>
              </a:lnSpc>
            </a:pPr>
            <a:r>
              <a:rPr lang="en-US" sz="2199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Relaciones complejas mediante nodos y aristas. Ejemplo: Neo4j. Óptimo para redes sociales, recomendaciones y análisis de conexiones.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32514" y="6474500"/>
            <a:ext cx="4222972" cy="45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12"/>
              </a:lnSpc>
              <a:spcBef>
                <a:spcPct val="0"/>
              </a:spcBef>
            </a:pPr>
            <a:r>
              <a:rPr lang="en-US" b="true" sz="2651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Documentales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36586" y="6474500"/>
            <a:ext cx="4222972" cy="45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12"/>
              </a:lnSpc>
              <a:spcBef>
                <a:spcPct val="0"/>
              </a:spcBef>
            </a:pPr>
            <a:r>
              <a:rPr lang="en-US" b="true" sz="2651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Grafos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21782"/>
            <a:ext cx="5246370" cy="10265218"/>
            <a:chOff x="0" y="0"/>
            <a:chExt cx="812800" cy="15903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1590351"/>
            </a:xfrm>
            <a:custGeom>
              <a:avLst/>
              <a:gdLst/>
              <a:ahLst/>
              <a:cxnLst/>
              <a:rect r="r" b="b" t="t" l="l"/>
              <a:pathLst>
                <a:path h="15903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590351"/>
                  </a:lnTo>
                  <a:lnTo>
                    <a:pt x="0" y="1590351"/>
                  </a:lnTo>
                  <a:close/>
                </a:path>
              </a:pathLst>
            </a:custGeom>
            <a:blipFill>
              <a:blip r:embed="rId3"/>
              <a:stretch>
                <a:fillRect l="-5764" t="0" r="-5764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912065" y="5894780"/>
            <a:ext cx="3943580" cy="3363520"/>
            <a:chOff x="0" y="0"/>
            <a:chExt cx="1038638" cy="8858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8638" cy="885865"/>
            </a:xfrm>
            <a:custGeom>
              <a:avLst/>
              <a:gdLst/>
              <a:ahLst/>
              <a:cxnLst/>
              <a:rect r="r" b="b" t="t" l="l"/>
              <a:pathLst>
                <a:path h="885865" w="1038638">
                  <a:moveTo>
                    <a:pt x="100122" y="0"/>
                  </a:moveTo>
                  <a:lnTo>
                    <a:pt x="938517" y="0"/>
                  </a:lnTo>
                  <a:cubicBezTo>
                    <a:pt x="993812" y="0"/>
                    <a:pt x="1038638" y="44826"/>
                    <a:pt x="1038638" y="100122"/>
                  </a:cubicBezTo>
                  <a:lnTo>
                    <a:pt x="1038638" y="785744"/>
                  </a:lnTo>
                  <a:cubicBezTo>
                    <a:pt x="1038638" y="841039"/>
                    <a:pt x="993812" y="885865"/>
                    <a:pt x="938517" y="885865"/>
                  </a:cubicBezTo>
                  <a:lnTo>
                    <a:pt x="100122" y="885865"/>
                  </a:lnTo>
                  <a:cubicBezTo>
                    <a:pt x="44826" y="885865"/>
                    <a:pt x="0" y="841039"/>
                    <a:pt x="0" y="785744"/>
                  </a:cubicBezTo>
                  <a:lnTo>
                    <a:pt x="0" y="100122"/>
                  </a:lnTo>
                  <a:cubicBezTo>
                    <a:pt x="0" y="44826"/>
                    <a:pt x="44826" y="0"/>
                    <a:pt x="100122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38638" cy="923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522395" y="5894780"/>
            <a:ext cx="3943580" cy="3363520"/>
            <a:chOff x="0" y="0"/>
            <a:chExt cx="1038638" cy="8858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638" cy="885865"/>
            </a:xfrm>
            <a:custGeom>
              <a:avLst/>
              <a:gdLst/>
              <a:ahLst/>
              <a:cxnLst/>
              <a:rect r="r" b="b" t="t" l="l"/>
              <a:pathLst>
                <a:path h="885865" w="1038638">
                  <a:moveTo>
                    <a:pt x="100122" y="0"/>
                  </a:moveTo>
                  <a:lnTo>
                    <a:pt x="938517" y="0"/>
                  </a:lnTo>
                  <a:cubicBezTo>
                    <a:pt x="993812" y="0"/>
                    <a:pt x="1038638" y="44826"/>
                    <a:pt x="1038638" y="100122"/>
                  </a:cubicBezTo>
                  <a:lnTo>
                    <a:pt x="1038638" y="785744"/>
                  </a:lnTo>
                  <a:cubicBezTo>
                    <a:pt x="1038638" y="841039"/>
                    <a:pt x="993812" y="885865"/>
                    <a:pt x="938517" y="885865"/>
                  </a:cubicBezTo>
                  <a:lnTo>
                    <a:pt x="100122" y="885865"/>
                  </a:lnTo>
                  <a:cubicBezTo>
                    <a:pt x="44826" y="885865"/>
                    <a:pt x="0" y="841039"/>
                    <a:pt x="0" y="785744"/>
                  </a:cubicBezTo>
                  <a:lnTo>
                    <a:pt x="0" y="100122"/>
                  </a:lnTo>
                  <a:cubicBezTo>
                    <a:pt x="0" y="44826"/>
                    <a:pt x="44826" y="0"/>
                    <a:pt x="100122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38638" cy="923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036901" y="6036234"/>
            <a:ext cx="1786149" cy="1013640"/>
          </a:xfrm>
          <a:custGeom>
            <a:avLst/>
            <a:gdLst/>
            <a:ahLst/>
            <a:cxnLst/>
            <a:rect r="r" b="b" t="t" l="l"/>
            <a:pathLst>
              <a:path h="1013640" w="1786149">
                <a:moveTo>
                  <a:pt x="0" y="0"/>
                </a:moveTo>
                <a:lnTo>
                  <a:pt x="1786149" y="0"/>
                </a:lnTo>
                <a:lnTo>
                  <a:pt x="1786149" y="1013640"/>
                </a:lnTo>
                <a:lnTo>
                  <a:pt x="0" y="1013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993204" y="6233022"/>
            <a:ext cx="1108841" cy="964210"/>
          </a:xfrm>
          <a:custGeom>
            <a:avLst/>
            <a:gdLst/>
            <a:ahLst/>
            <a:cxnLst/>
            <a:rect r="r" b="b" t="t" l="l"/>
            <a:pathLst>
              <a:path h="964210" w="1108841">
                <a:moveTo>
                  <a:pt x="0" y="0"/>
                </a:moveTo>
                <a:lnTo>
                  <a:pt x="1108841" y="0"/>
                </a:lnTo>
                <a:lnTo>
                  <a:pt x="1108841" y="964210"/>
                </a:lnTo>
                <a:lnTo>
                  <a:pt x="0" y="9642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912065" y="1125316"/>
            <a:ext cx="7262477" cy="54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49"/>
              </a:lnSpc>
              <a:spcBef>
                <a:spcPct val="0"/>
              </a:spcBef>
            </a:pPr>
            <a:r>
              <a:rPr lang="en-US" b="true" sz="4174">
                <a:solidFill>
                  <a:srgbClr val="255E69"/>
                </a:solidFill>
                <a:latin typeface="Inter Bold"/>
                <a:ea typeface="Inter Bold"/>
                <a:cs typeface="Inter Bold"/>
                <a:sym typeface="Inter Bold"/>
              </a:rPr>
              <a:t>Estrategias de Diseño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326820" y="228257"/>
            <a:ext cx="1411058" cy="52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15"/>
              </a:lnSpc>
              <a:spcBef>
                <a:spcPct val="0"/>
              </a:spcBef>
            </a:pPr>
            <a:r>
              <a:rPr lang="en-US" sz="3011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09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12065" y="2253329"/>
            <a:ext cx="11347235" cy="1508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52"/>
              </a:lnSpc>
              <a:spcBef>
                <a:spcPct val="0"/>
              </a:spcBef>
            </a:pPr>
            <a:r>
              <a:rPr lang="en-US" sz="1751">
                <a:solidFill>
                  <a:srgbClr val="255E69"/>
                </a:solidFill>
                <a:latin typeface="Open Sans"/>
                <a:ea typeface="Open Sans"/>
                <a:cs typeface="Open Sans"/>
                <a:sym typeface="Open Sans"/>
              </a:rPr>
              <a:t>El diseño de bases de datos avanzadas contempla múltiples enfoques según los requisitos del sistema. El Diseño Orientado a Objetos modela la información mediante clases y objetos, aprovechando herencia y encapsulamiento. El Diseño Conceptual utiliza el Modelo Entidad-Relación (ER), independiente de la implementación técnica. El Diseño Objeto-Relacional combina ambos paradigmas en un enfoque híbrido. El mapeo entre modelos conceptuales y físicos permite traducir abstracciones a estructuras implementables.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09962" y="7462240"/>
            <a:ext cx="2748841" cy="9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2"/>
              </a:lnSpc>
              <a:spcBef>
                <a:spcPct val="0"/>
              </a:spcBef>
            </a:pPr>
            <a:r>
              <a:rPr lang="en-US" sz="1873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Diseño Orientado a Objetos: clases, herencia y encapsulamiento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68012" y="7462240"/>
            <a:ext cx="2852346" cy="9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2"/>
              </a:lnSpc>
              <a:spcBef>
                <a:spcPct val="0"/>
              </a:spcBef>
            </a:pPr>
            <a:r>
              <a:rPr lang="en-US" sz="1873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Diseño Conceptual ER: entidades y relaciones abstractas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39772" y="-1013654"/>
            <a:ext cx="4448129" cy="11477194"/>
            <a:chOff x="0" y="0"/>
            <a:chExt cx="1171524" cy="302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1524" cy="3022800"/>
            </a:xfrm>
            <a:custGeom>
              <a:avLst/>
              <a:gdLst/>
              <a:ahLst/>
              <a:cxnLst/>
              <a:rect r="r" b="b" t="t" l="l"/>
              <a:pathLst>
                <a:path h="3022800" w="1171524">
                  <a:moveTo>
                    <a:pt x="60917" y="0"/>
                  </a:moveTo>
                  <a:lnTo>
                    <a:pt x="1110607" y="0"/>
                  </a:lnTo>
                  <a:cubicBezTo>
                    <a:pt x="1144250" y="0"/>
                    <a:pt x="1171524" y="27274"/>
                    <a:pt x="1171524" y="60917"/>
                  </a:cubicBezTo>
                  <a:lnTo>
                    <a:pt x="1171524" y="2961883"/>
                  </a:lnTo>
                  <a:cubicBezTo>
                    <a:pt x="1171524" y="2995527"/>
                    <a:pt x="1144250" y="3022800"/>
                    <a:pt x="1110607" y="3022800"/>
                  </a:cubicBezTo>
                  <a:lnTo>
                    <a:pt x="60917" y="3022800"/>
                  </a:lnTo>
                  <a:cubicBezTo>
                    <a:pt x="27274" y="3022800"/>
                    <a:pt x="0" y="2995527"/>
                    <a:pt x="0" y="2961883"/>
                  </a:cubicBezTo>
                  <a:lnTo>
                    <a:pt x="0" y="60917"/>
                  </a:lnTo>
                  <a:cubicBezTo>
                    <a:pt x="0" y="27274"/>
                    <a:pt x="27274" y="0"/>
                    <a:pt x="60917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71524" cy="306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730167"/>
            <a:ext cx="4895803" cy="6826665"/>
            <a:chOff x="0" y="0"/>
            <a:chExt cx="703397" cy="9808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3397" cy="980811"/>
            </a:xfrm>
            <a:custGeom>
              <a:avLst/>
              <a:gdLst/>
              <a:ahLst/>
              <a:cxnLst/>
              <a:rect r="r" b="b" t="t" l="l"/>
              <a:pathLst>
                <a:path h="980811" w="703397">
                  <a:moveTo>
                    <a:pt x="53765" y="0"/>
                  </a:moveTo>
                  <a:lnTo>
                    <a:pt x="649632" y="0"/>
                  </a:lnTo>
                  <a:cubicBezTo>
                    <a:pt x="663891" y="0"/>
                    <a:pt x="677567" y="5665"/>
                    <a:pt x="687650" y="15748"/>
                  </a:cubicBezTo>
                  <a:cubicBezTo>
                    <a:pt x="697733" y="25831"/>
                    <a:pt x="703397" y="39506"/>
                    <a:pt x="703397" y="53765"/>
                  </a:cubicBezTo>
                  <a:lnTo>
                    <a:pt x="703397" y="927046"/>
                  </a:lnTo>
                  <a:cubicBezTo>
                    <a:pt x="703397" y="956740"/>
                    <a:pt x="679326" y="980811"/>
                    <a:pt x="649632" y="980811"/>
                  </a:cubicBezTo>
                  <a:lnTo>
                    <a:pt x="53765" y="980811"/>
                  </a:lnTo>
                  <a:cubicBezTo>
                    <a:pt x="24072" y="980811"/>
                    <a:pt x="0" y="956740"/>
                    <a:pt x="0" y="927046"/>
                  </a:cubicBezTo>
                  <a:lnTo>
                    <a:pt x="0" y="53765"/>
                  </a:lnTo>
                  <a:cubicBezTo>
                    <a:pt x="0" y="24072"/>
                    <a:pt x="24072" y="0"/>
                    <a:pt x="53765" y="0"/>
                  </a:cubicBezTo>
                  <a:close/>
                </a:path>
              </a:pathLst>
            </a:custGeom>
            <a:blipFill>
              <a:blip r:embed="rId3"/>
              <a:stretch>
                <a:fillRect l="-2028" t="0" r="-202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04930" y="5470733"/>
            <a:ext cx="2897183" cy="289718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107650" y="1787317"/>
            <a:ext cx="4685938" cy="79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7"/>
              </a:lnSpc>
              <a:spcBef>
                <a:spcPct val="0"/>
              </a:spcBef>
            </a:pPr>
            <a:r>
              <a:rPr lang="en-US" b="true" sz="3100" strike="noStrike" u="none">
                <a:solidFill>
                  <a:srgbClr val="255E69"/>
                </a:solidFill>
                <a:latin typeface="Inter Bold"/>
                <a:ea typeface="Inter Bold"/>
                <a:cs typeface="Inter Bold"/>
                <a:sym typeface="Inter Bold"/>
              </a:rPr>
              <a:t>Modelo Entidad-Relación (ER)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326820" y="247307"/>
            <a:ext cx="1411058" cy="38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0"/>
              </a:lnSpc>
              <a:spcBef>
                <a:spcPct val="0"/>
              </a:spcBef>
            </a:pPr>
            <a:r>
              <a:rPr lang="en-US" sz="223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07650" y="2796640"/>
            <a:ext cx="9794239" cy="46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21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modelo ER es una herramienta fundamental para el diseño conceptual de bases de datos, permitiendo representar la estructura lógica de la información de forma visual e independiente de la implementación física.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515379" y="5470733"/>
            <a:ext cx="2897183" cy="289718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23444" y="5470733"/>
            <a:ext cx="2897183" cy="289718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056063" y="5935948"/>
            <a:ext cx="992738" cy="33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65320" y="5935948"/>
            <a:ext cx="992738" cy="33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75666" y="5935948"/>
            <a:ext cx="992738" cy="33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63209" y="6729536"/>
            <a:ext cx="2978446" cy="406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19"/>
              </a:lnSpc>
              <a:spcBef>
                <a:spcPct val="0"/>
              </a:spcBef>
            </a:pPr>
            <a:r>
              <a:rPr lang="en-US" sz="1227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Entidades: objetos del mundo real con existencia propia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93326" y="6729536"/>
            <a:ext cx="2978446" cy="406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19"/>
              </a:lnSpc>
              <a:spcBef>
                <a:spcPct val="0"/>
              </a:spcBef>
            </a:pPr>
            <a:r>
              <a:rPr lang="en-US" sz="1227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Atributos: propiedades que describen las entidades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23444" y="6729536"/>
            <a:ext cx="2978446" cy="19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19"/>
              </a:lnSpc>
              <a:spcBef>
                <a:spcPct val="0"/>
              </a:spcBef>
            </a:pPr>
            <a:r>
              <a:rPr lang="en-US" sz="1227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Relaciones y Cardinalidad: 1:1, 1:N, N:M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39772" y="0"/>
            <a:ext cx="7449317" cy="10287000"/>
            <a:chOff x="0" y="0"/>
            <a:chExt cx="196196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196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61960">
                  <a:moveTo>
                    <a:pt x="0" y="0"/>
                  </a:moveTo>
                  <a:lnTo>
                    <a:pt x="1961960" y="0"/>
                  </a:lnTo>
                  <a:lnTo>
                    <a:pt x="196196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6196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436371" y="2418111"/>
            <a:ext cx="823336" cy="82333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0" y="4914976"/>
            <a:ext cx="6740965" cy="66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75"/>
              </a:lnSpc>
            </a:pPr>
            <a:r>
              <a:rPr lang="en-US" b="true" sz="5129">
                <a:solidFill>
                  <a:srgbClr val="FDFDFD"/>
                </a:solidFill>
                <a:latin typeface="Inter Bold"/>
                <a:ea typeface="Inter Bold"/>
                <a:cs typeface="Inter Bold"/>
                <a:sym typeface="Inter Bold"/>
              </a:rPr>
              <a:t>Modelo ER Extendido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436371" y="3574971"/>
            <a:ext cx="823336" cy="8233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36371" y="4731832"/>
            <a:ext cx="823336" cy="82333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436371" y="5888693"/>
            <a:ext cx="823336" cy="82333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436371" y="7045539"/>
            <a:ext cx="823336" cy="82333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108995" y="2418096"/>
            <a:ext cx="823336" cy="82333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108995" y="3574957"/>
            <a:ext cx="823336" cy="82333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108995" y="4731818"/>
            <a:ext cx="823336" cy="823336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08995" y="5888679"/>
            <a:ext cx="823336" cy="823336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108995" y="7045539"/>
            <a:ext cx="823336" cy="823336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255E69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7230450" y="2491976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230450" y="3648837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230450" y="4805698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230450" y="5962558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30450" y="7120592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03074" y="2491962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903074" y="3648823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903074" y="4806871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903074" y="5962544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903074" y="7120592"/>
            <a:ext cx="1235178" cy="6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5"/>
              </a:lnSpc>
              <a:spcBef>
                <a:spcPct val="0"/>
              </a:spcBef>
            </a:pPr>
            <a:r>
              <a:rPr lang="en-US" sz="3596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465628" y="3751161"/>
            <a:ext cx="3437446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Abstracción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465628" y="4908021"/>
            <a:ext cx="3437446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Especialización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465628" y="6055343"/>
            <a:ext cx="3437446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Subtipos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465628" y="7176516"/>
            <a:ext cx="3437446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Herencia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465628" y="2594329"/>
            <a:ext cx="3437446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Generalización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138252" y="2547886"/>
            <a:ext cx="3437446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Propagación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138252" y="3658348"/>
            <a:ext cx="3437446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Agregación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138252" y="7169418"/>
            <a:ext cx="3437446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Relaciones Is-A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138252" y="6018468"/>
            <a:ext cx="3905757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Notación ISA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138252" y="4833737"/>
            <a:ext cx="3437446" cy="50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7"/>
              </a:lnSpc>
              <a:spcBef>
                <a:spcPct val="0"/>
              </a:spcBef>
            </a:pPr>
            <a:r>
              <a:rPr lang="en-US" sz="2984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Composición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39772" y="-1013654"/>
            <a:ext cx="4448129" cy="11477194"/>
            <a:chOff x="0" y="0"/>
            <a:chExt cx="1171524" cy="302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1524" cy="3022800"/>
            </a:xfrm>
            <a:custGeom>
              <a:avLst/>
              <a:gdLst/>
              <a:ahLst/>
              <a:cxnLst/>
              <a:rect r="r" b="b" t="t" l="l"/>
              <a:pathLst>
                <a:path h="3022800" w="1171524">
                  <a:moveTo>
                    <a:pt x="60917" y="0"/>
                  </a:moveTo>
                  <a:lnTo>
                    <a:pt x="1110607" y="0"/>
                  </a:lnTo>
                  <a:cubicBezTo>
                    <a:pt x="1144250" y="0"/>
                    <a:pt x="1171524" y="27274"/>
                    <a:pt x="1171524" y="60917"/>
                  </a:cubicBezTo>
                  <a:lnTo>
                    <a:pt x="1171524" y="2961883"/>
                  </a:lnTo>
                  <a:cubicBezTo>
                    <a:pt x="1171524" y="2995527"/>
                    <a:pt x="1144250" y="3022800"/>
                    <a:pt x="1110607" y="3022800"/>
                  </a:cubicBezTo>
                  <a:lnTo>
                    <a:pt x="60917" y="3022800"/>
                  </a:lnTo>
                  <a:cubicBezTo>
                    <a:pt x="27274" y="3022800"/>
                    <a:pt x="0" y="2995527"/>
                    <a:pt x="0" y="2961883"/>
                  </a:cubicBezTo>
                  <a:lnTo>
                    <a:pt x="0" y="60917"/>
                  </a:lnTo>
                  <a:cubicBezTo>
                    <a:pt x="0" y="27274"/>
                    <a:pt x="27274" y="0"/>
                    <a:pt x="60917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71524" cy="306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730167"/>
            <a:ext cx="4895803" cy="6826665"/>
            <a:chOff x="0" y="0"/>
            <a:chExt cx="703397" cy="9808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3397" cy="980811"/>
            </a:xfrm>
            <a:custGeom>
              <a:avLst/>
              <a:gdLst/>
              <a:ahLst/>
              <a:cxnLst/>
              <a:rect r="r" b="b" t="t" l="l"/>
              <a:pathLst>
                <a:path h="980811" w="703397">
                  <a:moveTo>
                    <a:pt x="53765" y="0"/>
                  </a:moveTo>
                  <a:lnTo>
                    <a:pt x="649632" y="0"/>
                  </a:lnTo>
                  <a:cubicBezTo>
                    <a:pt x="663891" y="0"/>
                    <a:pt x="677567" y="5665"/>
                    <a:pt x="687650" y="15748"/>
                  </a:cubicBezTo>
                  <a:cubicBezTo>
                    <a:pt x="697733" y="25831"/>
                    <a:pt x="703397" y="39506"/>
                    <a:pt x="703397" y="53765"/>
                  </a:cubicBezTo>
                  <a:lnTo>
                    <a:pt x="703397" y="927046"/>
                  </a:lnTo>
                  <a:cubicBezTo>
                    <a:pt x="703397" y="956740"/>
                    <a:pt x="679326" y="980811"/>
                    <a:pt x="649632" y="980811"/>
                  </a:cubicBezTo>
                  <a:lnTo>
                    <a:pt x="53765" y="980811"/>
                  </a:lnTo>
                  <a:cubicBezTo>
                    <a:pt x="24072" y="980811"/>
                    <a:pt x="0" y="956740"/>
                    <a:pt x="0" y="927046"/>
                  </a:cubicBezTo>
                  <a:lnTo>
                    <a:pt x="0" y="53765"/>
                  </a:lnTo>
                  <a:cubicBezTo>
                    <a:pt x="0" y="24072"/>
                    <a:pt x="24072" y="0"/>
                    <a:pt x="53765" y="0"/>
                  </a:cubicBezTo>
                  <a:close/>
                </a:path>
              </a:pathLst>
            </a:custGeom>
            <a:blipFill>
              <a:blip r:embed="rId3"/>
              <a:stretch>
                <a:fillRect l="-2028" t="0" r="-202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04930" y="5470733"/>
            <a:ext cx="2897183" cy="289718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107650" y="1806367"/>
            <a:ext cx="4685938" cy="46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0"/>
              </a:lnSpc>
              <a:spcBef>
                <a:spcPct val="0"/>
              </a:spcBef>
            </a:pPr>
            <a:r>
              <a:rPr lang="en-US" b="true" sz="3577" strike="noStrike" u="none">
                <a:solidFill>
                  <a:srgbClr val="255E69"/>
                </a:solidFill>
                <a:latin typeface="Inter Bold"/>
                <a:ea typeface="Inter Bold"/>
                <a:cs typeface="Inter Bold"/>
                <a:sym typeface="Inter Bold"/>
              </a:rPr>
              <a:t>Modelo OO Dinámico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326820" y="237782"/>
            <a:ext cx="1411058" cy="44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12"/>
              </a:lnSpc>
              <a:spcBef>
                <a:spcPct val="0"/>
              </a:spcBef>
            </a:pPr>
            <a:r>
              <a:rPr lang="en-US" sz="2580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12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07650" y="2806165"/>
            <a:ext cx="9794239" cy="79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01"/>
              </a:lnSpc>
              <a:spcBef>
                <a:spcPct val="0"/>
              </a:spcBef>
            </a:pPr>
            <a:r>
              <a:rPr lang="en-US" sz="15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Los aspectos dinámicos del modelo orientado a objetos describen cómo los objetos interactúan y cambian a lo largo del tiempo. Mediante diagramas UML se representan eventos, estados, transiciones e interacciones entre componentes del sistema.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515379" y="5470733"/>
            <a:ext cx="2897183" cy="289718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23444" y="5470733"/>
            <a:ext cx="2897183" cy="289718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056063" y="5926423"/>
            <a:ext cx="992738" cy="39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0"/>
              </a:lnSpc>
              <a:spcBef>
                <a:spcPct val="0"/>
              </a:spcBef>
            </a:pPr>
            <a:r>
              <a:rPr lang="en-US" b="true" sz="2293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65320" y="5926423"/>
            <a:ext cx="992738" cy="39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0"/>
              </a:lnSpc>
              <a:spcBef>
                <a:spcPct val="0"/>
              </a:spcBef>
            </a:pPr>
            <a:r>
              <a:rPr lang="en-US" b="true" sz="2293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75666" y="5926423"/>
            <a:ext cx="992738" cy="39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0"/>
              </a:lnSpc>
              <a:spcBef>
                <a:spcPct val="0"/>
              </a:spcBef>
            </a:pPr>
            <a:r>
              <a:rPr lang="en-US" b="true" sz="2293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63209" y="6729536"/>
            <a:ext cx="2978446" cy="478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83"/>
              </a:lnSpc>
              <a:spcBef>
                <a:spcPct val="0"/>
              </a:spcBef>
            </a:pPr>
            <a:r>
              <a:rPr lang="en-US" sz="1416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Eventos: acciones que desencadenan cambios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93326" y="6729536"/>
            <a:ext cx="2978446" cy="478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83"/>
              </a:lnSpc>
              <a:spcBef>
                <a:spcPct val="0"/>
              </a:spcBef>
            </a:pPr>
            <a:r>
              <a:rPr lang="en-US" sz="1416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Estados y Transiciones: condiciones y cambios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23444" y="6729536"/>
            <a:ext cx="2978446" cy="478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83"/>
              </a:lnSpc>
              <a:spcBef>
                <a:spcPct val="0"/>
              </a:spcBef>
            </a:pPr>
            <a:r>
              <a:rPr lang="en-US" sz="1416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Interacciones: comunicación entre objetos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584190" y="1890555"/>
            <a:ext cx="5675110" cy="6502994"/>
            <a:chOff x="0" y="0"/>
            <a:chExt cx="879223" cy="10074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9223" cy="1007484"/>
            </a:xfrm>
            <a:custGeom>
              <a:avLst/>
              <a:gdLst/>
              <a:ahLst/>
              <a:cxnLst/>
              <a:rect r="r" b="b" t="t" l="l"/>
              <a:pathLst>
                <a:path h="1007484" w="879223">
                  <a:moveTo>
                    <a:pt x="43654" y="0"/>
                  </a:moveTo>
                  <a:lnTo>
                    <a:pt x="835569" y="0"/>
                  </a:lnTo>
                  <a:cubicBezTo>
                    <a:pt x="859679" y="0"/>
                    <a:pt x="879223" y="19545"/>
                    <a:pt x="879223" y="43654"/>
                  </a:cubicBezTo>
                  <a:lnTo>
                    <a:pt x="879223" y="963830"/>
                  </a:lnTo>
                  <a:cubicBezTo>
                    <a:pt x="879223" y="975408"/>
                    <a:pt x="874624" y="986511"/>
                    <a:pt x="866437" y="994698"/>
                  </a:cubicBezTo>
                  <a:cubicBezTo>
                    <a:pt x="858250" y="1002885"/>
                    <a:pt x="847147" y="1007484"/>
                    <a:pt x="835569" y="1007484"/>
                  </a:cubicBezTo>
                  <a:lnTo>
                    <a:pt x="43654" y="1007484"/>
                  </a:lnTo>
                  <a:cubicBezTo>
                    <a:pt x="32076" y="1007484"/>
                    <a:pt x="20973" y="1002885"/>
                    <a:pt x="12786" y="994698"/>
                  </a:cubicBezTo>
                  <a:cubicBezTo>
                    <a:pt x="4599" y="986511"/>
                    <a:pt x="0" y="975408"/>
                    <a:pt x="0" y="963830"/>
                  </a:cubicBezTo>
                  <a:lnTo>
                    <a:pt x="0" y="43654"/>
                  </a:lnTo>
                  <a:cubicBezTo>
                    <a:pt x="0" y="32076"/>
                    <a:pt x="4599" y="20973"/>
                    <a:pt x="12786" y="12786"/>
                  </a:cubicBezTo>
                  <a:cubicBezTo>
                    <a:pt x="20973" y="4599"/>
                    <a:pt x="32076" y="0"/>
                    <a:pt x="4365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953" r="0" b="-3953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4482460"/>
            <a:ext cx="12392278" cy="4775840"/>
            <a:chOff x="0" y="0"/>
            <a:chExt cx="3263810" cy="12578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63810" cy="1257834"/>
            </a:xfrm>
            <a:custGeom>
              <a:avLst/>
              <a:gdLst/>
              <a:ahLst/>
              <a:cxnLst/>
              <a:rect r="r" b="b" t="t" l="l"/>
              <a:pathLst>
                <a:path h="1257834" w="3263810">
                  <a:moveTo>
                    <a:pt x="0" y="0"/>
                  </a:moveTo>
                  <a:lnTo>
                    <a:pt x="3263810" y="0"/>
                  </a:lnTo>
                  <a:lnTo>
                    <a:pt x="3263810" y="1257834"/>
                  </a:lnTo>
                  <a:lnTo>
                    <a:pt x="0" y="1257834"/>
                  </a:ln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63810" cy="1295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152525"/>
            <a:ext cx="8264385" cy="737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96"/>
              </a:lnSpc>
              <a:spcBef>
                <a:spcPct val="0"/>
              </a:spcBef>
            </a:pPr>
            <a:r>
              <a:rPr lang="en-US" b="true" sz="5666">
                <a:solidFill>
                  <a:srgbClr val="255E69"/>
                </a:solidFill>
                <a:latin typeface="Inter Bold"/>
                <a:ea typeface="Inter Bold"/>
                <a:cs typeface="Inter Bold"/>
                <a:sym typeface="Inter Bold"/>
              </a:rPr>
              <a:t>Bases de Datos Activas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26820" y="209207"/>
            <a:ext cx="1411058" cy="70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2"/>
              </a:lnSpc>
              <a:spcBef>
                <a:spcPct val="0"/>
              </a:spcBef>
            </a:pPr>
            <a:r>
              <a:rPr lang="en-US" sz="4108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044690"/>
            <a:ext cx="9093173" cy="158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06"/>
              </a:lnSpc>
              <a:spcBef>
                <a:spcPct val="0"/>
              </a:spcBef>
            </a:pPr>
            <a:r>
              <a:rPr lang="en-US" sz="22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bases de datos activas automatizan procesos mediante reglas ECA (Evento-Condición-Acción), permitiendo respuestas automáticas a cambios en los datos sin intervención manual del usuario.</a:t>
            </a:r>
          </a:p>
        </p:txBody>
      </p:sp>
      <p:sp>
        <p:nvSpPr>
          <p:cNvPr name="AutoShape 11" id="11"/>
          <p:cNvSpPr/>
          <p:nvPr/>
        </p:nvSpPr>
        <p:spPr>
          <a:xfrm flipH="true">
            <a:off x="7243889" y="4864833"/>
            <a:ext cx="0" cy="407194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226904" y="4798158"/>
            <a:ext cx="992738" cy="61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11"/>
              </a:lnSpc>
              <a:spcBef>
                <a:spcPct val="0"/>
              </a:spcBef>
            </a:pPr>
            <a:r>
              <a:rPr lang="en-US" b="true" sz="3650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96302" y="4816728"/>
            <a:ext cx="992738" cy="61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11"/>
              </a:lnSpc>
              <a:spcBef>
                <a:spcPct val="0"/>
              </a:spcBef>
            </a:pPr>
            <a:r>
              <a:rPr lang="en-US" b="true" sz="3650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78396" y="5568223"/>
            <a:ext cx="5279718" cy="48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2"/>
              </a:lnSpc>
              <a:spcBef>
                <a:spcPct val="0"/>
              </a:spcBef>
            </a:pPr>
            <a:r>
              <a:rPr lang="en-US" b="true" sz="2851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Reglas ECA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96327" y="5602443"/>
            <a:ext cx="5279718" cy="48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92"/>
              </a:lnSpc>
              <a:spcBef>
                <a:spcPct val="0"/>
              </a:spcBef>
            </a:pPr>
            <a:r>
              <a:rPr lang="en-US" b="true" sz="2851">
                <a:solidFill>
                  <a:srgbClr val="FD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Triggers y Automatización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6496" y="6382116"/>
            <a:ext cx="5279718" cy="2389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6"/>
              </a:lnSpc>
              <a:spcBef>
                <a:spcPct val="0"/>
              </a:spcBef>
            </a:pPr>
            <a:r>
              <a:rPr lang="en-US" sz="2290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• Evento: disparador (INSERT, UPDATE, DELETE)</a:t>
            </a:r>
          </a:p>
          <a:p>
            <a:pPr algn="l" marL="0" indent="0" lvl="0">
              <a:lnSpc>
                <a:spcPts val="3206"/>
              </a:lnSpc>
              <a:spcBef>
                <a:spcPct val="0"/>
              </a:spcBef>
            </a:pPr>
            <a:r>
              <a:rPr lang="en-US" sz="2290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• Condición: evaluación lógica que determina ejecución</a:t>
            </a:r>
          </a:p>
          <a:p>
            <a:pPr algn="l" marL="0" indent="0" lvl="0">
              <a:lnSpc>
                <a:spcPts val="3206"/>
              </a:lnSpc>
              <a:spcBef>
                <a:spcPct val="0"/>
              </a:spcBef>
            </a:pPr>
            <a:r>
              <a:rPr lang="en-US" sz="2290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• Acción: respuesta automática al cumplirse la condición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96327" y="6382116"/>
            <a:ext cx="5279718" cy="2389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06"/>
              </a:lnSpc>
              <a:spcBef>
                <a:spcPct val="0"/>
              </a:spcBef>
            </a:pPr>
            <a:r>
              <a:rPr lang="en-US" sz="2290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• Triggers: ejecutan código ante eventos específicos</a:t>
            </a:r>
          </a:p>
          <a:p>
            <a:pPr algn="just" marL="0" indent="0" lvl="0">
              <a:lnSpc>
                <a:spcPts val="3206"/>
              </a:lnSpc>
              <a:spcBef>
                <a:spcPct val="0"/>
              </a:spcBef>
            </a:pPr>
            <a:r>
              <a:rPr lang="en-US" sz="2290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• Procedimientos almacenados: lógica encapsulada</a:t>
            </a:r>
          </a:p>
          <a:p>
            <a:pPr algn="just" marL="0" indent="0" lvl="0">
              <a:lnSpc>
                <a:spcPts val="3206"/>
              </a:lnSpc>
              <a:spcBef>
                <a:spcPct val="0"/>
              </a:spcBef>
            </a:pPr>
            <a:r>
              <a:rPr lang="en-US" sz="2290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• Aplicaciones: auditoría, validaciones, sincronización de datos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379552"/>
            <a:ext cx="16230600" cy="5878748"/>
            <a:chOff x="0" y="0"/>
            <a:chExt cx="4530381" cy="16409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30381" cy="1640911"/>
            </a:xfrm>
            <a:custGeom>
              <a:avLst/>
              <a:gdLst/>
              <a:ahLst/>
              <a:cxnLst/>
              <a:rect r="r" b="b" t="t" l="l"/>
              <a:pathLst>
                <a:path h="1640911" w="4530381">
                  <a:moveTo>
                    <a:pt x="24327" y="0"/>
                  </a:moveTo>
                  <a:lnTo>
                    <a:pt x="4506054" y="0"/>
                  </a:lnTo>
                  <a:cubicBezTo>
                    <a:pt x="4519489" y="0"/>
                    <a:pt x="4530381" y="10891"/>
                    <a:pt x="4530381" y="24327"/>
                  </a:cubicBezTo>
                  <a:lnTo>
                    <a:pt x="4530381" y="1616584"/>
                  </a:lnTo>
                  <a:cubicBezTo>
                    <a:pt x="4530381" y="1623036"/>
                    <a:pt x="4527818" y="1629224"/>
                    <a:pt x="4523256" y="1633786"/>
                  </a:cubicBezTo>
                  <a:cubicBezTo>
                    <a:pt x="4518694" y="1638348"/>
                    <a:pt x="4512506" y="1640911"/>
                    <a:pt x="4506054" y="1640911"/>
                  </a:cubicBezTo>
                  <a:lnTo>
                    <a:pt x="24327" y="1640911"/>
                  </a:lnTo>
                  <a:cubicBezTo>
                    <a:pt x="10891" y="1640911"/>
                    <a:pt x="0" y="1630019"/>
                    <a:pt x="0" y="161658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30381" cy="1679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326820" y="209207"/>
            <a:ext cx="1411058" cy="70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2"/>
              </a:lnSpc>
              <a:spcBef>
                <a:spcPct val="0"/>
              </a:spcBef>
            </a:pPr>
            <a:r>
              <a:rPr lang="en-US" sz="4108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14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86687" y="1587435"/>
            <a:ext cx="8514625" cy="732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31"/>
              </a:lnSpc>
              <a:spcBef>
                <a:spcPct val="0"/>
              </a:spcBef>
            </a:pPr>
            <a:r>
              <a:rPr lang="en-US" b="true" sz="5496">
                <a:solidFill>
                  <a:srgbClr val="255E69"/>
                </a:solidFill>
                <a:latin typeface="Inter Bold"/>
                <a:ea typeface="Inter Bold"/>
                <a:cs typeface="Inter Bold"/>
                <a:sym typeface="Inter Bold"/>
              </a:rPr>
              <a:t>Conclusión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04990" y="4100418"/>
            <a:ext cx="14278021" cy="318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</a:pPr>
            <a:r>
              <a:rPr lang="en-US" sz="2299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El diseño avanzado de bases de datos es fundamental para construir sistemas robustos, escalables y eficientes que respondan a las demandas actuales de la industria tecnológica.</a:t>
            </a:r>
          </a:p>
          <a:p>
            <a:pPr algn="l" marL="0" indent="0" lvl="0">
              <a:lnSpc>
                <a:spcPts val="3219"/>
              </a:lnSpc>
            </a:pPr>
            <a:r>
              <a:rPr lang="en-US" sz="2299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La evolución tecnológica constante exige que los profesionales dominen múltiples paradigmas: relacional, orientado a objetos, NoSQL y modelos híbridos, permitiendo seleccionar la solución óptima según los requisitos específicos de cada proyecto.</a:t>
            </a:r>
          </a:p>
          <a:p>
            <a:pPr algn="l" marL="0" indent="0" lvl="0">
              <a:lnSpc>
                <a:spcPts val="3219"/>
              </a:lnSpc>
            </a:pPr>
            <a:r>
              <a:rPr lang="en-US" sz="2299">
                <a:solidFill>
                  <a:srgbClr val="FDFDFD"/>
                </a:solidFill>
                <a:latin typeface="Open Sans"/>
                <a:ea typeface="Open Sans"/>
                <a:cs typeface="Open Sans"/>
                <a:sym typeface="Open Sans"/>
              </a:rPr>
              <a:t>Estas competencias son esenciales para el Ingeniero en Informática moderno, preparándolo para enfrentar los desafíos de bases distribuidas, computación en la nube y Big Data que definirán el futuro del desarrollo de software.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67640"/>
            <a:ext cx="18288000" cy="10454640"/>
          </a:xfrm>
          <a:custGeom>
            <a:avLst/>
            <a:gdLst/>
            <a:ahLst/>
            <a:cxnLst/>
            <a:rect r="r" b="b" t="t" l="l"/>
            <a:pathLst>
              <a:path h="10454640" w="18288000">
                <a:moveTo>
                  <a:pt x="0" y="0"/>
                </a:moveTo>
                <a:lnTo>
                  <a:pt x="18288000" y="0"/>
                </a:lnTo>
                <a:lnTo>
                  <a:pt x="18288000" y="10454640"/>
                </a:lnTo>
                <a:lnTo>
                  <a:pt x="0" y="10454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8342228"/>
            <a:ext cx="18591887" cy="1944772"/>
            <a:chOff x="0" y="0"/>
            <a:chExt cx="4896629" cy="5122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96629" cy="512203"/>
            </a:xfrm>
            <a:custGeom>
              <a:avLst/>
              <a:gdLst/>
              <a:ahLst/>
              <a:cxnLst/>
              <a:rect r="r" b="b" t="t" l="l"/>
              <a:pathLst>
                <a:path h="512203" w="4896629">
                  <a:moveTo>
                    <a:pt x="0" y="0"/>
                  </a:moveTo>
                  <a:lnTo>
                    <a:pt x="4896629" y="0"/>
                  </a:lnTo>
                  <a:lnTo>
                    <a:pt x="4896629" y="512203"/>
                  </a:lnTo>
                  <a:lnTo>
                    <a:pt x="0" y="512203"/>
                  </a:lnTo>
                  <a:close/>
                </a:path>
              </a:pathLst>
            </a:custGeom>
            <a:solidFill>
              <a:srgbClr val="255E6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96629" cy="550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076335" y="3500167"/>
            <a:ext cx="970459" cy="988531"/>
          </a:xfrm>
          <a:custGeom>
            <a:avLst/>
            <a:gdLst/>
            <a:ahLst/>
            <a:cxnLst/>
            <a:rect r="r" b="b" t="t" l="l"/>
            <a:pathLst>
              <a:path h="988531" w="970459">
                <a:moveTo>
                  <a:pt x="0" y="0"/>
                </a:moveTo>
                <a:lnTo>
                  <a:pt x="970459" y="0"/>
                </a:lnTo>
                <a:lnTo>
                  <a:pt x="970459" y="988531"/>
                </a:lnTo>
                <a:lnTo>
                  <a:pt x="0" y="9885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736712" y="4524215"/>
            <a:ext cx="6814576" cy="116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4"/>
              </a:lnSpc>
            </a:pPr>
            <a:r>
              <a:rPr lang="en-US" b="true" sz="4623">
                <a:solidFill>
                  <a:srgbClr val="255E69"/>
                </a:solidFill>
                <a:latin typeface="Inter Bold"/>
                <a:ea typeface="Inter Bold"/>
                <a:cs typeface="Inter Bold"/>
                <a:sym typeface="Inter Bold"/>
              </a:rPr>
              <a:t>¡GRACIAS POR SU ATENCIÓN!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58504" y="3790504"/>
            <a:ext cx="3955612" cy="417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82"/>
              </a:lnSpc>
              <a:spcBef>
                <a:spcPct val="0"/>
              </a:spcBef>
            </a:pPr>
            <a:r>
              <a:rPr lang="en-US" sz="1201">
                <a:solidFill>
                  <a:srgbClr val="255E69"/>
                </a:solidFill>
                <a:latin typeface="DM Sans"/>
                <a:ea typeface="DM Sans"/>
                <a:cs typeface="DM Sans"/>
                <a:sym typeface="DM Sans"/>
              </a:rPr>
              <a:t>Universidad Politécnica Territorial del Estado Mérida "Kleber Ramírez"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DAHK6NQcwt0</dc:identifier>
  <dcterms:modified xsi:type="dcterms:W3CDTF">2011-08-01T06:04:30Z</dcterms:modified>
  <cp:revision>1</cp:revision>
  <dc:title>Unidad II: Diseño Avanzado en BD</dc:title>
</cp:coreProperties>
</file>