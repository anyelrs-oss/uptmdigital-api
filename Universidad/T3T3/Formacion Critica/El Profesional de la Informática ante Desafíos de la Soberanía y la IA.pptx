
<file path=[Content_Types].xml><?xml version="1.0" encoding="utf-8"?>
<Types xmlns="http://schemas.openxmlformats.org/package/2006/content-types">
  <Default ContentType="application/x-fontdata" Extension="fntdata"/>
  <Default ContentType="image/jpeg" Extension="jpeg"/>
  <Default ContentType="audio/m4a" Extension="m4a"/>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charset="1" panose="00000500000000000000"/>
      <p:regular r:id="rId18"/>
    </p:embeddedFont>
    <p:embeddedFont>
      <p:font typeface="Inter" charset="1" panose="0200050300000002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8.jpeg" Type="http://schemas.openxmlformats.org/officeDocument/2006/relationships/image"/><Relationship Id="rId6" Target="../media/aAGmPuR_PLg.m4a" Type="http://schemas.microsoft.com/office/2007/relationships/media"/><Relationship Id="rId7" Target="../media/aAGmPuR_PLg.m4a" Type="http://schemas.openxmlformats.org/officeDocument/2006/relationships/audio"/></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10800000">
            <a:off x="1028700" y="2419264"/>
            <a:ext cx="6370721" cy="8778300"/>
            <a:chOff x="0" y="0"/>
            <a:chExt cx="1677885" cy="2311980"/>
          </a:xfrm>
        </p:grpSpPr>
        <p:sp>
          <p:nvSpPr>
            <p:cNvPr name="Freeform 3" id="3"/>
            <p:cNvSpPr/>
            <p:nvPr/>
          </p:nvSpPr>
          <p:spPr>
            <a:xfrm flipH="false" flipV="false" rot="0">
              <a:off x="0" y="0"/>
              <a:ext cx="1677885" cy="2311980"/>
            </a:xfrm>
            <a:custGeom>
              <a:avLst/>
              <a:gdLst/>
              <a:ahLst/>
              <a:cxnLst/>
              <a:rect r="r" b="b" t="t" l="l"/>
              <a:pathLst>
                <a:path h="2311980" w="1677885">
                  <a:moveTo>
                    <a:pt x="0" y="0"/>
                  </a:moveTo>
                  <a:lnTo>
                    <a:pt x="1677885" y="0"/>
                  </a:lnTo>
                  <a:lnTo>
                    <a:pt x="1677885" y="2311980"/>
                  </a:lnTo>
                  <a:lnTo>
                    <a:pt x="0" y="2311980"/>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1677885" cy="2264355"/>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10800000">
            <a:off x="8022026" y="5143500"/>
            <a:ext cx="6370721" cy="6054064"/>
            <a:chOff x="0" y="0"/>
            <a:chExt cx="1677885" cy="1594486"/>
          </a:xfrm>
        </p:grpSpPr>
        <p:sp>
          <p:nvSpPr>
            <p:cNvPr name="Freeform 6" id="6"/>
            <p:cNvSpPr/>
            <p:nvPr/>
          </p:nvSpPr>
          <p:spPr>
            <a:xfrm flipH="false" flipV="false" rot="0">
              <a:off x="0" y="0"/>
              <a:ext cx="1677885" cy="1594486"/>
            </a:xfrm>
            <a:custGeom>
              <a:avLst/>
              <a:gdLst/>
              <a:ahLst/>
              <a:cxnLst/>
              <a:rect r="r" b="b" t="t" l="l"/>
              <a:pathLst>
                <a:path h="1594486" w="1677885">
                  <a:moveTo>
                    <a:pt x="0" y="0"/>
                  </a:moveTo>
                  <a:lnTo>
                    <a:pt x="1677885" y="0"/>
                  </a:lnTo>
                  <a:lnTo>
                    <a:pt x="1677885" y="1594486"/>
                  </a:lnTo>
                  <a:lnTo>
                    <a:pt x="0" y="1594486"/>
                  </a:lnTo>
                  <a:close/>
                </a:path>
              </a:pathLst>
            </a:custGeom>
            <a:gradFill rotWithShape="true">
              <a:gsLst>
                <a:gs pos="0">
                  <a:srgbClr val="028090">
                    <a:alpha val="100000"/>
                  </a:srgbClr>
                </a:gs>
                <a:gs pos="100000">
                  <a:srgbClr val="181717">
                    <a:alpha val="0"/>
                  </a:srgbClr>
                </a:gs>
              </a:gsLst>
              <a:lin ang="5400000"/>
            </a:gradFill>
          </p:spPr>
        </p:sp>
        <p:sp>
          <p:nvSpPr>
            <p:cNvPr name="TextBox 7" id="7"/>
            <p:cNvSpPr txBox="true"/>
            <p:nvPr/>
          </p:nvSpPr>
          <p:spPr>
            <a:xfrm>
              <a:off x="0" y="47625"/>
              <a:ext cx="1677885" cy="1546861"/>
            </a:xfrm>
            <a:prstGeom prst="rect">
              <a:avLst/>
            </a:prstGeom>
          </p:spPr>
          <p:txBody>
            <a:bodyPr anchor="ctr" rtlCol="false" tIns="50800" lIns="50800" bIns="50800" rIns="50800"/>
            <a:lstStyle/>
            <a:p>
              <a:pPr algn="ctr" marL="0" indent="0" lvl="0">
                <a:lnSpc>
                  <a:spcPts val="2160"/>
                </a:lnSpc>
              </a:pPr>
            </a:p>
          </p:txBody>
        </p:sp>
      </p:grpSp>
      <p:sp>
        <p:nvSpPr>
          <p:cNvPr name="AutoShape 8" id="8"/>
          <p:cNvSpPr/>
          <p:nvPr/>
        </p:nvSpPr>
        <p:spPr>
          <a:xfrm>
            <a:off x="9355732" y="7928793"/>
            <a:ext cx="4066657" cy="0"/>
          </a:xfrm>
          <a:prstGeom prst="line">
            <a:avLst/>
          </a:prstGeom>
          <a:ln cap="flat" w="38100">
            <a:solidFill>
              <a:srgbClr val="FFFFFF"/>
            </a:solidFill>
            <a:prstDash val="solid"/>
            <a:headEnd type="none" len="sm" w="sm"/>
            <a:tailEnd type="none" len="sm" w="sm"/>
          </a:ln>
        </p:spPr>
      </p:sp>
      <p:grpSp>
        <p:nvGrpSpPr>
          <p:cNvPr name="Group 9" id="9"/>
          <p:cNvGrpSpPr/>
          <p:nvPr/>
        </p:nvGrpSpPr>
        <p:grpSpPr>
          <a:xfrm rot="0">
            <a:off x="15690923" y="1605311"/>
            <a:ext cx="1076746" cy="1076746"/>
            <a:chOff x="0" y="0"/>
            <a:chExt cx="673100" cy="673100"/>
          </a:xfrm>
        </p:grpSpPr>
        <p:sp>
          <p:nvSpPr>
            <p:cNvPr name="Freeform 10" id="10"/>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02C39A"/>
            </a:solidFill>
          </p:spPr>
        </p:sp>
        <p:sp>
          <p:nvSpPr>
            <p:cNvPr name="TextBox 11" id="11"/>
            <p:cNvSpPr txBox="true"/>
            <p:nvPr/>
          </p:nvSpPr>
          <p:spPr>
            <a:xfrm>
              <a:off x="165100" y="212725"/>
              <a:ext cx="342900" cy="295275"/>
            </a:xfrm>
            <a:prstGeom prst="rect">
              <a:avLst/>
            </a:prstGeom>
          </p:spPr>
          <p:txBody>
            <a:bodyPr anchor="ctr" rtlCol="false" tIns="50800" lIns="50800" bIns="50800" rIns="50800"/>
            <a:lstStyle/>
            <a:p>
              <a:pPr algn="ctr" marL="0" indent="0" lvl="0">
                <a:lnSpc>
                  <a:spcPts val="2160"/>
                </a:lnSpc>
              </a:pPr>
            </a:p>
          </p:txBody>
        </p:sp>
      </p:grpSp>
      <p:sp>
        <p:nvSpPr>
          <p:cNvPr name="Freeform 12" id="12"/>
          <p:cNvSpPr/>
          <p:nvPr/>
        </p:nvSpPr>
        <p:spPr>
          <a:xfrm flipH="false" flipV="false" rot="0">
            <a:off x="1029908" y="955971"/>
            <a:ext cx="394196" cy="491973"/>
          </a:xfrm>
          <a:custGeom>
            <a:avLst/>
            <a:gdLst/>
            <a:ahLst/>
            <a:cxnLst/>
            <a:rect r="r" b="b" t="t" l="l"/>
            <a:pathLst>
              <a:path h="491973" w="394196">
                <a:moveTo>
                  <a:pt x="0" y="0"/>
                </a:moveTo>
                <a:lnTo>
                  <a:pt x="394196" y="0"/>
                </a:lnTo>
                <a:lnTo>
                  <a:pt x="394196" y="491973"/>
                </a:lnTo>
                <a:lnTo>
                  <a:pt x="0" y="491973"/>
                </a:lnTo>
                <a:lnTo>
                  <a:pt x="0" y="0"/>
                </a:lnTo>
                <a:close/>
              </a:path>
            </a:pathLst>
          </a:custGeom>
          <a:blipFill>
            <a:blip r:embed="rId2"/>
            <a:stretch>
              <a:fillRect l="0" t="0" r="0" b="0"/>
            </a:stretch>
          </a:blipFill>
        </p:spPr>
      </p:sp>
      <p:sp>
        <p:nvSpPr>
          <p:cNvPr name="Freeform 13" id="13"/>
          <p:cNvSpPr/>
          <p:nvPr/>
        </p:nvSpPr>
        <p:spPr>
          <a:xfrm flipH="false" flipV="false" rot="0">
            <a:off x="1028700" y="8609475"/>
            <a:ext cx="1196920" cy="648825"/>
          </a:xfrm>
          <a:custGeom>
            <a:avLst/>
            <a:gdLst/>
            <a:ahLst/>
            <a:cxnLst/>
            <a:rect r="r" b="b" t="t" l="l"/>
            <a:pathLst>
              <a:path h="648825" w="1196920">
                <a:moveTo>
                  <a:pt x="0" y="0"/>
                </a:moveTo>
                <a:lnTo>
                  <a:pt x="1196920" y="0"/>
                </a:lnTo>
                <a:lnTo>
                  <a:pt x="1196920" y="648825"/>
                </a:lnTo>
                <a:lnTo>
                  <a:pt x="0" y="648825"/>
                </a:lnTo>
                <a:lnTo>
                  <a:pt x="0" y="0"/>
                </a:lnTo>
                <a:close/>
              </a:path>
            </a:pathLst>
          </a:custGeom>
          <a:blipFill>
            <a:blip r:embed="rId3">
              <a:extLst>
                <a:ext uri="{96DAC541-7B7A-43D3-8B79-37D633B846F1}">
                  <asvg:svgBlip xmlns:asvg="http://schemas.microsoft.com/office/drawing/2016/SVG/main" r:embed="rId4"/>
                </a:ext>
              </a:extLst>
            </a:blip>
            <a:stretch>
              <a:fillRect l="0" t="-116048" r="-113998" b="0"/>
            </a:stretch>
          </a:blipFill>
        </p:spPr>
      </p:sp>
      <p:sp>
        <p:nvSpPr>
          <p:cNvPr name="TextBox 14" id="14"/>
          <p:cNvSpPr txBox="true"/>
          <p:nvPr/>
        </p:nvSpPr>
        <p:spPr>
          <a:xfrm rot="0">
            <a:off x="9355732" y="2729682"/>
            <a:ext cx="7903568" cy="2797730"/>
          </a:xfrm>
          <a:prstGeom prst="rect">
            <a:avLst/>
          </a:prstGeom>
        </p:spPr>
        <p:txBody>
          <a:bodyPr anchor="t" rtlCol="false" tIns="0" lIns="0" bIns="0" rIns="0">
            <a:spAutoFit/>
          </a:bodyPr>
          <a:lstStyle/>
          <a:p>
            <a:pPr algn="l" marL="0" indent="0" lvl="0">
              <a:lnSpc>
                <a:spcPts val="4341"/>
              </a:lnSpc>
            </a:pPr>
            <a:r>
              <a:rPr lang="en-US" sz="4475" spc="-85">
                <a:solidFill>
                  <a:srgbClr val="FFFFFF"/>
                </a:solidFill>
                <a:latin typeface="Poppins"/>
                <a:ea typeface="Poppins"/>
                <a:cs typeface="Poppins"/>
                <a:sym typeface="Poppins"/>
              </a:rPr>
              <a:t>El Profesional de la Informática ante los Desafíos de la Soberanía, la Ética y el Poder Transformador de la</a:t>
            </a:r>
          </a:p>
        </p:txBody>
      </p:sp>
      <p:sp>
        <p:nvSpPr>
          <p:cNvPr name="TextBox 15" id="15"/>
          <p:cNvSpPr txBox="true"/>
          <p:nvPr/>
        </p:nvSpPr>
        <p:spPr>
          <a:xfrm rot="0">
            <a:off x="9355732" y="5361113"/>
            <a:ext cx="7903568" cy="626030"/>
          </a:xfrm>
          <a:prstGeom prst="rect">
            <a:avLst/>
          </a:prstGeom>
        </p:spPr>
        <p:txBody>
          <a:bodyPr anchor="t" rtlCol="false" tIns="0" lIns="0" bIns="0" rIns="0">
            <a:spAutoFit/>
          </a:bodyPr>
          <a:lstStyle/>
          <a:p>
            <a:pPr algn="l" marL="0" indent="0" lvl="0">
              <a:lnSpc>
                <a:spcPts val="4341"/>
              </a:lnSpc>
            </a:pPr>
            <a:r>
              <a:rPr lang="en-US" sz="4475" spc="-85">
                <a:solidFill>
                  <a:srgbClr val="02C39A"/>
                </a:solidFill>
                <a:latin typeface="Poppins"/>
                <a:ea typeface="Poppins"/>
                <a:cs typeface="Poppins"/>
                <a:sym typeface="Poppins"/>
              </a:rPr>
              <a:t>IA</a:t>
            </a:r>
          </a:p>
        </p:txBody>
      </p:sp>
      <p:sp>
        <p:nvSpPr>
          <p:cNvPr name="TextBox 16" id="16"/>
          <p:cNvSpPr txBox="true"/>
          <p:nvPr/>
        </p:nvSpPr>
        <p:spPr>
          <a:xfrm rot="0">
            <a:off x="9355732" y="8010535"/>
            <a:ext cx="4276726" cy="1159779"/>
          </a:xfrm>
          <a:prstGeom prst="rect">
            <a:avLst/>
          </a:prstGeom>
        </p:spPr>
        <p:txBody>
          <a:bodyPr anchor="t" rtlCol="false" tIns="0" lIns="0" bIns="0" rIns="0">
            <a:spAutoFit/>
          </a:bodyPr>
          <a:lstStyle/>
          <a:p>
            <a:pPr algn="l" marL="0" indent="0" lvl="0">
              <a:lnSpc>
                <a:spcPts val="3045"/>
              </a:lnSpc>
            </a:pPr>
            <a:r>
              <a:rPr lang="en-US" sz="2398" spc="-45">
                <a:solidFill>
                  <a:srgbClr val="FFFFFF"/>
                </a:solidFill>
                <a:latin typeface="Poppins"/>
                <a:ea typeface="Poppins"/>
                <a:cs typeface="Poppins"/>
                <a:sym typeface="Poppins"/>
              </a:rPr>
              <a:t>A</a:t>
            </a:r>
            <a:r>
              <a:rPr lang="en-US" sz="2398" spc="-45" strike="noStrike" u="none">
                <a:solidFill>
                  <a:srgbClr val="FFFFFF"/>
                </a:solidFill>
                <a:latin typeface="Poppins"/>
                <a:ea typeface="Poppins"/>
                <a:cs typeface="Poppins"/>
                <a:sym typeface="Poppins"/>
              </a:rPr>
              <a:t>ngel Peña 24.349.651 | Rubén Ramirez 16.020.185 | Joancarlo Rodrigo 15.990.701</a:t>
            </a:r>
          </a:p>
        </p:txBody>
      </p:sp>
      <p:sp>
        <p:nvSpPr>
          <p:cNvPr name="TextBox 17" id="17"/>
          <p:cNvSpPr txBox="true"/>
          <p:nvPr/>
        </p:nvSpPr>
        <p:spPr>
          <a:xfrm rot="0">
            <a:off x="1582283" y="1064455"/>
            <a:ext cx="2075906" cy="272458"/>
          </a:xfrm>
          <a:prstGeom prst="rect">
            <a:avLst/>
          </a:prstGeom>
        </p:spPr>
        <p:txBody>
          <a:bodyPr anchor="t" rtlCol="false" tIns="0" lIns="0" bIns="0" rIns="0">
            <a:spAutoFit/>
          </a:bodyPr>
          <a:lstStyle/>
          <a:p>
            <a:pPr algn="l" marL="0" indent="0" lvl="0">
              <a:lnSpc>
                <a:spcPts val="2278"/>
              </a:lnSpc>
            </a:pPr>
            <a:r>
              <a:rPr lang="en-US" sz="1498">
                <a:solidFill>
                  <a:srgbClr val="FFFFFF"/>
                </a:solidFill>
                <a:latin typeface="Inter"/>
                <a:ea typeface="Inter"/>
                <a:cs typeface="Inter"/>
                <a:sym typeface="Inter"/>
              </a:rPr>
              <a:t>Universidad</a:t>
            </a:r>
          </a:p>
        </p:txBody>
      </p:sp>
      <p:pic>
        <p:nvPicPr>
          <p:cNvPr name="Picture 18" id="18">
            <a:hlinkClick action="ppaction://media"/>
          </p:cNvPr>
          <p:cNvPicPr>
            <a:picLocks noChangeAspect="true"/>
          </p:cNvPicPr>
          <p:nvPr>
            <a:audioFile r:link="rId7"/>
            <p:extLst>
              <p:ext uri="{DAA4B4D4-6D71-4841-9C94-3DE7FCFB9230}">
                <p14:media xmlns:p14="http://schemas.microsoft.com/office/powerpoint/2010/main" r:embed="rId6"/>
              </p:ext>
            </p:extLst>
          </p:nvPr>
        </p:nvPicPr>
        <p:blipFill>
          <a:blip r:embed="rId5"/>
          <a:stretch>
            <a:fillRect/>
          </a:stretch>
        </p:blipFill>
        <p:spPr>
          <a:xfrm>
            <a:off x="8629650" y="4629150"/>
            <a:ext cx="1028700" cy="1028700"/>
          </a:xfrm>
          <a:prstGeom prst="rect">
            <a:avLst/>
          </a:prstGeom>
        </p:spPr>
      </p:pic>
    </p:spTree>
  </p:cSld>
  <p:clrMapOvr>
    <a:masterClrMapping/>
  </p:clrMapOvr>
  <p:timing>
    <p:tnLst>
      <p:par>
        <p:cTn dur="indefinite" restart="never" nodeType="tmRoot">
          <p:childTnLst>
            <p:cmd cmd="playFrom(0.0)">
              <p:cBhvr>
                <p:cTn/>
                <p:tgtEl>
                  <p:spTgt spid="18"/>
                </p:tgtEl>
              </p:cBhvr>
            </p:cmd>
            <p:audio>
              <p:cMediaNode vol="100000" showWhenStopped="false">
                <p:cTn/>
                <p:tgtEl>
                  <p:spTgt spid="18"/>
                </p:tgtEl>
              </p:cMediaNode>
            </p:audio>
          </p:childTnLst>
        </p:cTn>
      </p:par>
    </p:tnLst>
  </p:timing>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0">
            <a:off x="8017763" y="0"/>
            <a:ext cx="9241537" cy="6075972"/>
            <a:chOff x="0" y="0"/>
            <a:chExt cx="2433985" cy="1600256"/>
          </a:xfrm>
        </p:grpSpPr>
        <p:sp>
          <p:nvSpPr>
            <p:cNvPr name="Freeform 3" id="3"/>
            <p:cNvSpPr/>
            <p:nvPr/>
          </p:nvSpPr>
          <p:spPr>
            <a:xfrm flipH="false" flipV="false" rot="0">
              <a:off x="0" y="0"/>
              <a:ext cx="2433985" cy="1600256"/>
            </a:xfrm>
            <a:custGeom>
              <a:avLst/>
              <a:gdLst/>
              <a:ahLst/>
              <a:cxnLst/>
              <a:rect r="r" b="b" t="t" l="l"/>
              <a:pathLst>
                <a:path h="1600256" w="2433985">
                  <a:moveTo>
                    <a:pt x="0" y="0"/>
                  </a:moveTo>
                  <a:lnTo>
                    <a:pt x="2433985" y="0"/>
                  </a:lnTo>
                  <a:lnTo>
                    <a:pt x="2433985" y="1600256"/>
                  </a:lnTo>
                  <a:lnTo>
                    <a:pt x="0" y="1600256"/>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2433985" cy="1552631"/>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0">
            <a:off x="8904111" y="1028700"/>
            <a:ext cx="7468841" cy="8229600"/>
            <a:chOff x="0" y="0"/>
            <a:chExt cx="1157119" cy="1274980"/>
          </a:xfrm>
        </p:grpSpPr>
        <p:sp>
          <p:nvSpPr>
            <p:cNvPr name="Freeform 6" id="6"/>
            <p:cNvSpPr/>
            <p:nvPr/>
          </p:nvSpPr>
          <p:spPr>
            <a:xfrm flipH="false" flipV="false" rot="0">
              <a:off x="0" y="0"/>
              <a:ext cx="1157119" cy="1274980"/>
            </a:xfrm>
            <a:custGeom>
              <a:avLst/>
              <a:gdLst/>
              <a:ahLst/>
              <a:cxnLst/>
              <a:rect r="r" b="b" t="t" l="l"/>
              <a:pathLst>
                <a:path h="1274980" w="1157119">
                  <a:moveTo>
                    <a:pt x="0" y="0"/>
                  </a:moveTo>
                  <a:lnTo>
                    <a:pt x="1157119" y="0"/>
                  </a:lnTo>
                  <a:lnTo>
                    <a:pt x="1157119" y="1274980"/>
                  </a:lnTo>
                  <a:lnTo>
                    <a:pt x="0" y="1274980"/>
                  </a:lnTo>
                  <a:close/>
                </a:path>
              </a:pathLst>
            </a:custGeom>
            <a:blipFill>
              <a:blip r:embed="rId2"/>
              <a:stretch>
                <a:fillRect l="-5092" t="0" r="-5092" b="0"/>
              </a:stretch>
            </a:blipFill>
          </p:spPr>
        </p:sp>
      </p:grpSp>
      <p:sp>
        <p:nvSpPr>
          <p:cNvPr name="Freeform 7" id="7"/>
          <p:cNvSpPr/>
          <p:nvPr/>
        </p:nvSpPr>
        <p:spPr>
          <a:xfrm flipH="false" flipV="false" rot="0">
            <a:off x="7069660" y="704287"/>
            <a:ext cx="1196920" cy="648825"/>
          </a:xfrm>
          <a:custGeom>
            <a:avLst/>
            <a:gdLst/>
            <a:ahLst/>
            <a:cxnLst/>
            <a:rect r="r" b="b" t="t" l="l"/>
            <a:pathLst>
              <a:path h="648825" w="1196920">
                <a:moveTo>
                  <a:pt x="0" y="0"/>
                </a:moveTo>
                <a:lnTo>
                  <a:pt x="1196920" y="0"/>
                </a:lnTo>
                <a:lnTo>
                  <a:pt x="1196920" y="648826"/>
                </a:lnTo>
                <a:lnTo>
                  <a:pt x="0" y="648826"/>
                </a:lnTo>
                <a:lnTo>
                  <a:pt x="0" y="0"/>
                </a:lnTo>
                <a:close/>
              </a:path>
            </a:pathLst>
          </a:custGeom>
          <a:blipFill>
            <a:blip r:embed="rId3">
              <a:extLst>
                <a:ext uri="{96DAC541-7B7A-43D3-8B79-37D633B846F1}">
                  <asvg:svgBlip xmlns:asvg="http://schemas.microsoft.com/office/drawing/2016/SVG/main" r:embed="rId4"/>
                </a:ext>
              </a:extLst>
            </a:blip>
            <a:stretch>
              <a:fillRect l="0" t="-116048" r="-113998" b="0"/>
            </a:stretch>
          </a:blipFill>
        </p:spPr>
      </p:sp>
      <p:grpSp>
        <p:nvGrpSpPr>
          <p:cNvPr name="Group 8" id="8"/>
          <p:cNvGrpSpPr/>
          <p:nvPr/>
        </p:nvGrpSpPr>
        <p:grpSpPr>
          <a:xfrm rot="0">
            <a:off x="15802910" y="8719927"/>
            <a:ext cx="1140084" cy="1076746"/>
            <a:chOff x="0" y="0"/>
            <a:chExt cx="685800" cy="647700"/>
          </a:xfrm>
        </p:grpSpPr>
        <p:sp>
          <p:nvSpPr>
            <p:cNvPr name="Freeform 9" id="9"/>
            <p:cNvSpPr/>
            <p:nvPr/>
          </p:nvSpPr>
          <p:spPr>
            <a:xfrm flipH="false" flipV="false" rot="0">
              <a:off x="0" y="0"/>
              <a:ext cx="685800" cy="647700"/>
            </a:xfrm>
            <a:custGeom>
              <a:avLst/>
              <a:gdLst/>
              <a:ahLst/>
              <a:cxnLst/>
              <a:rect r="r" b="b" t="t" l="l"/>
              <a:pathLst>
                <a:path h="647700" w="6858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02C39A"/>
            </a:solidFill>
          </p:spPr>
        </p:sp>
        <p:sp>
          <p:nvSpPr>
            <p:cNvPr name="TextBox 10" id="10"/>
            <p:cNvSpPr txBox="true"/>
            <p:nvPr/>
          </p:nvSpPr>
          <p:spPr>
            <a:xfrm>
              <a:off x="171450" y="200025"/>
              <a:ext cx="342900" cy="295275"/>
            </a:xfrm>
            <a:prstGeom prst="rect">
              <a:avLst/>
            </a:prstGeom>
          </p:spPr>
          <p:txBody>
            <a:bodyPr anchor="ctr" rtlCol="false" tIns="50800" lIns="50800" bIns="50800" rIns="50800"/>
            <a:lstStyle/>
            <a:p>
              <a:pPr algn="ctr" marL="0" indent="0" lvl="0">
                <a:lnSpc>
                  <a:spcPts val="2160"/>
                </a:lnSpc>
              </a:pPr>
            </a:p>
          </p:txBody>
        </p:sp>
      </p:grpSp>
      <p:sp>
        <p:nvSpPr>
          <p:cNvPr name="TextBox 11" id="11"/>
          <p:cNvSpPr txBox="true"/>
          <p:nvPr/>
        </p:nvSpPr>
        <p:spPr>
          <a:xfrm rot="0">
            <a:off x="1028700" y="4359037"/>
            <a:ext cx="5503940" cy="1921686"/>
          </a:xfrm>
          <a:prstGeom prst="rect">
            <a:avLst/>
          </a:prstGeom>
        </p:spPr>
        <p:txBody>
          <a:bodyPr anchor="t" rtlCol="false" tIns="0" lIns="0" bIns="0" rIns="0">
            <a:spAutoFit/>
          </a:bodyPr>
          <a:lstStyle/>
          <a:p>
            <a:pPr algn="l" marL="0" indent="0" lvl="0">
              <a:lnSpc>
                <a:spcPts val="2582"/>
              </a:lnSpc>
            </a:pPr>
            <a:r>
              <a:rPr lang="en-US" sz="1698">
                <a:solidFill>
                  <a:srgbClr val="FFFFFF"/>
                </a:solidFill>
                <a:latin typeface="Inter"/>
                <a:ea typeface="Inter"/>
                <a:cs typeface="Inter"/>
                <a:sym typeface="Inter"/>
              </a:rPr>
              <a:t>Vivimos una era de aceleración geopolítica sin precedentes. La tecnología digital ha redefinido las estructuras de poder global, transformando la manera en que las naciones, empresas y ciudadanos interactúan en un mundo cada vez más interconectado.</a:t>
            </a:r>
          </a:p>
        </p:txBody>
      </p:sp>
      <p:sp>
        <p:nvSpPr>
          <p:cNvPr name="TextBox 12" id="12"/>
          <p:cNvSpPr txBox="true"/>
          <p:nvPr/>
        </p:nvSpPr>
        <p:spPr>
          <a:xfrm rot="0">
            <a:off x="1028700" y="6563087"/>
            <a:ext cx="5503940" cy="1273986"/>
          </a:xfrm>
          <a:prstGeom prst="rect">
            <a:avLst/>
          </a:prstGeom>
        </p:spPr>
        <p:txBody>
          <a:bodyPr anchor="t" rtlCol="false" tIns="0" lIns="0" bIns="0" rIns="0">
            <a:spAutoFit/>
          </a:bodyPr>
          <a:lstStyle/>
          <a:p>
            <a:pPr algn="l" marL="0" indent="0" lvl="0">
              <a:lnSpc>
                <a:spcPts val="2582"/>
              </a:lnSpc>
            </a:pPr>
            <a:r>
              <a:rPr lang="en-US" sz="1698">
                <a:solidFill>
                  <a:srgbClr val="FFFFFF"/>
                </a:solidFill>
                <a:latin typeface="Inter"/>
                <a:ea typeface="Inter"/>
                <a:cs typeface="Inter"/>
                <a:sym typeface="Inter"/>
              </a:rPr>
              <a:t>El concepto de "Aldea Global" cobra nueva relevancia: las fronteras físicas se difuminan mientras las redes digitales crean nuevas formas de interdependencia, oportunidades y desafíos geopolíticos.</a:t>
            </a:r>
          </a:p>
        </p:txBody>
      </p:sp>
      <p:sp>
        <p:nvSpPr>
          <p:cNvPr name="TextBox 13" id="13"/>
          <p:cNvSpPr txBox="true"/>
          <p:nvPr/>
        </p:nvSpPr>
        <p:spPr>
          <a:xfrm rot="0">
            <a:off x="1028700" y="2183276"/>
            <a:ext cx="4911195" cy="721192"/>
          </a:xfrm>
          <a:prstGeom prst="rect">
            <a:avLst/>
          </a:prstGeom>
        </p:spPr>
        <p:txBody>
          <a:bodyPr anchor="t" rtlCol="false" tIns="0" lIns="0" bIns="0" rIns="0">
            <a:spAutoFit/>
          </a:bodyPr>
          <a:lstStyle/>
          <a:p>
            <a:pPr algn="l" marL="0" indent="0" lvl="0">
              <a:lnSpc>
                <a:spcPts val="4970"/>
              </a:lnSpc>
            </a:pPr>
            <a:r>
              <a:rPr lang="en-US" sz="5124" spc="-97">
                <a:solidFill>
                  <a:srgbClr val="FFFFFF"/>
                </a:solidFill>
                <a:latin typeface="Poppins"/>
                <a:ea typeface="Poppins"/>
                <a:cs typeface="Poppins"/>
                <a:sym typeface="Poppins"/>
              </a:rPr>
              <a:t>La Aldea Global</a:t>
            </a:r>
          </a:p>
        </p:txBody>
      </p:sp>
      <p:sp>
        <p:nvSpPr>
          <p:cNvPr name="TextBox 14" id="14"/>
          <p:cNvSpPr txBox="true"/>
          <p:nvPr/>
        </p:nvSpPr>
        <p:spPr>
          <a:xfrm rot="0">
            <a:off x="1028700" y="2945276"/>
            <a:ext cx="4911195" cy="721192"/>
          </a:xfrm>
          <a:prstGeom prst="rect">
            <a:avLst/>
          </a:prstGeom>
        </p:spPr>
        <p:txBody>
          <a:bodyPr anchor="t" rtlCol="false" tIns="0" lIns="0" bIns="0" rIns="0">
            <a:spAutoFit/>
          </a:bodyPr>
          <a:lstStyle/>
          <a:p>
            <a:pPr algn="l" marL="0" indent="0" lvl="0">
              <a:lnSpc>
                <a:spcPts val="4970"/>
              </a:lnSpc>
            </a:pPr>
            <a:r>
              <a:rPr lang="en-US" sz="5124" spc="-97">
                <a:solidFill>
                  <a:srgbClr val="02C39A"/>
                </a:solidFill>
                <a:latin typeface="Poppins"/>
                <a:ea typeface="Poppins"/>
                <a:cs typeface="Poppins"/>
                <a:sym typeface="Poppins"/>
              </a:rPr>
              <a:t>Introducción</a:t>
            </a:r>
          </a:p>
        </p:txBody>
      </p:sp>
    </p:spTree>
  </p:cSld>
  <p:clrMapOvr>
    <a:masterClrMapping/>
  </p:clrMapOvr>
  <p:transition spd="slow">
    <p:push dir="r"/>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10800000">
            <a:off x="1028700" y="2241354"/>
            <a:ext cx="6269090" cy="8045646"/>
            <a:chOff x="0" y="0"/>
            <a:chExt cx="1651118" cy="2119018"/>
          </a:xfrm>
        </p:grpSpPr>
        <p:sp>
          <p:nvSpPr>
            <p:cNvPr name="Freeform 3" id="3"/>
            <p:cNvSpPr/>
            <p:nvPr/>
          </p:nvSpPr>
          <p:spPr>
            <a:xfrm flipH="false" flipV="false" rot="0">
              <a:off x="0" y="0"/>
              <a:ext cx="1651118" cy="2119018"/>
            </a:xfrm>
            <a:custGeom>
              <a:avLst/>
              <a:gdLst/>
              <a:ahLst/>
              <a:cxnLst/>
              <a:rect r="r" b="b" t="t" l="l"/>
              <a:pathLst>
                <a:path h="2119018" w="1651118">
                  <a:moveTo>
                    <a:pt x="0" y="0"/>
                  </a:moveTo>
                  <a:lnTo>
                    <a:pt x="1651118" y="0"/>
                  </a:lnTo>
                  <a:lnTo>
                    <a:pt x="1651118" y="2119018"/>
                  </a:lnTo>
                  <a:lnTo>
                    <a:pt x="0" y="2119018"/>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1651118" cy="2071393"/>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10800000">
            <a:off x="8381748" y="3958341"/>
            <a:ext cx="6269090" cy="6328659"/>
            <a:chOff x="0" y="0"/>
            <a:chExt cx="1651118" cy="1666807"/>
          </a:xfrm>
        </p:grpSpPr>
        <p:sp>
          <p:nvSpPr>
            <p:cNvPr name="Freeform 6" id="6"/>
            <p:cNvSpPr/>
            <p:nvPr/>
          </p:nvSpPr>
          <p:spPr>
            <a:xfrm flipH="false" flipV="false" rot="0">
              <a:off x="0" y="0"/>
              <a:ext cx="1651118" cy="1666807"/>
            </a:xfrm>
            <a:custGeom>
              <a:avLst/>
              <a:gdLst/>
              <a:ahLst/>
              <a:cxnLst/>
              <a:rect r="r" b="b" t="t" l="l"/>
              <a:pathLst>
                <a:path h="1666807" w="1651118">
                  <a:moveTo>
                    <a:pt x="0" y="0"/>
                  </a:moveTo>
                  <a:lnTo>
                    <a:pt x="1651118" y="0"/>
                  </a:lnTo>
                  <a:lnTo>
                    <a:pt x="1651118" y="1666807"/>
                  </a:lnTo>
                  <a:lnTo>
                    <a:pt x="0" y="1666807"/>
                  </a:lnTo>
                  <a:close/>
                </a:path>
              </a:pathLst>
            </a:custGeom>
            <a:gradFill rotWithShape="true">
              <a:gsLst>
                <a:gs pos="0">
                  <a:srgbClr val="028090">
                    <a:alpha val="100000"/>
                  </a:srgbClr>
                </a:gs>
                <a:gs pos="100000">
                  <a:srgbClr val="181717">
                    <a:alpha val="0"/>
                  </a:srgbClr>
                </a:gs>
              </a:gsLst>
              <a:lin ang="5400000"/>
            </a:gradFill>
          </p:spPr>
        </p:sp>
        <p:sp>
          <p:nvSpPr>
            <p:cNvPr name="TextBox 7" id="7"/>
            <p:cNvSpPr txBox="true"/>
            <p:nvPr/>
          </p:nvSpPr>
          <p:spPr>
            <a:xfrm>
              <a:off x="0" y="47625"/>
              <a:ext cx="1651118" cy="1619182"/>
            </a:xfrm>
            <a:prstGeom prst="rect">
              <a:avLst/>
            </a:prstGeom>
          </p:spPr>
          <p:txBody>
            <a:bodyPr anchor="ctr" rtlCol="false" tIns="50800" lIns="50800" bIns="50800" rIns="50800"/>
            <a:lstStyle/>
            <a:p>
              <a:pPr algn="ctr" marL="0" indent="0" lvl="0">
                <a:lnSpc>
                  <a:spcPts val="2160"/>
                </a:lnSpc>
              </a:pPr>
            </a:p>
          </p:txBody>
        </p:sp>
      </p:grpSp>
      <p:sp>
        <p:nvSpPr>
          <p:cNvPr name="Freeform 8" id="8"/>
          <p:cNvSpPr/>
          <p:nvPr/>
        </p:nvSpPr>
        <p:spPr>
          <a:xfrm flipH="false" flipV="false" rot="0">
            <a:off x="1028700" y="8609475"/>
            <a:ext cx="1196920" cy="648825"/>
          </a:xfrm>
          <a:custGeom>
            <a:avLst/>
            <a:gdLst/>
            <a:ahLst/>
            <a:cxnLst/>
            <a:rect r="r" b="b" t="t" l="l"/>
            <a:pathLst>
              <a:path h="648825" w="1196920">
                <a:moveTo>
                  <a:pt x="0" y="0"/>
                </a:moveTo>
                <a:lnTo>
                  <a:pt x="1196920" y="0"/>
                </a:lnTo>
                <a:lnTo>
                  <a:pt x="1196920" y="648825"/>
                </a:lnTo>
                <a:lnTo>
                  <a:pt x="0" y="648825"/>
                </a:lnTo>
                <a:lnTo>
                  <a:pt x="0" y="0"/>
                </a:lnTo>
                <a:close/>
              </a:path>
            </a:pathLst>
          </a:custGeom>
          <a:blipFill>
            <a:blip r:embed="rId2">
              <a:extLst>
                <a:ext uri="{96DAC541-7B7A-43D3-8B79-37D633B846F1}">
                  <asvg:svgBlip xmlns:asvg="http://schemas.microsoft.com/office/drawing/2016/SVG/main" r:embed="rId3"/>
                </a:ext>
              </a:extLst>
            </a:blip>
            <a:stretch>
              <a:fillRect l="0" t="-116048" r="-113998" b="0"/>
            </a:stretch>
          </a:blipFill>
        </p:spPr>
      </p:sp>
      <p:sp>
        <p:nvSpPr>
          <p:cNvPr name="TextBox 9" id="9"/>
          <p:cNvSpPr txBox="true"/>
          <p:nvPr/>
        </p:nvSpPr>
        <p:spPr>
          <a:xfrm rot="0">
            <a:off x="11761246" y="3407661"/>
            <a:ext cx="5498054" cy="1273986"/>
          </a:xfrm>
          <a:prstGeom prst="rect">
            <a:avLst/>
          </a:prstGeom>
        </p:spPr>
        <p:txBody>
          <a:bodyPr anchor="t" rtlCol="false" tIns="0" lIns="0" bIns="0" rIns="0">
            <a:spAutoFit/>
          </a:bodyPr>
          <a:lstStyle/>
          <a:p>
            <a:pPr algn="l" marL="0" indent="0" lvl="0">
              <a:lnSpc>
                <a:spcPts val="2582"/>
              </a:lnSpc>
            </a:pPr>
            <a:r>
              <a:rPr lang="en-US" sz="1698">
                <a:solidFill>
                  <a:srgbClr val="FFFFFF"/>
                </a:solidFill>
                <a:latin typeface="Inter"/>
                <a:ea typeface="Inter"/>
                <a:cs typeface="Inter"/>
                <a:sym typeface="Inter"/>
              </a:rPr>
              <a:t>La autodeterminación tecnológica es fundamental para la independencia de las naciones. La seguridad nacional en el ciberespacio requiere control soberano sobre datos e infraestructura crítica.</a:t>
            </a:r>
          </a:p>
        </p:txBody>
      </p:sp>
      <p:sp>
        <p:nvSpPr>
          <p:cNvPr name="TextBox 10" id="10"/>
          <p:cNvSpPr txBox="true"/>
          <p:nvPr/>
        </p:nvSpPr>
        <p:spPr>
          <a:xfrm rot="0">
            <a:off x="11761246" y="4918584"/>
            <a:ext cx="5498054" cy="1597836"/>
          </a:xfrm>
          <a:prstGeom prst="rect">
            <a:avLst/>
          </a:prstGeom>
        </p:spPr>
        <p:txBody>
          <a:bodyPr anchor="t" rtlCol="false" tIns="0" lIns="0" bIns="0" rIns="0">
            <a:spAutoFit/>
          </a:bodyPr>
          <a:lstStyle/>
          <a:p>
            <a:pPr algn="l" marL="0" indent="0" lvl="0">
              <a:lnSpc>
                <a:spcPts val="2582"/>
              </a:lnSpc>
            </a:pPr>
            <a:r>
              <a:rPr lang="en-US" sz="1698">
                <a:solidFill>
                  <a:srgbClr val="FFFFFF"/>
                </a:solidFill>
                <a:latin typeface="Inter"/>
                <a:ea typeface="Inter"/>
                <a:cs typeface="Inter"/>
                <a:sym typeface="Inter"/>
              </a:rPr>
              <a:t>"El control de la infraestructura tecnológica determina la capacidad de una nación para proteger sus intereses estratégicos y garantizar la privacidad de sus ciudadanos."</a:t>
            </a:r>
          </a:p>
          <a:p>
            <a:pPr algn="l" marL="0" indent="0" lvl="0">
              <a:lnSpc>
                <a:spcPts val="2582"/>
              </a:lnSpc>
            </a:pPr>
            <a:r>
              <a:rPr lang="en-US" sz="1698">
                <a:solidFill>
                  <a:srgbClr val="FFFFFF"/>
                </a:solidFill>
                <a:latin typeface="Inter"/>
                <a:ea typeface="Inter"/>
                <a:cs typeface="Inter"/>
                <a:sym typeface="Inter"/>
              </a:rPr>
              <a:t>— Luis Fernando Pinto (2021)</a:t>
            </a:r>
          </a:p>
        </p:txBody>
      </p:sp>
      <p:sp>
        <p:nvSpPr>
          <p:cNvPr name="TextBox 11" id="11"/>
          <p:cNvSpPr txBox="true"/>
          <p:nvPr/>
        </p:nvSpPr>
        <p:spPr>
          <a:xfrm rot="0">
            <a:off x="11761246" y="1104900"/>
            <a:ext cx="5498054" cy="866775"/>
          </a:xfrm>
          <a:prstGeom prst="rect">
            <a:avLst/>
          </a:prstGeom>
        </p:spPr>
        <p:txBody>
          <a:bodyPr anchor="t" rtlCol="false" tIns="0" lIns="0" bIns="0" rIns="0">
            <a:spAutoFit/>
          </a:bodyPr>
          <a:lstStyle/>
          <a:p>
            <a:pPr algn="l" marL="0" indent="0" lvl="0">
              <a:lnSpc>
                <a:spcPts val="6009"/>
              </a:lnSpc>
            </a:pPr>
            <a:r>
              <a:rPr lang="en-US" sz="6195" spc="-117">
                <a:solidFill>
                  <a:srgbClr val="FFFFFF"/>
                </a:solidFill>
                <a:latin typeface="Poppins"/>
                <a:ea typeface="Poppins"/>
                <a:cs typeface="Poppins"/>
                <a:sym typeface="Poppins"/>
              </a:rPr>
              <a:t>Soberanía</a:t>
            </a:r>
          </a:p>
        </p:txBody>
      </p:sp>
      <p:sp>
        <p:nvSpPr>
          <p:cNvPr name="TextBox 12" id="12"/>
          <p:cNvSpPr txBox="true"/>
          <p:nvPr/>
        </p:nvSpPr>
        <p:spPr>
          <a:xfrm rot="0">
            <a:off x="11761246" y="1866900"/>
            <a:ext cx="5498054" cy="866775"/>
          </a:xfrm>
          <a:prstGeom prst="rect">
            <a:avLst/>
          </a:prstGeom>
        </p:spPr>
        <p:txBody>
          <a:bodyPr anchor="t" rtlCol="false" tIns="0" lIns="0" bIns="0" rIns="0">
            <a:spAutoFit/>
          </a:bodyPr>
          <a:lstStyle/>
          <a:p>
            <a:pPr algn="l" marL="0" indent="0" lvl="0">
              <a:lnSpc>
                <a:spcPts val="6009"/>
              </a:lnSpc>
            </a:pPr>
            <a:r>
              <a:rPr lang="en-US" sz="6195" spc="-117">
                <a:solidFill>
                  <a:srgbClr val="02C39A"/>
                </a:solidFill>
                <a:latin typeface="Poppins"/>
                <a:ea typeface="Poppins"/>
                <a:cs typeface="Poppins"/>
                <a:sym typeface="Poppins"/>
              </a:rPr>
              <a:t>Digital</a:t>
            </a:r>
          </a:p>
        </p:txBody>
      </p:sp>
      <p:sp>
        <p:nvSpPr>
          <p:cNvPr name="Freeform 13" id="13"/>
          <p:cNvSpPr/>
          <p:nvPr/>
        </p:nvSpPr>
        <p:spPr>
          <a:xfrm flipH="false" flipV="false" rot="0">
            <a:off x="960352" y="711301"/>
            <a:ext cx="1027136" cy="1405892"/>
          </a:xfrm>
          <a:custGeom>
            <a:avLst/>
            <a:gdLst/>
            <a:ahLst/>
            <a:cxnLst/>
            <a:rect r="r" b="b" t="t" l="l"/>
            <a:pathLst>
              <a:path h="1405892" w="1027136">
                <a:moveTo>
                  <a:pt x="0" y="0"/>
                </a:moveTo>
                <a:lnTo>
                  <a:pt x="1027136" y="0"/>
                </a:lnTo>
                <a:lnTo>
                  <a:pt x="1027136" y="1405892"/>
                </a:lnTo>
                <a:lnTo>
                  <a:pt x="0" y="1405892"/>
                </a:lnTo>
                <a:lnTo>
                  <a:pt x="0" y="0"/>
                </a:lnTo>
                <a:close/>
              </a:path>
            </a:pathLst>
          </a:custGeom>
          <a:blipFill>
            <a:blip r:embed="rId4"/>
            <a:stretch>
              <a:fillRect l="0" t="0" r="0" b="0"/>
            </a:stretch>
          </a:blipFill>
        </p:spPr>
      </p:sp>
    </p:spTree>
  </p:cSld>
  <p:clrMapOvr>
    <a:masterClrMapping/>
  </p:clrMapOvr>
  <p:transition spd="slow">
    <p:push dir="r"/>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0">
            <a:off x="10990210" y="-300473"/>
            <a:ext cx="6269090" cy="8045646"/>
            <a:chOff x="0" y="0"/>
            <a:chExt cx="1651118" cy="2119018"/>
          </a:xfrm>
        </p:grpSpPr>
        <p:sp>
          <p:nvSpPr>
            <p:cNvPr name="Freeform 3" id="3"/>
            <p:cNvSpPr/>
            <p:nvPr/>
          </p:nvSpPr>
          <p:spPr>
            <a:xfrm flipH="false" flipV="false" rot="0">
              <a:off x="0" y="0"/>
              <a:ext cx="1651118" cy="2119018"/>
            </a:xfrm>
            <a:custGeom>
              <a:avLst/>
              <a:gdLst/>
              <a:ahLst/>
              <a:cxnLst/>
              <a:rect r="r" b="b" t="t" l="l"/>
              <a:pathLst>
                <a:path h="2119018" w="1651118">
                  <a:moveTo>
                    <a:pt x="0" y="0"/>
                  </a:moveTo>
                  <a:lnTo>
                    <a:pt x="1651118" y="0"/>
                  </a:lnTo>
                  <a:lnTo>
                    <a:pt x="1651118" y="2119018"/>
                  </a:lnTo>
                  <a:lnTo>
                    <a:pt x="0" y="2119018"/>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1651118" cy="2071393"/>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0">
            <a:off x="3637162" y="-300473"/>
            <a:ext cx="6269090" cy="6328659"/>
            <a:chOff x="0" y="0"/>
            <a:chExt cx="1651118" cy="1666807"/>
          </a:xfrm>
        </p:grpSpPr>
        <p:sp>
          <p:nvSpPr>
            <p:cNvPr name="Freeform 6" id="6"/>
            <p:cNvSpPr/>
            <p:nvPr/>
          </p:nvSpPr>
          <p:spPr>
            <a:xfrm flipH="false" flipV="false" rot="0">
              <a:off x="0" y="0"/>
              <a:ext cx="1651118" cy="1666807"/>
            </a:xfrm>
            <a:custGeom>
              <a:avLst/>
              <a:gdLst/>
              <a:ahLst/>
              <a:cxnLst/>
              <a:rect r="r" b="b" t="t" l="l"/>
              <a:pathLst>
                <a:path h="1666807" w="1651118">
                  <a:moveTo>
                    <a:pt x="0" y="0"/>
                  </a:moveTo>
                  <a:lnTo>
                    <a:pt x="1651118" y="0"/>
                  </a:lnTo>
                  <a:lnTo>
                    <a:pt x="1651118" y="1666807"/>
                  </a:lnTo>
                  <a:lnTo>
                    <a:pt x="0" y="1666807"/>
                  </a:lnTo>
                  <a:close/>
                </a:path>
              </a:pathLst>
            </a:custGeom>
            <a:gradFill rotWithShape="true">
              <a:gsLst>
                <a:gs pos="0">
                  <a:srgbClr val="028090">
                    <a:alpha val="100000"/>
                  </a:srgbClr>
                </a:gs>
                <a:gs pos="100000">
                  <a:srgbClr val="181717">
                    <a:alpha val="0"/>
                  </a:srgbClr>
                </a:gs>
              </a:gsLst>
              <a:lin ang="5400000"/>
            </a:gradFill>
          </p:spPr>
        </p:sp>
        <p:sp>
          <p:nvSpPr>
            <p:cNvPr name="TextBox 7" id="7"/>
            <p:cNvSpPr txBox="true"/>
            <p:nvPr/>
          </p:nvSpPr>
          <p:spPr>
            <a:xfrm>
              <a:off x="0" y="47625"/>
              <a:ext cx="1651118" cy="1619182"/>
            </a:xfrm>
            <a:prstGeom prst="rect">
              <a:avLst/>
            </a:prstGeom>
          </p:spPr>
          <p:txBody>
            <a:bodyPr anchor="ctr" rtlCol="false" tIns="50800" lIns="50800" bIns="50800" rIns="50800"/>
            <a:lstStyle/>
            <a:p>
              <a:pPr algn="ctr" marL="0" indent="0" lvl="0">
                <a:lnSpc>
                  <a:spcPts val="2160"/>
                </a:lnSpc>
              </a:pPr>
            </a:p>
          </p:txBody>
        </p:sp>
      </p:grpSp>
      <p:sp>
        <p:nvSpPr>
          <p:cNvPr name="Freeform 8" id="8"/>
          <p:cNvSpPr/>
          <p:nvPr/>
        </p:nvSpPr>
        <p:spPr>
          <a:xfrm flipH="false" flipV="false" rot="0">
            <a:off x="16110914" y="841608"/>
            <a:ext cx="1079636" cy="1082342"/>
          </a:xfrm>
          <a:custGeom>
            <a:avLst/>
            <a:gdLst/>
            <a:ahLst/>
            <a:cxnLst/>
            <a:rect r="r" b="b" t="t" l="l"/>
            <a:pathLst>
              <a:path h="1082342" w="1079636">
                <a:moveTo>
                  <a:pt x="0" y="0"/>
                </a:moveTo>
                <a:lnTo>
                  <a:pt x="1079635" y="0"/>
                </a:lnTo>
                <a:lnTo>
                  <a:pt x="1079635" y="1082342"/>
                </a:lnTo>
                <a:lnTo>
                  <a:pt x="0" y="1082342"/>
                </a:lnTo>
                <a:lnTo>
                  <a:pt x="0" y="0"/>
                </a:lnTo>
                <a:close/>
              </a:path>
            </a:pathLst>
          </a:custGeom>
          <a:blipFill>
            <a:blip r:embed="rId2"/>
            <a:stretch>
              <a:fillRect l="0" t="0" r="0" b="0"/>
            </a:stretch>
          </a:blipFill>
        </p:spPr>
      </p:sp>
      <p:grpSp>
        <p:nvGrpSpPr>
          <p:cNvPr name="Group 9" id="9"/>
          <p:cNvGrpSpPr/>
          <p:nvPr/>
        </p:nvGrpSpPr>
        <p:grpSpPr>
          <a:xfrm rot="0">
            <a:off x="16119216" y="8181554"/>
            <a:ext cx="1140084" cy="1076746"/>
            <a:chOff x="0" y="0"/>
            <a:chExt cx="685800" cy="647700"/>
          </a:xfrm>
        </p:grpSpPr>
        <p:sp>
          <p:nvSpPr>
            <p:cNvPr name="Freeform 10" id="10"/>
            <p:cNvSpPr/>
            <p:nvPr/>
          </p:nvSpPr>
          <p:spPr>
            <a:xfrm flipH="false" flipV="false" rot="0">
              <a:off x="0" y="0"/>
              <a:ext cx="685800" cy="647700"/>
            </a:xfrm>
            <a:custGeom>
              <a:avLst/>
              <a:gdLst/>
              <a:ahLst/>
              <a:cxnLst/>
              <a:rect r="r" b="b" t="t" l="l"/>
              <a:pathLst>
                <a:path h="647700" w="6858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02C39A"/>
            </a:solidFill>
          </p:spPr>
        </p:sp>
        <p:sp>
          <p:nvSpPr>
            <p:cNvPr name="TextBox 11" id="11"/>
            <p:cNvSpPr txBox="true"/>
            <p:nvPr/>
          </p:nvSpPr>
          <p:spPr>
            <a:xfrm>
              <a:off x="171450" y="200025"/>
              <a:ext cx="342900" cy="295275"/>
            </a:xfrm>
            <a:prstGeom prst="rect">
              <a:avLst/>
            </a:prstGeom>
          </p:spPr>
          <p:txBody>
            <a:bodyPr anchor="ctr" rtlCol="false" tIns="50800" lIns="50800" bIns="50800" rIns="50800"/>
            <a:lstStyle/>
            <a:p>
              <a:pPr algn="ctr" marL="0" indent="0" lvl="0">
                <a:lnSpc>
                  <a:spcPts val="2160"/>
                </a:lnSpc>
              </a:pPr>
            </a:p>
          </p:txBody>
        </p:sp>
      </p:grpSp>
      <p:sp>
        <p:nvSpPr>
          <p:cNvPr name="TextBox 12" id="12"/>
          <p:cNvSpPr txBox="true"/>
          <p:nvPr/>
        </p:nvSpPr>
        <p:spPr>
          <a:xfrm rot="0">
            <a:off x="1028700" y="6188435"/>
            <a:ext cx="6221027" cy="1273986"/>
          </a:xfrm>
          <a:prstGeom prst="rect">
            <a:avLst/>
          </a:prstGeom>
        </p:spPr>
        <p:txBody>
          <a:bodyPr anchor="t" rtlCol="false" tIns="0" lIns="0" bIns="0" rIns="0">
            <a:spAutoFit/>
          </a:bodyPr>
          <a:lstStyle/>
          <a:p>
            <a:pPr algn="l" marL="0" indent="0" lvl="0">
              <a:lnSpc>
                <a:spcPts val="2582"/>
              </a:lnSpc>
            </a:pPr>
            <a:r>
              <a:rPr lang="en-US" sz="1698">
                <a:solidFill>
                  <a:srgbClr val="FFFFFF"/>
                </a:solidFill>
                <a:latin typeface="Inter"/>
                <a:ea typeface="Inter"/>
                <a:cs typeface="Inter"/>
                <a:sym typeface="Inter"/>
              </a:rPr>
              <a:t>La ética constituye una normativa obligatoria para todo profesional de la informática. Los códigos de conducta establecen responsabilidades claras frente a la sociedad y guían las decisiones tecnológicas con integridad.</a:t>
            </a:r>
          </a:p>
        </p:txBody>
      </p:sp>
      <p:sp>
        <p:nvSpPr>
          <p:cNvPr name="TextBox 13" id="13"/>
          <p:cNvSpPr txBox="true"/>
          <p:nvPr/>
        </p:nvSpPr>
        <p:spPr>
          <a:xfrm rot="0">
            <a:off x="1028700" y="7660513"/>
            <a:ext cx="6221027" cy="1597836"/>
          </a:xfrm>
          <a:prstGeom prst="rect">
            <a:avLst/>
          </a:prstGeom>
        </p:spPr>
        <p:txBody>
          <a:bodyPr anchor="t" rtlCol="false" tIns="0" lIns="0" bIns="0" rIns="0">
            <a:spAutoFit/>
          </a:bodyPr>
          <a:lstStyle/>
          <a:p>
            <a:pPr algn="l" marL="0" indent="0" lvl="0">
              <a:lnSpc>
                <a:spcPts val="2582"/>
              </a:lnSpc>
            </a:pPr>
            <a:r>
              <a:rPr lang="en-US" sz="1698">
                <a:solidFill>
                  <a:srgbClr val="FFFFFF"/>
                </a:solidFill>
                <a:latin typeface="Inter"/>
                <a:ea typeface="Inter"/>
                <a:cs typeface="Inter"/>
                <a:sym typeface="Inter"/>
              </a:rPr>
              <a:t>"Vivimos en una infosfera donde la información es el tejido fundamental de la realidad. El profesional informático tiene la responsabilidad ética de proteger y cultivar este ecosistema digital."</a:t>
            </a:r>
          </a:p>
          <a:p>
            <a:pPr algn="l" marL="0" indent="0" lvl="0">
              <a:lnSpc>
                <a:spcPts val="2582"/>
              </a:lnSpc>
            </a:pPr>
            <a:r>
              <a:rPr lang="en-US" sz="1698">
                <a:solidFill>
                  <a:srgbClr val="FFFFFF"/>
                </a:solidFill>
                <a:latin typeface="Inter"/>
                <a:ea typeface="Inter"/>
                <a:cs typeface="Inter"/>
                <a:sym typeface="Inter"/>
              </a:rPr>
              <a:t>— Luciano Floridi</a:t>
            </a:r>
          </a:p>
        </p:txBody>
      </p:sp>
      <p:sp>
        <p:nvSpPr>
          <p:cNvPr name="TextBox 14" id="14"/>
          <p:cNvSpPr txBox="true"/>
          <p:nvPr/>
        </p:nvSpPr>
        <p:spPr>
          <a:xfrm rot="0">
            <a:off x="1028700" y="3885673"/>
            <a:ext cx="5743007" cy="866775"/>
          </a:xfrm>
          <a:prstGeom prst="rect">
            <a:avLst/>
          </a:prstGeom>
        </p:spPr>
        <p:txBody>
          <a:bodyPr anchor="t" rtlCol="false" tIns="0" lIns="0" bIns="0" rIns="0">
            <a:spAutoFit/>
          </a:bodyPr>
          <a:lstStyle/>
          <a:p>
            <a:pPr algn="l" marL="0" indent="0" lvl="0">
              <a:lnSpc>
                <a:spcPts val="6009"/>
              </a:lnSpc>
            </a:pPr>
            <a:r>
              <a:rPr lang="en-US" sz="6195" spc="-117">
                <a:solidFill>
                  <a:srgbClr val="FFFFFF"/>
                </a:solidFill>
                <a:latin typeface="Poppins"/>
                <a:ea typeface="Poppins"/>
                <a:cs typeface="Poppins"/>
                <a:sym typeface="Poppins"/>
              </a:rPr>
              <a:t>Deontología</a:t>
            </a:r>
          </a:p>
        </p:txBody>
      </p:sp>
      <p:sp>
        <p:nvSpPr>
          <p:cNvPr name="TextBox 15" id="15"/>
          <p:cNvSpPr txBox="true"/>
          <p:nvPr/>
        </p:nvSpPr>
        <p:spPr>
          <a:xfrm rot="0">
            <a:off x="1028700" y="4647673"/>
            <a:ext cx="5743007" cy="866775"/>
          </a:xfrm>
          <a:prstGeom prst="rect">
            <a:avLst/>
          </a:prstGeom>
        </p:spPr>
        <p:txBody>
          <a:bodyPr anchor="t" rtlCol="false" tIns="0" lIns="0" bIns="0" rIns="0">
            <a:spAutoFit/>
          </a:bodyPr>
          <a:lstStyle/>
          <a:p>
            <a:pPr algn="l" marL="0" indent="0" lvl="0">
              <a:lnSpc>
                <a:spcPts val="6009"/>
              </a:lnSpc>
            </a:pPr>
            <a:r>
              <a:rPr lang="en-US" sz="6195" spc="-117">
                <a:solidFill>
                  <a:srgbClr val="02C39A"/>
                </a:solidFill>
                <a:latin typeface="Poppins"/>
                <a:ea typeface="Poppins"/>
                <a:cs typeface="Poppins"/>
                <a:sym typeface="Poppins"/>
              </a:rPr>
              <a:t>Profesional</a:t>
            </a:r>
          </a:p>
        </p:txBody>
      </p:sp>
    </p:spTree>
  </p:cSld>
  <p:clrMapOvr>
    <a:masterClrMapping/>
  </p:clrMapOvr>
  <p:transition spd="slow">
    <p:push dir="r"/>
  </p:transition>
</p:sld>
</file>

<file path=ppt/slides/slide5.xml><?xml version="1.0" encoding="utf-8"?>
<p:sld xmlns:p="http://schemas.openxmlformats.org/presentationml/2006/main" xmlns:a="http://schemas.openxmlformats.org/drawingml/2006/main">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5400000">
            <a:off x="-1266311" y="436132"/>
            <a:ext cx="10287000" cy="9414736"/>
            <a:chOff x="0" y="0"/>
            <a:chExt cx="2709333" cy="2479601"/>
          </a:xfrm>
        </p:grpSpPr>
        <p:sp>
          <p:nvSpPr>
            <p:cNvPr name="Freeform 3" id="3"/>
            <p:cNvSpPr/>
            <p:nvPr/>
          </p:nvSpPr>
          <p:spPr>
            <a:xfrm flipH="false" flipV="false" rot="0">
              <a:off x="0" y="0"/>
              <a:ext cx="2709333" cy="2479601"/>
            </a:xfrm>
            <a:custGeom>
              <a:avLst/>
              <a:gdLst/>
              <a:ahLst/>
              <a:cxnLst/>
              <a:rect r="r" b="b" t="t" l="l"/>
              <a:pathLst>
                <a:path h="2479601" w="2709333">
                  <a:moveTo>
                    <a:pt x="0" y="0"/>
                  </a:moveTo>
                  <a:lnTo>
                    <a:pt x="2709333" y="0"/>
                  </a:lnTo>
                  <a:lnTo>
                    <a:pt x="2709333" y="2479601"/>
                  </a:lnTo>
                  <a:lnTo>
                    <a:pt x="0" y="2479601"/>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2709333" cy="2431976"/>
            </a:xfrm>
            <a:prstGeom prst="rect">
              <a:avLst/>
            </a:prstGeom>
          </p:spPr>
          <p:txBody>
            <a:bodyPr anchor="ctr" rtlCol="false" tIns="50800" lIns="50800" bIns="50800" rIns="50800"/>
            <a:lstStyle/>
            <a:p>
              <a:pPr algn="ctr" marL="0" indent="0" lvl="0">
                <a:lnSpc>
                  <a:spcPts val="2160"/>
                </a:lnSpc>
              </a:pPr>
            </a:p>
          </p:txBody>
        </p:sp>
      </p:grpSp>
      <p:sp>
        <p:nvSpPr>
          <p:cNvPr name="TextBox 5" id="5"/>
          <p:cNvSpPr txBox="true"/>
          <p:nvPr/>
        </p:nvSpPr>
        <p:spPr>
          <a:xfrm rot="0">
            <a:off x="1028700" y="4367149"/>
            <a:ext cx="6960793" cy="1460259"/>
          </a:xfrm>
          <a:prstGeom prst="rect">
            <a:avLst/>
          </a:prstGeom>
        </p:spPr>
        <p:txBody>
          <a:bodyPr anchor="t" rtlCol="false" tIns="0" lIns="0" bIns="0" rIns="0">
            <a:spAutoFit/>
          </a:bodyPr>
          <a:lstStyle/>
          <a:p>
            <a:pPr algn="l" marL="0" indent="0" lvl="0">
              <a:lnSpc>
                <a:spcPts val="5474"/>
              </a:lnSpc>
            </a:pPr>
            <a:r>
              <a:rPr lang="en-US" sz="5643" spc="-107">
                <a:solidFill>
                  <a:srgbClr val="FFFFFF"/>
                </a:solidFill>
                <a:latin typeface="Poppins"/>
                <a:ea typeface="Poppins"/>
                <a:cs typeface="Poppins"/>
                <a:sym typeface="Poppins"/>
              </a:rPr>
              <a:t>Ética de la Inteligencia Artificial</a:t>
            </a:r>
          </a:p>
        </p:txBody>
      </p:sp>
      <p:grpSp>
        <p:nvGrpSpPr>
          <p:cNvPr name="Group 6" id="6"/>
          <p:cNvGrpSpPr/>
          <p:nvPr/>
        </p:nvGrpSpPr>
        <p:grpSpPr>
          <a:xfrm rot="0">
            <a:off x="10021863" y="1028700"/>
            <a:ext cx="7237437" cy="2282997"/>
            <a:chOff x="0" y="0"/>
            <a:chExt cx="1906156" cy="601283"/>
          </a:xfrm>
        </p:grpSpPr>
        <p:sp>
          <p:nvSpPr>
            <p:cNvPr name="Freeform 7" id="7"/>
            <p:cNvSpPr/>
            <p:nvPr/>
          </p:nvSpPr>
          <p:spPr>
            <a:xfrm flipH="false" flipV="false" rot="0">
              <a:off x="0" y="0"/>
              <a:ext cx="1906156" cy="601283"/>
            </a:xfrm>
            <a:custGeom>
              <a:avLst/>
              <a:gdLst/>
              <a:ahLst/>
              <a:cxnLst/>
              <a:rect r="r" b="b" t="t" l="l"/>
              <a:pathLst>
                <a:path h="601283" w="1906156">
                  <a:moveTo>
                    <a:pt x="0" y="0"/>
                  </a:moveTo>
                  <a:lnTo>
                    <a:pt x="1906156" y="0"/>
                  </a:lnTo>
                  <a:lnTo>
                    <a:pt x="1906156" y="601283"/>
                  </a:lnTo>
                  <a:lnTo>
                    <a:pt x="0" y="601283"/>
                  </a:lnTo>
                  <a:close/>
                </a:path>
              </a:pathLst>
            </a:custGeom>
            <a:solidFill>
              <a:srgbClr val="028090"/>
            </a:solidFill>
          </p:spPr>
        </p:sp>
        <p:sp>
          <p:nvSpPr>
            <p:cNvPr name="TextBox 8" id="8"/>
            <p:cNvSpPr txBox="true"/>
            <p:nvPr/>
          </p:nvSpPr>
          <p:spPr>
            <a:xfrm>
              <a:off x="0" y="47625"/>
              <a:ext cx="1906156" cy="553658"/>
            </a:xfrm>
            <a:prstGeom prst="rect">
              <a:avLst/>
            </a:prstGeom>
          </p:spPr>
          <p:txBody>
            <a:bodyPr anchor="ctr" rtlCol="false" tIns="50800" lIns="50800" bIns="50800" rIns="50800"/>
            <a:lstStyle/>
            <a:p>
              <a:pPr algn="ctr" marL="0" indent="0" lvl="0">
                <a:lnSpc>
                  <a:spcPts val="2160"/>
                </a:lnSpc>
              </a:pPr>
            </a:p>
          </p:txBody>
        </p:sp>
      </p:grpSp>
      <p:grpSp>
        <p:nvGrpSpPr>
          <p:cNvPr name="Group 9" id="9"/>
          <p:cNvGrpSpPr/>
          <p:nvPr/>
        </p:nvGrpSpPr>
        <p:grpSpPr>
          <a:xfrm rot="0">
            <a:off x="9338271" y="1480768"/>
            <a:ext cx="1367184" cy="1378860"/>
            <a:chOff x="0" y="0"/>
            <a:chExt cx="360081" cy="363157"/>
          </a:xfrm>
        </p:grpSpPr>
        <p:sp>
          <p:nvSpPr>
            <p:cNvPr name="Freeform 10" id="10"/>
            <p:cNvSpPr/>
            <p:nvPr/>
          </p:nvSpPr>
          <p:spPr>
            <a:xfrm flipH="false" flipV="false" rot="0">
              <a:off x="0" y="0"/>
              <a:ext cx="360081" cy="363157"/>
            </a:xfrm>
            <a:custGeom>
              <a:avLst/>
              <a:gdLst/>
              <a:ahLst/>
              <a:cxnLst/>
              <a:rect r="r" b="b" t="t" l="l"/>
              <a:pathLst>
                <a:path h="363157" w="360081">
                  <a:moveTo>
                    <a:pt x="0" y="0"/>
                  </a:moveTo>
                  <a:lnTo>
                    <a:pt x="360081" y="0"/>
                  </a:lnTo>
                  <a:lnTo>
                    <a:pt x="360081" y="363157"/>
                  </a:lnTo>
                  <a:lnTo>
                    <a:pt x="0" y="363157"/>
                  </a:lnTo>
                  <a:close/>
                </a:path>
              </a:pathLst>
            </a:custGeom>
            <a:solidFill>
              <a:srgbClr val="02C39A"/>
            </a:solidFill>
          </p:spPr>
        </p:sp>
        <p:sp>
          <p:nvSpPr>
            <p:cNvPr name="TextBox 11" id="11"/>
            <p:cNvSpPr txBox="true"/>
            <p:nvPr/>
          </p:nvSpPr>
          <p:spPr>
            <a:xfrm>
              <a:off x="0" y="47625"/>
              <a:ext cx="360081" cy="315532"/>
            </a:xfrm>
            <a:prstGeom prst="rect">
              <a:avLst/>
            </a:prstGeom>
          </p:spPr>
          <p:txBody>
            <a:bodyPr anchor="ctr" rtlCol="false" tIns="50800" lIns="50800" bIns="50800" rIns="50800"/>
            <a:lstStyle/>
            <a:p>
              <a:pPr algn="ctr" marL="0" indent="0" lvl="0">
                <a:lnSpc>
                  <a:spcPts val="2160"/>
                </a:lnSpc>
              </a:pPr>
            </a:p>
          </p:txBody>
        </p:sp>
      </p:grpSp>
      <p:grpSp>
        <p:nvGrpSpPr>
          <p:cNvPr name="Group 12" id="12"/>
          <p:cNvGrpSpPr/>
          <p:nvPr/>
        </p:nvGrpSpPr>
        <p:grpSpPr>
          <a:xfrm rot="0">
            <a:off x="10021863" y="4002002"/>
            <a:ext cx="7237437" cy="2282997"/>
            <a:chOff x="0" y="0"/>
            <a:chExt cx="1906156" cy="601283"/>
          </a:xfrm>
        </p:grpSpPr>
        <p:sp>
          <p:nvSpPr>
            <p:cNvPr name="Freeform 13" id="13"/>
            <p:cNvSpPr/>
            <p:nvPr/>
          </p:nvSpPr>
          <p:spPr>
            <a:xfrm flipH="false" flipV="false" rot="0">
              <a:off x="0" y="0"/>
              <a:ext cx="1906156" cy="601283"/>
            </a:xfrm>
            <a:custGeom>
              <a:avLst/>
              <a:gdLst/>
              <a:ahLst/>
              <a:cxnLst/>
              <a:rect r="r" b="b" t="t" l="l"/>
              <a:pathLst>
                <a:path h="601283" w="1906156">
                  <a:moveTo>
                    <a:pt x="0" y="0"/>
                  </a:moveTo>
                  <a:lnTo>
                    <a:pt x="1906156" y="0"/>
                  </a:lnTo>
                  <a:lnTo>
                    <a:pt x="1906156" y="601283"/>
                  </a:lnTo>
                  <a:lnTo>
                    <a:pt x="0" y="601283"/>
                  </a:lnTo>
                  <a:close/>
                </a:path>
              </a:pathLst>
            </a:custGeom>
            <a:solidFill>
              <a:srgbClr val="028090"/>
            </a:solidFill>
          </p:spPr>
        </p:sp>
        <p:sp>
          <p:nvSpPr>
            <p:cNvPr name="TextBox 14" id="14"/>
            <p:cNvSpPr txBox="true"/>
            <p:nvPr/>
          </p:nvSpPr>
          <p:spPr>
            <a:xfrm>
              <a:off x="0" y="47625"/>
              <a:ext cx="1906156" cy="553658"/>
            </a:xfrm>
            <a:prstGeom prst="rect">
              <a:avLst/>
            </a:prstGeom>
          </p:spPr>
          <p:txBody>
            <a:bodyPr anchor="ctr" rtlCol="false" tIns="50800" lIns="50800" bIns="50800" rIns="50800"/>
            <a:lstStyle/>
            <a:p>
              <a:pPr algn="ctr" marL="0" indent="0" lvl="0">
                <a:lnSpc>
                  <a:spcPts val="2160"/>
                </a:lnSpc>
              </a:pPr>
            </a:p>
          </p:txBody>
        </p:sp>
      </p:grpSp>
      <p:grpSp>
        <p:nvGrpSpPr>
          <p:cNvPr name="Group 15" id="15"/>
          <p:cNvGrpSpPr/>
          <p:nvPr/>
        </p:nvGrpSpPr>
        <p:grpSpPr>
          <a:xfrm rot="0">
            <a:off x="9338271" y="4454070"/>
            <a:ext cx="1367184" cy="1378860"/>
            <a:chOff x="0" y="0"/>
            <a:chExt cx="360081" cy="363157"/>
          </a:xfrm>
        </p:grpSpPr>
        <p:sp>
          <p:nvSpPr>
            <p:cNvPr name="Freeform 16" id="16"/>
            <p:cNvSpPr/>
            <p:nvPr/>
          </p:nvSpPr>
          <p:spPr>
            <a:xfrm flipH="false" flipV="false" rot="0">
              <a:off x="0" y="0"/>
              <a:ext cx="360081" cy="363157"/>
            </a:xfrm>
            <a:custGeom>
              <a:avLst/>
              <a:gdLst/>
              <a:ahLst/>
              <a:cxnLst/>
              <a:rect r="r" b="b" t="t" l="l"/>
              <a:pathLst>
                <a:path h="363157" w="360081">
                  <a:moveTo>
                    <a:pt x="0" y="0"/>
                  </a:moveTo>
                  <a:lnTo>
                    <a:pt x="360081" y="0"/>
                  </a:lnTo>
                  <a:lnTo>
                    <a:pt x="360081" y="363157"/>
                  </a:lnTo>
                  <a:lnTo>
                    <a:pt x="0" y="363157"/>
                  </a:lnTo>
                  <a:close/>
                </a:path>
              </a:pathLst>
            </a:custGeom>
            <a:solidFill>
              <a:srgbClr val="02C39A"/>
            </a:solidFill>
          </p:spPr>
        </p:sp>
        <p:sp>
          <p:nvSpPr>
            <p:cNvPr name="TextBox 17" id="17"/>
            <p:cNvSpPr txBox="true"/>
            <p:nvPr/>
          </p:nvSpPr>
          <p:spPr>
            <a:xfrm>
              <a:off x="0" y="47625"/>
              <a:ext cx="360081" cy="315532"/>
            </a:xfrm>
            <a:prstGeom prst="rect">
              <a:avLst/>
            </a:prstGeom>
          </p:spPr>
          <p:txBody>
            <a:bodyPr anchor="ctr" rtlCol="false" tIns="50800" lIns="50800" bIns="50800" rIns="50800"/>
            <a:lstStyle/>
            <a:p>
              <a:pPr algn="ctr" marL="0" indent="0" lvl="0">
                <a:lnSpc>
                  <a:spcPts val="2160"/>
                </a:lnSpc>
              </a:pPr>
            </a:p>
          </p:txBody>
        </p:sp>
      </p:grpSp>
      <p:grpSp>
        <p:nvGrpSpPr>
          <p:cNvPr name="Group 18" id="18"/>
          <p:cNvGrpSpPr/>
          <p:nvPr/>
        </p:nvGrpSpPr>
        <p:grpSpPr>
          <a:xfrm rot="0">
            <a:off x="10021863" y="6970798"/>
            <a:ext cx="7237437" cy="2282997"/>
            <a:chOff x="0" y="0"/>
            <a:chExt cx="1906156" cy="601283"/>
          </a:xfrm>
        </p:grpSpPr>
        <p:sp>
          <p:nvSpPr>
            <p:cNvPr name="Freeform 19" id="19"/>
            <p:cNvSpPr/>
            <p:nvPr/>
          </p:nvSpPr>
          <p:spPr>
            <a:xfrm flipH="false" flipV="false" rot="0">
              <a:off x="0" y="0"/>
              <a:ext cx="1906156" cy="601283"/>
            </a:xfrm>
            <a:custGeom>
              <a:avLst/>
              <a:gdLst/>
              <a:ahLst/>
              <a:cxnLst/>
              <a:rect r="r" b="b" t="t" l="l"/>
              <a:pathLst>
                <a:path h="601283" w="1906156">
                  <a:moveTo>
                    <a:pt x="0" y="0"/>
                  </a:moveTo>
                  <a:lnTo>
                    <a:pt x="1906156" y="0"/>
                  </a:lnTo>
                  <a:lnTo>
                    <a:pt x="1906156" y="601283"/>
                  </a:lnTo>
                  <a:lnTo>
                    <a:pt x="0" y="601283"/>
                  </a:lnTo>
                  <a:close/>
                </a:path>
              </a:pathLst>
            </a:custGeom>
            <a:solidFill>
              <a:srgbClr val="028090"/>
            </a:solidFill>
          </p:spPr>
        </p:sp>
        <p:sp>
          <p:nvSpPr>
            <p:cNvPr name="TextBox 20" id="20"/>
            <p:cNvSpPr txBox="true"/>
            <p:nvPr/>
          </p:nvSpPr>
          <p:spPr>
            <a:xfrm>
              <a:off x="0" y="47625"/>
              <a:ext cx="1906156" cy="553658"/>
            </a:xfrm>
            <a:prstGeom prst="rect">
              <a:avLst/>
            </a:prstGeom>
          </p:spPr>
          <p:txBody>
            <a:bodyPr anchor="ctr" rtlCol="false" tIns="50800" lIns="50800" bIns="50800" rIns="50800"/>
            <a:lstStyle/>
            <a:p>
              <a:pPr algn="ctr" marL="0" indent="0" lvl="0">
                <a:lnSpc>
                  <a:spcPts val="2160"/>
                </a:lnSpc>
              </a:pPr>
            </a:p>
          </p:txBody>
        </p:sp>
      </p:grpSp>
      <p:grpSp>
        <p:nvGrpSpPr>
          <p:cNvPr name="Group 21" id="21"/>
          <p:cNvGrpSpPr/>
          <p:nvPr/>
        </p:nvGrpSpPr>
        <p:grpSpPr>
          <a:xfrm rot="0">
            <a:off x="9337651" y="7422867"/>
            <a:ext cx="1367184" cy="1378860"/>
            <a:chOff x="0" y="0"/>
            <a:chExt cx="360081" cy="363157"/>
          </a:xfrm>
        </p:grpSpPr>
        <p:sp>
          <p:nvSpPr>
            <p:cNvPr name="Freeform 22" id="22"/>
            <p:cNvSpPr/>
            <p:nvPr/>
          </p:nvSpPr>
          <p:spPr>
            <a:xfrm flipH="false" flipV="false" rot="0">
              <a:off x="0" y="0"/>
              <a:ext cx="360081" cy="363157"/>
            </a:xfrm>
            <a:custGeom>
              <a:avLst/>
              <a:gdLst/>
              <a:ahLst/>
              <a:cxnLst/>
              <a:rect r="r" b="b" t="t" l="l"/>
              <a:pathLst>
                <a:path h="363157" w="360081">
                  <a:moveTo>
                    <a:pt x="0" y="0"/>
                  </a:moveTo>
                  <a:lnTo>
                    <a:pt x="360081" y="0"/>
                  </a:lnTo>
                  <a:lnTo>
                    <a:pt x="360081" y="363157"/>
                  </a:lnTo>
                  <a:lnTo>
                    <a:pt x="0" y="363157"/>
                  </a:lnTo>
                  <a:close/>
                </a:path>
              </a:pathLst>
            </a:custGeom>
            <a:solidFill>
              <a:srgbClr val="02C39A"/>
            </a:solidFill>
          </p:spPr>
        </p:sp>
        <p:sp>
          <p:nvSpPr>
            <p:cNvPr name="TextBox 23" id="23"/>
            <p:cNvSpPr txBox="true"/>
            <p:nvPr/>
          </p:nvSpPr>
          <p:spPr>
            <a:xfrm>
              <a:off x="0" y="47625"/>
              <a:ext cx="360081" cy="315532"/>
            </a:xfrm>
            <a:prstGeom prst="rect">
              <a:avLst/>
            </a:prstGeom>
          </p:spPr>
          <p:txBody>
            <a:bodyPr anchor="ctr" rtlCol="false" tIns="50800" lIns="50800" bIns="50800" rIns="50800"/>
            <a:lstStyle/>
            <a:p>
              <a:pPr algn="ctr" marL="0" indent="0" lvl="0">
                <a:lnSpc>
                  <a:spcPts val="2160"/>
                </a:lnSpc>
              </a:pPr>
            </a:p>
          </p:txBody>
        </p:sp>
      </p:grpSp>
      <p:sp>
        <p:nvSpPr>
          <p:cNvPr name="TextBox 24" id="24"/>
          <p:cNvSpPr txBox="true"/>
          <p:nvPr/>
        </p:nvSpPr>
        <p:spPr>
          <a:xfrm rot="0">
            <a:off x="11237068" y="1924526"/>
            <a:ext cx="5722905" cy="817025"/>
          </a:xfrm>
          <a:prstGeom prst="rect">
            <a:avLst/>
          </a:prstGeom>
        </p:spPr>
        <p:txBody>
          <a:bodyPr anchor="t" rtlCol="false" tIns="0" lIns="0" bIns="0" rIns="0">
            <a:spAutoFit/>
          </a:bodyPr>
          <a:lstStyle/>
          <a:p>
            <a:pPr algn="l" marL="0" indent="0" lvl="0">
              <a:lnSpc>
                <a:spcPts val="2216"/>
              </a:lnSpc>
            </a:pPr>
            <a:r>
              <a:rPr lang="en-US" sz="1458">
                <a:solidFill>
                  <a:srgbClr val="FFFFFF"/>
                </a:solidFill>
                <a:latin typeface="Inter"/>
                <a:ea typeface="Inter"/>
                <a:cs typeface="Inter"/>
                <a:sym typeface="Inter"/>
              </a:rPr>
              <a:t>Los sistemas de IA deben ser comprensibles. Las explicaciones claras sobre cómo funcionan los algoritmos permiten a los usuarios confiar en la tecnología y evaluar su imparcialidad.</a:t>
            </a:r>
          </a:p>
        </p:txBody>
      </p:sp>
      <p:sp>
        <p:nvSpPr>
          <p:cNvPr name="TextBox 25" id="25"/>
          <p:cNvSpPr txBox="true"/>
          <p:nvPr/>
        </p:nvSpPr>
        <p:spPr>
          <a:xfrm rot="0">
            <a:off x="11237068" y="1513408"/>
            <a:ext cx="5569938"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Transparencia Algorítmica</a:t>
            </a:r>
          </a:p>
        </p:txBody>
      </p:sp>
      <p:sp>
        <p:nvSpPr>
          <p:cNvPr name="TextBox 26" id="26"/>
          <p:cNvSpPr txBox="true"/>
          <p:nvPr/>
        </p:nvSpPr>
        <p:spPr>
          <a:xfrm rot="0">
            <a:off x="11237068" y="4893379"/>
            <a:ext cx="5722905" cy="817025"/>
          </a:xfrm>
          <a:prstGeom prst="rect">
            <a:avLst/>
          </a:prstGeom>
        </p:spPr>
        <p:txBody>
          <a:bodyPr anchor="t" rtlCol="false" tIns="0" lIns="0" bIns="0" rIns="0">
            <a:spAutoFit/>
          </a:bodyPr>
          <a:lstStyle/>
          <a:p>
            <a:pPr algn="l" marL="0" indent="0" lvl="0">
              <a:lnSpc>
                <a:spcPts val="2216"/>
              </a:lnSpc>
            </a:pPr>
            <a:r>
              <a:rPr lang="en-US" sz="1458">
                <a:solidFill>
                  <a:srgbClr val="FFFFFF"/>
                </a:solidFill>
                <a:latin typeface="Inter"/>
                <a:ea typeface="Inter"/>
                <a:cs typeface="Inter"/>
                <a:sym typeface="Inter"/>
              </a:rPr>
              <a:t>Los algoritmos deben diseñarse para evitar discriminación. Incluir perspectivas diversas en el desarrollo ayuda a identificar sesgos y promueve decisiones más equilibradas.</a:t>
            </a:r>
          </a:p>
        </p:txBody>
      </p:sp>
      <p:sp>
        <p:nvSpPr>
          <p:cNvPr name="TextBox 27" id="27"/>
          <p:cNvSpPr txBox="true"/>
          <p:nvPr/>
        </p:nvSpPr>
        <p:spPr>
          <a:xfrm rot="0">
            <a:off x="11237068" y="4491159"/>
            <a:ext cx="5569938"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Justicia Algorítmica y Equidad</a:t>
            </a:r>
          </a:p>
        </p:txBody>
      </p:sp>
      <p:sp>
        <p:nvSpPr>
          <p:cNvPr name="TextBox 28" id="28"/>
          <p:cNvSpPr txBox="true"/>
          <p:nvPr/>
        </p:nvSpPr>
        <p:spPr>
          <a:xfrm rot="0">
            <a:off x="9645571" y="1777100"/>
            <a:ext cx="921581" cy="774459"/>
          </a:xfrm>
          <a:prstGeom prst="rect">
            <a:avLst/>
          </a:prstGeom>
        </p:spPr>
        <p:txBody>
          <a:bodyPr anchor="t" rtlCol="false" tIns="0" lIns="0" bIns="0" rIns="0">
            <a:spAutoFit/>
          </a:bodyPr>
          <a:lstStyle/>
          <a:p>
            <a:pPr algn="ctr" marL="0" indent="0" lvl="0">
              <a:lnSpc>
                <a:spcPts val="5474"/>
              </a:lnSpc>
            </a:pPr>
            <a:r>
              <a:rPr lang="en-US" sz="5643" spc="-107">
                <a:solidFill>
                  <a:srgbClr val="FFFFFF"/>
                </a:solidFill>
                <a:latin typeface="Poppins"/>
                <a:ea typeface="Poppins"/>
                <a:cs typeface="Poppins"/>
                <a:sym typeface="Poppins"/>
              </a:rPr>
              <a:t>1.</a:t>
            </a:r>
          </a:p>
        </p:txBody>
      </p:sp>
      <p:sp>
        <p:nvSpPr>
          <p:cNvPr name="TextBox 29" id="29"/>
          <p:cNvSpPr txBox="true"/>
          <p:nvPr/>
        </p:nvSpPr>
        <p:spPr>
          <a:xfrm rot="0">
            <a:off x="9486082" y="4750401"/>
            <a:ext cx="1081071" cy="774459"/>
          </a:xfrm>
          <a:prstGeom prst="rect">
            <a:avLst/>
          </a:prstGeom>
        </p:spPr>
        <p:txBody>
          <a:bodyPr anchor="t" rtlCol="false" tIns="0" lIns="0" bIns="0" rIns="0">
            <a:spAutoFit/>
          </a:bodyPr>
          <a:lstStyle/>
          <a:p>
            <a:pPr algn="ctr" marL="0" indent="0" lvl="0">
              <a:lnSpc>
                <a:spcPts val="5474"/>
              </a:lnSpc>
            </a:pPr>
            <a:r>
              <a:rPr lang="en-US" sz="5643" spc="-107">
                <a:solidFill>
                  <a:srgbClr val="FFFFFF"/>
                </a:solidFill>
                <a:latin typeface="Poppins"/>
                <a:ea typeface="Poppins"/>
                <a:cs typeface="Poppins"/>
                <a:sym typeface="Poppins"/>
              </a:rPr>
              <a:t>2.</a:t>
            </a:r>
          </a:p>
        </p:txBody>
      </p:sp>
      <p:sp>
        <p:nvSpPr>
          <p:cNvPr name="TextBox 30" id="30"/>
          <p:cNvSpPr txBox="true"/>
          <p:nvPr/>
        </p:nvSpPr>
        <p:spPr>
          <a:xfrm rot="0">
            <a:off x="9475334" y="7719198"/>
            <a:ext cx="1091819" cy="774459"/>
          </a:xfrm>
          <a:prstGeom prst="rect">
            <a:avLst/>
          </a:prstGeom>
        </p:spPr>
        <p:txBody>
          <a:bodyPr anchor="t" rtlCol="false" tIns="0" lIns="0" bIns="0" rIns="0">
            <a:spAutoFit/>
          </a:bodyPr>
          <a:lstStyle/>
          <a:p>
            <a:pPr algn="ctr" marL="0" indent="0" lvl="0">
              <a:lnSpc>
                <a:spcPts val="5474"/>
              </a:lnSpc>
            </a:pPr>
            <a:r>
              <a:rPr lang="en-US" sz="5643" spc="-107">
                <a:solidFill>
                  <a:srgbClr val="FFFFFF"/>
                </a:solidFill>
                <a:latin typeface="Poppins"/>
                <a:ea typeface="Poppins"/>
                <a:cs typeface="Poppins"/>
                <a:sym typeface="Poppins"/>
              </a:rPr>
              <a:t>3.</a:t>
            </a:r>
          </a:p>
        </p:txBody>
      </p:sp>
      <p:sp>
        <p:nvSpPr>
          <p:cNvPr name="TextBox 31" id="31"/>
          <p:cNvSpPr txBox="true"/>
          <p:nvPr/>
        </p:nvSpPr>
        <p:spPr>
          <a:xfrm rot="0">
            <a:off x="11237068" y="7868711"/>
            <a:ext cx="5722905" cy="817025"/>
          </a:xfrm>
          <a:prstGeom prst="rect">
            <a:avLst/>
          </a:prstGeom>
        </p:spPr>
        <p:txBody>
          <a:bodyPr anchor="t" rtlCol="false" tIns="0" lIns="0" bIns="0" rIns="0">
            <a:spAutoFit/>
          </a:bodyPr>
          <a:lstStyle/>
          <a:p>
            <a:pPr algn="l" marL="0" indent="0" lvl="0">
              <a:lnSpc>
                <a:spcPts val="2216"/>
              </a:lnSpc>
            </a:pPr>
            <a:r>
              <a:rPr lang="en-US" sz="1458">
                <a:solidFill>
                  <a:srgbClr val="FFFFFF"/>
                </a:solidFill>
                <a:latin typeface="Inter"/>
                <a:ea typeface="Inter"/>
                <a:cs typeface="Inter"/>
                <a:sym typeface="Inter"/>
              </a:rPr>
              <a:t>La Recomendación sobre Ética de la IA (2021) establece principios fundamentales: respeto a la dignidad humana, supervisión continua y rendición de cuentas en sistemas inteligentes.</a:t>
            </a:r>
          </a:p>
        </p:txBody>
      </p:sp>
      <p:sp>
        <p:nvSpPr>
          <p:cNvPr name="TextBox 32" id="32"/>
          <p:cNvSpPr txBox="true"/>
          <p:nvPr/>
        </p:nvSpPr>
        <p:spPr>
          <a:xfrm rot="0">
            <a:off x="11237068" y="7453421"/>
            <a:ext cx="5569938"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Principios Éticos UNESCO</a:t>
            </a:r>
          </a:p>
        </p:txBody>
      </p:sp>
      <p:sp>
        <p:nvSpPr>
          <p:cNvPr name="AutoShape 33" id="33"/>
          <p:cNvSpPr/>
          <p:nvPr/>
        </p:nvSpPr>
        <p:spPr>
          <a:xfrm>
            <a:off x="1028700" y="6265948"/>
            <a:ext cx="4066657" cy="0"/>
          </a:xfrm>
          <a:prstGeom prst="line">
            <a:avLst/>
          </a:prstGeom>
          <a:ln cap="flat" w="38100">
            <a:solidFill>
              <a:srgbClr val="FFFFFF"/>
            </a:solidFill>
            <a:prstDash val="solid"/>
            <a:headEnd type="none" len="sm" w="sm"/>
            <a:tailEnd type="none" len="sm" w="sm"/>
          </a:ln>
        </p:spPr>
      </p:sp>
    </p:spTree>
  </p:cSld>
  <p:clrMapOvr>
    <a:masterClrMapping/>
  </p:clrMapOvr>
  <p:transition spd="slow">
    <p:push dir="r"/>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0">
            <a:off x="8017763" y="0"/>
            <a:ext cx="9241537" cy="6075972"/>
            <a:chOff x="0" y="0"/>
            <a:chExt cx="2433985" cy="1600256"/>
          </a:xfrm>
        </p:grpSpPr>
        <p:sp>
          <p:nvSpPr>
            <p:cNvPr name="Freeform 3" id="3"/>
            <p:cNvSpPr/>
            <p:nvPr/>
          </p:nvSpPr>
          <p:spPr>
            <a:xfrm flipH="false" flipV="false" rot="0">
              <a:off x="0" y="0"/>
              <a:ext cx="2433985" cy="1600256"/>
            </a:xfrm>
            <a:custGeom>
              <a:avLst/>
              <a:gdLst/>
              <a:ahLst/>
              <a:cxnLst/>
              <a:rect r="r" b="b" t="t" l="l"/>
              <a:pathLst>
                <a:path h="1600256" w="2433985">
                  <a:moveTo>
                    <a:pt x="0" y="0"/>
                  </a:moveTo>
                  <a:lnTo>
                    <a:pt x="2433985" y="0"/>
                  </a:lnTo>
                  <a:lnTo>
                    <a:pt x="2433985" y="1600256"/>
                  </a:lnTo>
                  <a:lnTo>
                    <a:pt x="0" y="1600256"/>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2433985" cy="1552631"/>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0">
            <a:off x="8904111" y="1028700"/>
            <a:ext cx="7468841" cy="8229600"/>
            <a:chOff x="0" y="0"/>
            <a:chExt cx="1157119" cy="1274980"/>
          </a:xfrm>
        </p:grpSpPr>
        <p:sp>
          <p:nvSpPr>
            <p:cNvPr name="Freeform 6" id="6"/>
            <p:cNvSpPr/>
            <p:nvPr/>
          </p:nvSpPr>
          <p:spPr>
            <a:xfrm flipH="false" flipV="false" rot="0">
              <a:off x="0" y="0"/>
              <a:ext cx="1157119" cy="1274980"/>
            </a:xfrm>
            <a:custGeom>
              <a:avLst/>
              <a:gdLst/>
              <a:ahLst/>
              <a:cxnLst/>
              <a:rect r="r" b="b" t="t" l="l"/>
              <a:pathLst>
                <a:path h="1274980" w="1157119">
                  <a:moveTo>
                    <a:pt x="0" y="0"/>
                  </a:moveTo>
                  <a:lnTo>
                    <a:pt x="1157119" y="0"/>
                  </a:lnTo>
                  <a:lnTo>
                    <a:pt x="1157119" y="1274980"/>
                  </a:lnTo>
                  <a:lnTo>
                    <a:pt x="0" y="1274980"/>
                  </a:lnTo>
                  <a:close/>
                </a:path>
              </a:pathLst>
            </a:custGeom>
            <a:blipFill>
              <a:blip r:embed="rId2"/>
              <a:stretch>
                <a:fillRect l="-5092" t="0" r="-5092" b="0"/>
              </a:stretch>
            </a:blipFill>
          </p:spPr>
        </p:sp>
      </p:grpSp>
      <p:sp>
        <p:nvSpPr>
          <p:cNvPr name="Freeform 7" id="7"/>
          <p:cNvSpPr/>
          <p:nvPr/>
        </p:nvSpPr>
        <p:spPr>
          <a:xfrm flipH="false" flipV="false" rot="0">
            <a:off x="7069660" y="704287"/>
            <a:ext cx="1196920" cy="648825"/>
          </a:xfrm>
          <a:custGeom>
            <a:avLst/>
            <a:gdLst/>
            <a:ahLst/>
            <a:cxnLst/>
            <a:rect r="r" b="b" t="t" l="l"/>
            <a:pathLst>
              <a:path h="648825" w="1196920">
                <a:moveTo>
                  <a:pt x="0" y="0"/>
                </a:moveTo>
                <a:lnTo>
                  <a:pt x="1196920" y="0"/>
                </a:lnTo>
                <a:lnTo>
                  <a:pt x="1196920" y="648826"/>
                </a:lnTo>
                <a:lnTo>
                  <a:pt x="0" y="648826"/>
                </a:lnTo>
                <a:lnTo>
                  <a:pt x="0" y="0"/>
                </a:lnTo>
                <a:close/>
              </a:path>
            </a:pathLst>
          </a:custGeom>
          <a:blipFill>
            <a:blip r:embed="rId3">
              <a:extLst>
                <a:ext uri="{96DAC541-7B7A-43D3-8B79-37D633B846F1}">
                  <asvg:svgBlip xmlns:asvg="http://schemas.microsoft.com/office/drawing/2016/SVG/main" r:embed="rId4"/>
                </a:ext>
              </a:extLst>
            </a:blip>
            <a:stretch>
              <a:fillRect l="0" t="-116048" r="-113998" b="0"/>
            </a:stretch>
          </a:blipFill>
        </p:spPr>
      </p:sp>
      <p:grpSp>
        <p:nvGrpSpPr>
          <p:cNvPr name="Group 8" id="8"/>
          <p:cNvGrpSpPr/>
          <p:nvPr/>
        </p:nvGrpSpPr>
        <p:grpSpPr>
          <a:xfrm rot="0">
            <a:off x="15802910" y="8719927"/>
            <a:ext cx="1140084" cy="1076746"/>
            <a:chOff x="0" y="0"/>
            <a:chExt cx="685800" cy="647700"/>
          </a:xfrm>
        </p:grpSpPr>
        <p:sp>
          <p:nvSpPr>
            <p:cNvPr name="Freeform 9" id="9"/>
            <p:cNvSpPr/>
            <p:nvPr/>
          </p:nvSpPr>
          <p:spPr>
            <a:xfrm flipH="false" flipV="false" rot="0">
              <a:off x="0" y="0"/>
              <a:ext cx="685800" cy="647700"/>
            </a:xfrm>
            <a:custGeom>
              <a:avLst/>
              <a:gdLst/>
              <a:ahLst/>
              <a:cxnLst/>
              <a:rect r="r" b="b" t="t" l="l"/>
              <a:pathLst>
                <a:path h="647700" w="6858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02C39A"/>
            </a:solidFill>
          </p:spPr>
        </p:sp>
        <p:sp>
          <p:nvSpPr>
            <p:cNvPr name="TextBox 10" id="10"/>
            <p:cNvSpPr txBox="true"/>
            <p:nvPr/>
          </p:nvSpPr>
          <p:spPr>
            <a:xfrm>
              <a:off x="171450" y="200025"/>
              <a:ext cx="342900" cy="295275"/>
            </a:xfrm>
            <a:prstGeom prst="rect">
              <a:avLst/>
            </a:prstGeom>
          </p:spPr>
          <p:txBody>
            <a:bodyPr anchor="ctr" rtlCol="false" tIns="50800" lIns="50800" bIns="50800" rIns="50800"/>
            <a:lstStyle/>
            <a:p>
              <a:pPr algn="ctr" marL="0" indent="0" lvl="0">
                <a:lnSpc>
                  <a:spcPts val="2160"/>
                </a:lnSpc>
              </a:pPr>
            </a:p>
          </p:txBody>
        </p:sp>
      </p:grpSp>
      <p:sp>
        <p:nvSpPr>
          <p:cNvPr name="TextBox 11" id="11"/>
          <p:cNvSpPr txBox="true"/>
          <p:nvPr/>
        </p:nvSpPr>
        <p:spPr>
          <a:xfrm rot="0">
            <a:off x="1028700" y="4349512"/>
            <a:ext cx="5503940" cy="1821250"/>
          </a:xfrm>
          <a:prstGeom prst="rect">
            <a:avLst/>
          </a:prstGeom>
        </p:spPr>
        <p:txBody>
          <a:bodyPr anchor="t" rtlCol="false" tIns="0" lIns="0" bIns="0" rIns="0">
            <a:spAutoFit/>
          </a:bodyPr>
          <a:lstStyle/>
          <a:p>
            <a:pPr algn="l" marL="0" indent="0" lvl="0">
              <a:lnSpc>
                <a:spcPts val="2419"/>
              </a:lnSpc>
            </a:pPr>
            <a:r>
              <a:rPr lang="en-US" sz="1592">
                <a:solidFill>
                  <a:srgbClr val="FFFFFF"/>
                </a:solidFill>
                <a:latin typeface="Inter"/>
                <a:ea typeface="Inter"/>
                <a:cs typeface="Inter"/>
                <a:sym typeface="Inter"/>
              </a:rPr>
              <a:t>La Inteligencia Artificial es la capacidad de sistemas computacionales para realizar tareas que tradicionalmente requieren inteligencia humana: aprendizaje, razonamiento, percepción y toma de decisiones. Sus aplicaciones abarcan desde asistentes virtuales hasta diagnóstico médico y conducción autónoma.</a:t>
            </a:r>
          </a:p>
        </p:txBody>
      </p:sp>
      <p:sp>
        <p:nvSpPr>
          <p:cNvPr name="TextBox 12" id="12"/>
          <p:cNvSpPr txBox="true"/>
          <p:nvPr/>
        </p:nvSpPr>
        <p:spPr>
          <a:xfrm rot="0">
            <a:off x="1028700" y="6553562"/>
            <a:ext cx="5503940" cy="1516450"/>
          </a:xfrm>
          <a:prstGeom prst="rect">
            <a:avLst/>
          </a:prstGeom>
        </p:spPr>
        <p:txBody>
          <a:bodyPr anchor="t" rtlCol="false" tIns="0" lIns="0" bIns="0" rIns="0">
            <a:spAutoFit/>
          </a:bodyPr>
          <a:lstStyle/>
          <a:p>
            <a:pPr algn="l" marL="0" indent="0" lvl="0">
              <a:lnSpc>
                <a:spcPts val="2419"/>
              </a:lnSpc>
            </a:pPr>
            <a:r>
              <a:rPr lang="en-US" sz="1592">
                <a:solidFill>
                  <a:srgbClr val="FFFFFF"/>
                </a:solidFill>
                <a:latin typeface="Inter"/>
                <a:ea typeface="Inter"/>
                <a:cs typeface="Inter"/>
                <a:sym typeface="Inter"/>
              </a:rPr>
              <a:t>"Los sistemas de IA deben permanecer bajo control humano significativo para garantizar que sus acciones se alineen con los valores y objetivos humanos."</a:t>
            </a:r>
          </a:p>
          <a:p>
            <a:pPr algn="l" marL="0" indent="0" lvl="0">
              <a:lnSpc>
                <a:spcPts val="2419"/>
              </a:lnSpc>
            </a:pPr>
            <a:r>
              <a:rPr lang="en-US" sz="1592">
                <a:solidFill>
                  <a:srgbClr val="FFFFFF"/>
                </a:solidFill>
                <a:latin typeface="Inter"/>
                <a:ea typeface="Inter"/>
                <a:cs typeface="Inter"/>
                <a:sym typeface="Inter"/>
              </a:rPr>
              <a:t>— Russell &amp; Norvig, Inteligencia Artificial: Un Enfoque Moderno</a:t>
            </a:r>
          </a:p>
        </p:txBody>
      </p:sp>
      <p:sp>
        <p:nvSpPr>
          <p:cNvPr name="TextBox 13" id="13"/>
          <p:cNvSpPr txBox="true"/>
          <p:nvPr/>
        </p:nvSpPr>
        <p:spPr>
          <a:xfrm rot="0">
            <a:off x="1028700" y="2173751"/>
            <a:ext cx="4911195" cy="554664"/>
          </a:xfrm>
          <a:prstGeom prst="rect">
            <a:avLst/>
          </a:prstGeom>
        </p:spPr>
        <p:txBody>
          <a:bodyPr anchor="t" rtlCol="false" tIns="0" lIns="0" bIns="0" rIns="0">
            <a:spAutoFit/>
          </a:bodyPr>
          <a:lstStyle/>
          <a:p>
            <a:pPr algn="l" marL="0" indent="0" lvl="0">
              <a:lnSpc>
                <a:spcPts val="3869"/>
              </a:lnSpc>
            </a:pPr>
            <a:r>
              <a:rPr lang="en-US" sz="3988" spc="-75">
                <a:solidFill>
                  <a:srgbClr val="FFFFFF"/>
                </a:solidFill>
                <a:latin typeface="Poppins"/>
                <a:ea typeface="Poppins"/>
                <a:cs typeface="Poppins"/>
                <a:sym typeface="Poppins"/>
              </a:rPr>
              <a:t>Inteligencia Artificial</a:t>
            </a:r>
          </a:p>
        </p:txBody>
      </p:sp>
      <p:sp>
        <p:nvSpPr>
          <p:cNvPr name="TextBox 14" id="14"/>
          <p:cNvSpPr txBox="true"/>
          <p:nvPr/>
        </p:nvSpPr>
        <p:spPr>
          <a:xfrm rot="0">
            <a:off x="1028700" y="2935751"/>
            <a:ext cx="4911195" cy="554664"/>
          </a:xfrm>
          <a:prstGeom prst="rect">
            <a:avLst/>
          </a:prstGeom>
        </p:spPr>
        <p:txBody>
          <a:bodyPr anchor="t" rtlCol="false" tIns="0" lIns="0" bIns="0" rIns="0">
            <a:spAutoFit/>
          </a:bodyPr>
          <a:lstStyle/>
          <a:p>
            <a:pPr algn="l" marL="0" indent="0" lvl="0">
              <a:lnSpc>
                <a:spcPts val="3869"/>
              </a:lnSpc>
            </a:pPr>
            <a:r>
              <a:rPr lang="en-US" sz="3988" spc="-75">
                <a:solidFill>
                  <a:srgbClr val="02C39A"/>
                </a:solidFill>
                <a:latin typeface="Poppins"/>
                <a:ea typeface="Poppins"/>
                <a:cs typeface="Poppins"/>
                <a:sym typeface="Poppins"/>
              </a:rPr>
              <a:t>Definición</a:t>
            </a:r>
          </a:p>
        </p:txBody>
      </p:sp>
    </p:spTree>
  </p:cSld>
  <p:clrMapOvr>
    <a:masterClrMapping/>
  </p:clrMapOvr>
  <p:transition spd="slow">
    <p:push dir="r"/>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5400000">
            <a:off x="-112263" y="851222"/>
            <a:ext cx="8809083" cy="8584557"/>
            <a:chOff x="0" y="0"/>
            <a:chExt cx="2320088" cy="2260953"/>
          </a:xfrm>
        </p:grpSpPr>
        <p:sp>
          <p:nvSpPr>
            <p:cNvPr name="Freeform 3" id="3"/>
            <p:cNvSpPr/>
            <p:nvPr/>
          </p:nvSpPr>
          <p:spPr>
            <a:xfrm flipH="false" flipV="false" rot="0">
              <a:off x="0" y="0"/>
              <a:ext cx="2320088" cy="2260953"/>
            </a:xfrm>
            <a:custGeom>
              <a:avLst/>
              <a:gdLst/>
              <a:ahLst/>
              <a:cxnLst/>
              <a:rect r="r" b="b" t="t" l="l"/>
              <a:pathLst>
                <a:path h="2260953" w="2320088">
                  <a:moveTo>
                    <a:pt x="0" y="0"/>
                  </a:moveTo>
                  <a:lnTo>
                    <a:pt x="2320088" y="0"/>
                  </a:lnTo>
                  <a:lnTo>
                    <a:pt x="2320088" y="2260953"/>
                  </a:lnTo>
                  <a:lnTo>
                    <a:pt x="0" y="2260953"/>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2320088" cy="2213328"/>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0">
            <a:off x="1028700" y="2053682"/>
            <a:ext cx="7468841" cy="6179637"/>
            <a:chOff x="0" y="0"/>
            <a:chExt cx="1157119" cy="957387"/>
          </a:xfrm>
        </p:grpSpPr>
        <p:sp>
          <p:nvSpPr>
            <p:cNvPr name="Freeform 6" id="6"/>
            <p:cNvSpPr/>
            <p:nvPr/>
          </p:nvSpPr>
          <p:spPr>
            <a:xfrm flipH="false" flipV="false" rot="0">
              <a:off x="0" y="0"/>
              <a:ext cx="1157119" cy="957387"/>
            </a:xfrm>
            <a:custGeom>
              <a:avLst/>
              <a:gdLst/>
              <a:ahLst/>
              <a:cxnLst/>
              <a:rect r="r" b="b" t="t" l="l"/>
              <a:pathLst>
                <a:path h="957387" w="1157119">
                  <a:moveTo>
                    <a:pt x="0" y="0"/>
                  </a:moveTo>
                  <a:lnTo>
                    <a:pt x="1157119" y="0"/>
                  </a:lnTo>
                  <a:lnTo>
                    <a:pt x="1157119" y="957387"/>
                  </a:lnTo>
                  <a:lnTo>
                    <a:pt x="0" y="957387"/>
                  </a:lnTo>
                  <a:close/>
                </a:path>
              </a:pathLst>
            </a:custGeom>
            <a:blipFill>
              <a:blip r:embed="rId2"/>
              <a:stretch>
                <a:fillRect l="-1152" t="0" r="-1152" b="0"/>
              </a:stretch>
            </a:blipFill>
          </p:spPr>
        </p:sp>
      </p:grpSp>
      <p:sp>
        <p:nvSpPr>
          <p:cNvPr name="Freeform 7" id="7"/>
          <p:cNvSpPr/>
          <p:nvPr/>
        </p:nvSpPr>
        <p:spPr>
          <a:xfrm flipH="false" flipV="false" rot="0">
            <a:off x="1028700" y="8933887"/>
            <a:ext cx="1196920" cy="648825"/>
          </a:xfrm>
          <a:custGeom>
            <a:avLst/>
            <a:gdLst/>
            <a:ahLst/>
            <a:cxnLst/>
            <a:rect r="r" b="b" t="t" l="l"/>
            <a:pathLst>
              <a:path h="648825" w="1196920">
                <a:moveTo>
                  <a:pt x="0" y="0"/>
                </a:moveTo>
                <a:lnTo>
                  <a:pt x="1196920" y="0"/>
                </a:lnTo>
                <a:lnTo>
                  <a:pt x="1196920" y="648826"/>
                </a:lnTo>
                <a:lnTo>
                  <a:pt x="0" y="648826"/>
                </a:lnTo>
                <a:lnTo>
                  <a:pt x="0" y="0"/>
                </a:lnTo>
                <a:close/>
              </a:path>
            </a:pathLst>
          </a:custGeom>
          <a:blipFill>
            <a:blip r:embed="rId3">
              <a:extLst>
                <a:ext uri="{96DAC541-7B7A-43D3-8B79-37D633B846F1}">
                  <asvg:svgBlip xmlns:asvg="http://schemas.microsoft.com/office/drawing/2016/SVG/main" r:embed="rId4"/>
                </a:ext>
              </a:extLst>
            </a:blip>
            <a:stretch>
              <a:fillRect l="0" t="-116048" r="-113998" b="0"/>
            </a:stretch>
          </a:blipFill>
        </p:spPr>
      </p:sp>
      <p:sp>
        <p:nvSpPr>
          <p:cNvPr name="TextBox 8" id="8"/>
          <p:cNvSpPr txBox="true"/>
          <p:nvPr/>
        </p:nvSpPr>
        <p:spPr>
          <a:xfrm rot="0">
            <a:off x="9893663" y="4934784"/>
            <a:ext cx="7365637" cy="1273986"/>
          </a:xfrm>
          <a:prstGeom prst="rect">
            <a:avLst/>
          </a:prstGeom>
        </p:spPr>
        <p:txBody>
          <a:bodyPr anchor="t" rtlCol="false" tIns="0" lIns="0" bIns="0" rIns="0">
            <a:spAutoFit/>
          </a:bodyPr>
          <a:lstStyle/>
          <a:p>
            <a:pPr algn="l" marL="0" indent="0" lvl="0">
              <a:lnSpc>
                <a:spcPts val="2582"/>
              </a:lnSpc>
            </a:pPr>
            <a:r>
              <a:rPr lang="en-US" sz="1698">
                <a:solidFill>
                  <a:srgbClr val="FFFFFF"/>
                </a:solidFill>
                <a:latin typeface="Inter"/>
                <a:ea typeface="Inter"/>
                <a:cs typeface="Inter"/>
                <a:sym typeface="Inter"/>
              </a:rPr>
              <a:t>La inteligencia artificial no es neutral: refleja fielmente las intenciones, valores y sesgos de quienes la programan. Cada algoritmo incorpora decisiones humanas que determinan qué datos se priorizan, qué patrones se reconocen y qué resultados se favorecen.</a:t>
            </a:r>
          </a:p>
        </p:txBody>
      </p:sp>
      <p:sp>
        <p:nvSpPr>
          <p:cNvPr name="TextBox 9" id="9"/>
          <p:cNvSpPr txBox="true"/>
          <p:nvPr/>
        </p:nvSpPr>
        <p:spPr>
          <a:xfrm rot="0">
            <a:off x="9893663" y="6469920"/>
            <a:ext cx="7365637" cy="1597836"/>
          </a:xfrm>
          <a:prstGeom prst="rect">
            <a:avLst/>
          </a:prstGeom>
        </p:spPr>
        <p:txBody>
          <a:bodyPr anchor="t" rtlCol="false" tIns="0" lIns="0" bIns="0" rIns="0">
            <a:spAutoFit/>
          </a:bodyPr>
          <a:lstStyle/>
          <a:p>
            <a:pPr algn="l" marL="0" indent="0" lvl="0">
              <a:lnSpc>
                <a:spcPts val="2582"/>
              </a:lnSpc>
            </a:pPr>
            <a:r>
              <a:rPr lang="en-US" sz="1698">
                <a:solidFill>
                  <a:srgbClr val="FFFFFF"/>
                </a:solidFill>
                <a:latin typeface="Inter"/>
                <a:ea typeface="Inter"/>
                <a:cs typeface="Inter"/>
                <a:sym typeface="Inter"/>
              </a:rPr>
              <a:t>Esta realidad impone una responsabilidad ética ineludible al desarrollador. Los sesgos algorítmicos pueden perpetuar discriminaciones históricas si no se abordan conscientemente. El profesional informático debe asumir que su código es un espejo de sus propios valores y los de su sociedad.</a:t>
            </a:r>
          </a:p>
        </p:txBody>
      </p:sp>
      <p:sp>
        <p:nvSpPr>
          <p:cNvPr name="TextBox 10" id="10"/>
          <p:cNvSpPr txBox="true"/>
          <p:nvPr/>
        </p:nvSpPr>
        <p:spPr>
          <a:xfrm rot="0">
            <a:off x="9893663" y="2600293"/>
            <a:ext cx="7365637" cy="709771"/>
          </a:xfrm>
          <a:prstGeom prst="rect">
            <a:avLst/>
          </a:prstGeom>
        </p:spPr>
        <p:txBody>
          <a:bodyPr anchor="t" rtlCol="false" tIns="0" lIns="0" bIns="0" rIns="0">
            <a:spAutoFit/>
          </a:bodyPr>
          <a:lstStyle/>
          <a:p>
            <a:pPr algn="l" marL="0" indent="0" lvl="0">
              <a:lnSpc>
                <a:spcPts val="4907"/>
              </a:lnSpc>
            </a:pPr>
            <a:r>
              <a:rPr lang="en-US" sz="5059" spc="-96">
                <a:solidFill>
                  <a:srgbClr val="FFFFFF"/>
                </a:solidFill>
                <a:latin typeface="Poppins"/>
                <a:ea typeface="Poppins"/>
                <a:cs typeface="Poppins"/>
                <a:sym typeface="Poppins"/>
              </a:rPr>
              <a:t>La IA como Espejo</a:t>
            </a:r>
          </a:p>
        </p:txBody>
      </p:sp>
      <p:sp>
        <p:nvSpPr>
          <p:cNvPr name="TextBox 11" id="11"/>
          <p:cNvSpPr txBox="true"/>
          <p:nvPr/>
        </p:nvSpPr>
        <p:spPr>
          <a:xfrm rot="0">
            <a:off x="9893663" y="3362293"/>
            <a:ext cx="7365637" cy="709771"/>
          </a:xfrm>
          <a:prstGeom prst="rect">
            <a:avLst/>
          </a:prstGeom>
        </p:spPr>
        <p:txBody>
          <a:bodyPr anchor="t" rtlCol="false" tIns="0" lIns="0" bIns="0" rIns="0">
            <a:spAutoFit/>
          </a:bodyPr>
          <a:lstStyle/>
          <a:p>
            <a:pPr algn="l" marL="0" indent="0" lvl="0">
              <a:lnSpc>
                <a:spcPts val="4907"/>
              </a:lnSpc>
            </a:pPr>
            <a:r>
              <a:rPr lang="en-US" sz="5059" spc="-96">
                <a:solidFill>
                  <a:srgbClr val="02C39A"/>
                </a:solidFill>
                <a:latin typeface="Poppins"/>
                <a:ea typeface="Poppins"/>
                <a:cs typeface="Poppins"/>
                <a:sym typeface="Poppins"/>
              </a:rPr>
              <a:t>Reflexión Antropológica</a:t>
            </a:r>
          </a:p>
        </p:txBody>
      </p:sp>
      <p:sp>
        <p:nvSpPr>
          <p:cNvPr name="Freeform 12" id="12"/>
          <p:cNvSpPr/>
          <p:nvPr/>
        </p:nvSpPr>
        <p:spPr>
          <a:xfrm flipH="false" flipV="false" rot="0">
            <a:off x="16182554" y="1028700"/>
            <a:ext cx="1076746" cy="1076746"/>
          </a:xfrm>
          <a:custGeom>
            <a:avLst/>
            <a:gdLst/>
            <a:ahLst/>
            <a:cxnLst/>
            <a:rect r="r" b="b" t="t" l="l"/>
            <a:pathLst>
              <a:path h="1076746" w="1076746">
                <a:moveTo>
                  <a:pt x="0" y="0"/>
                </a:moveTo>
                <a:lnTo>
                  <a:pt x="1076746" y="0"/>
                </a:lnTo>
                <a:lnTo>
                  <a:pt x="1076746" y="1076746"/>
                </a:lnTo>
                <a:lnTo>
                  <a:pt x="0" y="10767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transition spd="slow">
    <p:push dir="r"/>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0">
            <a:off x="1028700" y="4107243"/>
            <a:ext cx="4968294" cy="5151057"/>
            <a:chOff x="0" y="0"/>
            <a:chExt cx="1308522" cy="1356657"/>
          </a:xfrm>
        </p:grpSpPr>
        <p:sp>
          <p:nvSpPr>
            <p:cNvPr name="Freeform 3" id="3"/>
            <p:cNvSpPr/>
            <p:nvPr/>
          </p:nvSpPr>
          <p:spPr>
            <a:xfrm flipH="false" flipV="false" rot="0">
              <a:off x="0" y="0"/>
              <a:ext cx="1308522" cy="1356657"/>
            </a:xfrm>
            <a:custGeom>
              <a:avLst/>
              <a:gdLst/>
              <a:ahLst/>
              <a:cxnLst/>
              <a:rect r="r" b="b" t="t" l="l"/>
              <a:pathLst>
                <a:path h="1356657" w="1308522">
                  <a:moveTo>
                    <a:pt x="0" y="0"/>
                  </a:moveTo>
                  <a:lnTo>
                    <a:pt x="1308522" y="0"/>
                  </a:lnTo>
                  <a:lnTo>
                    <a:pt x="1308522" y="1356657"/>
                  </a:lnTo>
                  <a:lnTo>
                    <a:pt x="0" y="1356657"/>
                  </a:lnTo>
                  <a:close/>
                </a:path>
              </a:pathLst>
            </a:custGeom>
            <a:solidFill>
              <a:srgbClr val="028090"/>
            </a:solidFill>
          </p:spPr>
        </p:sp>
        <p:sp>
          <p:nvSpPr>
            <p:cNvPr name="TextBox 4" id="4"/>
            <p:cNvSpPr txBox="true"/>
            <p:nvPr/>
          </p:nvSpPr>
          <p:spPr>
            <a:xfrm>
              <a:off x="0" y="47625"/>
              <a:ext cx="1308522" cy="1309032"/>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0">
            <a:off x="0" y="-1582431"/>
            <a:ext cx="18288000" cy="5942337"/>
            <a:chOff x="0" y="0"/>
            <a:chExt cx="4816593" cy="1565060"/>
          </a:xfrm>
        </p:grpSpPr>
        <p:sp>
          <p:nvSpPr>
            <p:cNvPr name="Freeform 6" id="6"/>
            <p:cNvSpPr/>
            <p:nvPr/>
          </p:nvSpPr>
          <p:spPr>
            <a:xfrm flipH="false" flipV="false" rot="0">
              <a:off x="0" y="0"/>
              <a:ext cx="4816592" cy="1565060"/>
            </a:xfrm>
            <a:custGeom>
              <a:avLst/>
              <a:gdLst/>
              <a:ahLst/>
              <a:cxnLst/>
              <a:rect r="r" b="b" t="t" l="l"/>
              <a:pathLst>
                <a:path h="1565060" w="4816592">
                  <a:moveTo>
                    <a:pt x="0" y="0"/>
                  </a:moveTo>
                  <a:lnTo>
                    <a:pt x="4816592" y="0"/>
                  </a:lnTo>
                  <a:lnTo>
                    <a:pt x="4816592" y="1565060"/>
                  </a:lnTo>
                  <a:lnTo>
                    <a:pt x="0" y="1565060"/>
                  </a:lnTo>
                  <a:close/>
                </a:path>
              </a:pathLst>
            </a:custGeom>
            <a:gradFill rotWithShape="true">
              <a:gsLst>
                <a:gs pos="0">
                  <a:srgbClr val="028090">
                    <a:alpha val="100000"/>
                  </a:srgbClr>
                </a:gs>
                <a:gs pos="100000">
                  <a:srgbClr val="181717">
                    <a:alpha val="0"/>
                  </a:srgbClr>
                </a:gs>
              </a:gsLst>
              <a:lin ang="5400000"/>
            </a:gradFill>
          </p:spPr>
        </p:sp>
        <p:sp>
          <p:nvSpPr>
            <p:cNvPr name="TextBox 7" id="7"/>
            <p:cNvSpPr txBox="true"/>
            <p:nvPr/>
          </p:nvSpPr>
          <p:spPr>
            <a:xfrm>
              <a:off x="0" y="47625"/>
              <a:ext cx="4816593" cy="1517435"/>
            </a:xfrm>
            <a:prstGeom prst="rect">
              <a:avLst/>
            </a:prstGeom>
          </p:spPr>
          <p:txBody>
            <a:bodyPr anchor="ctr" rtlCol="false" tIns="50800" lIns="50800" bIns="50800" rIns="50800"/>
            <a:lstStyle/>
            <a:p>
              <a:pPr algn="ctr" marL="0" indent="0" lvl="0">
                <a:lnSpc>
                  <a:spcPts val="2160"/>
                </a:lnSpc>
              </a:pPr>
            </a:p>
          </p:txBody>
        </p:sp>
      </p:grpSp>
      <p:grpSp>
        <p:nvGrpSpPr>
          <p:cNvPr name="Group 8" id="8"/>
          <p:cNvGrpSpPr/>
          <p:nvPr/>
        </p:nvGrpSpPr>
        <p:grpSpPr>
          <a:xfrm rot="0">
            <a:off x="6659691" y="4107243"/>
            <a:ext cx="4968294" cy="5151057"/>
            <a:chOff x="0" y="0"/>
            <a:chExt cx="1308522" cy="1356657"/>
          </a:xfrm>
        </p:grpSpPr>
        <p:sp>
          <p:nvSpPr>
            <p:cNvPr name="Freeform 9" id="9"/>
            <p:cNvSpPr/>
            <p:nvPr/>
          </p:nvSpPr>
          <p:spPr>
            <a:xfrm flipH="false" flipV="false" rot="0">
              <a:off x="0" y="0"/>
              <a:ext cx="1308522" cy="1356657"/>
            </a:xfrm>
            <a:custGeom>
              <a:avLst/>
              <a:gdLst/>
              <a:ahLst/>
              <a:cxnLst/>
              <a:rect r="r" b="b" t="t" l="l"/>
              <a:pathLst>
                <a:path h="1356657" w="1308522">
                  <a:moveTo>
                    <a:pt x="0" y="0"/>
                  </a:moveTo>
                  <a:lnTo>
                    <a:pt x="1308522" y="0"/>
                  </a:lnTo>
                  <a:lnTo>
                    <a:pt x="1308522" y="1356657"/>
                  </a:lnTo>
                  <a:lnTo>
                    <a:pt x="0" y="1356657"/>
                  </a:lnTo>
                  <a:close/>
                </a:path>
              </a:pathLst>
            </a:custGeom>
            <a:solidFill>
              <a:srgbClr val="028090"/>
            </a:solidFill>
          </p:spPr>
        </p:sp>
        <p:sp>
          <p:nvSpPr>
            <p:cNvPr name="TextBox 10" id="10"/>
            <p:cNvSpPr txBox="true"/>
            <p:nvPr/>
          </p:nvSpPr>
          <p:spPr>
            <a:xfrm>
              <a:off x="0" y="47625"/>
              <a:ext cx="1308522" cy="1309032"/>
            </a:xfrm>
            <a:prstGeom prst="rect">
              <a:avLst/>
            </a:prstGeom>
          </p:spPr>
          <p:txBody>
            <a:bodyPr anchor="ctr" rtlCol="false" tIns="50800" lIns="50800" bIns="50800" rIns="50800"/>
            <a:lstStyle/>
            <a:p>
              <a:pPr algn="ctr" marL="0" indent="0" lvl="0">
                <a:lnSpc>
                  <a:spcPts val="2160"/>
                </a:lnSpc>
              </a:pPr>
            </a:p>
          </p:txBody>
        </p:sp>
      </p:grpSp>
      <p:grpSp>
        <p:nvGrpSpPr>
          <p:cNvPr name="Group 11" id="11"/>
          <p:cNvGrpSpPr/>
          <p:nvPr/>
        </p:nvGrpSpPr>
        <p:grpSpPr>
          <a:xfrm rot="0">
            <a:off x="12291006" y="4107243"/>
            <a:ext cx="4968294" cy="5151057"/>
            <a:chOff x="0" y="0"/>
            <a:chExt cx="1308522" cy="1356657"/>
          </a:xfrm>
        </p:grpSpPr>
        <p:sp>
          <p:nvSpPr>
            <p:cNvPr name="Freeform 12" id="12"/>
            <p:cNvSpPr/>
            <p:nvPr/>
          </p:nvSpPr>
          <p:spPr>
            <a:xfrm flipH="false" flipV="false" rot="0">
              <a:off x="0" y="0"/>
              <a:ext cx="1308522" cy="1356657"/>
            </a:xfrm>
            <a:custGeom>
              <a:avLst/>
              <a:gdLst/>
              <a:ahLst/>
              <a:cxnLst/>
              <a:rect r="r" b="b" t="t" l="l"/>
              <a:pathLst>
                <a:path h="1356657" w="1308522">
                  <a:moveTo>
                    <a:pt x="0" y="0"/>
                  </a:moveTo>
                  <a:lnTo>
                    <a:pt x="1308522" y="0"/>
                  </a:lnTo>
                  <a:lnTo>
                    <a:pt x="1308522" y="1356657"/>
                  </a:lnTo>
                  <a:lnTo>
                    <a:pt x="0" y="1356657"/>
                  </a:lnTo>
                  <a:close/>
                </a:path>
              </a:pathLst>
            </a:custGeom>
            <a:solidFill>
              <a:srgbClr val="028090"/>
            </a:solidFill>
          </p:spPr>
        </p:sp>
        <p:sp>
          <p:nvSpPr>
            <p:cNvPr name="TextBox 13" id="13"/>
            <p:cNvSpPr txBox="true"/>
            <p:nvPr/>
          </p:nvSpPr>
          <p:spPr>
            <a:xfrm>
              <a:off x="0" y="47625"/>
              <a:ext cx="1308522" cy="1309032"/>
            </a:xfrm>
            <a:prstGeom prst="rect">
              <a:avLst/>
            </a:prstGeom>
          </p:spPr>
          <p:txBody>
            <a:bodyPr anchor="ctr" rtlCol="false" tIns="50800" lIns="50800" bIns="50800" rIns="50800"/>
            <a:lstStyle/>
            <a:p>
              <a:pPr algn="ctr" marL="0" indent="0" lvl="0">
                <a:lnSpc>
                  <a:spcPts val="2160"/>
                </a:lnSpc>
              </a:pPr>
            </a:p>
          </p:txBody>
        </p:sp>
      </p:grpSp>
      <p:sp>
        <p:nvSpPr>
          <p:cNvPr name="Freeform 14" id="14"/>
          <p:cNvSpPr/>
          <p:nvPr/>
        </p:nvSpPr>
        <p:spPr>
          <a:xfrm flipH="false" flipV="false" rot="0">
            <a:off x="7425689" y="5003172"/>
            <a:ext cx="999119" cy="950677"/>
          </a:xfrm>
          <a:custGeom>
            <a:avLst/>
            <a:gdLst/>
            <a:ahLst/>
            <a:cxnLst/>
            <a:rect r="r" b="b" t="t" l="l"/>
            <a:pathLst>
              <a:path h="950677" w="999119">
                <a:moveTo>
                  <a:pt x="0" y="0"/>
                </a:moveTo>
                <a:lnTo>
                  <a:pt x="999118" y="0"/>
                </a:lnTo>
                <a:lnTo>
                  <a:pt x="999118" y="950677"/>
                </a:lnTo>
                <a:lnTo>
                  <a:pt x="0" y="950677"/>
                </a:lnTo>
                <a:lnTo>
                  <a:pt x="0" y="0"/>
                </a:lnTo>
                <a:close/>
              </a:path>
            </a:pathLst>
          </a:custGeom>
          <a:blipFill>
            <a:blip r:embed="rId2"/>
            <a:stretch>
              <a:fillRect l="0" t="0" r="0" b="0"/>
            </a:stretch>
          </a:blipFill>
          <a:ln cap="sq">
            <a:noFill/>
            <a:prstDash val="solid"/>
            <a:miter/>
          </a:ln>
        </p:spPr>
      </p:sp>
      <p:sp>
        <p:nvSpPr>
          <p:cNvPr name="Freeform 15" id="15"/>
          <p:cNvSpPr/>
          <p:nvPr/>
        </p:nvSpPr>
        <p:spPr>
          <a:xfrm flipH="false" flipV="false" rot="0">
            <a:off x="1603581" y="4882971"/>
            <a:ext cx="906466" cy="1075111"/>
          </a:xfrm>
          <a:custGeom>
            <a:avLst/>
            <a:gdLst/>
            <a:ahLst/>
            <a:cxnLst/>
            <a:rect r="r" b="b" t="t" l="l"/>
            <a:pathLst>
              <a:path h="1075111" w="906466">
                <a:moveTo>
                  <a:pt x="0" y="0"/>
                </a:moveTo>
                <a:lnTo>
                  <a:pt x="906466" y="0"/>
                </a:lnTo>
                <a:lnTo>
                  <a:pt x="906466" y="1075111"/>
                </a:lnTo>
                <a:lnTo>
                  <a:pt x="0" y="1075111"/>
                </a:lnTo>
                <a:lnTo>
                  <a:pt x="0" y="0"/>
                </a:lnTo>
                <a:close/>
              </a:path>
            </a:pathLst>
          </a:custGeom>
          <a:blipFill>
            <a:blip r:embed="rId3"/>
            <a:stretch>
              <a:fillRect l="0" t="0" r="0" b="0"/>
            </a:stretch>
          </a:blipFill>
          <a:ln cap="sq">
            <a:noFill/>
            <a:prstDash val="solid"/>
            <a:miter/>
          </a:ln>
        </p:spPr>
      </p:sp>
      <p:sp>
        <p:nvSpPr>
          <p:cNvPr name="Freeform 16" id="16"/>
          <p:cNvSpPr/>
          <p:nvPr/>
        </p:nvSpPr>
        <p:spPr>
          <a:xfrm flipH="false" flipV="false" rot="0">
            <a:off x="12928996" y="4875924"/>
            <a:ext cx="965657" cy="1097666"/>
          </a:xfrm>
          <a:custGeom>
            <a:avLst/>
            <a:gdLst/>
            <a:ahLst/>
            <a:cxnLst/>
            <a:rect r="r" b="b" t="t" l="l"/>
            <a:pathLst>
              <a:path h="1097666" w="965657">
                <a:moveTo>
                  <a:pt x="0" y="0"/>
                </a:moveTo>
                <a:lnTo>
                  <a:pt x="965657" y="0"/>
                </a:lnTo>
                <a:lnTo>
                  <a:pt x="965657" y="1097667"/>
                </a:lnTo>
                <a:lnTo>
                  <a:pt x="0" y="1097667"/>
                </a:lnTo>
                <a:lnTo>
                  <a:pt x="0" y="0"/>
                </a:lnTo>
                <a:close/>
              </a:path>
            </a:pathLst>
          </a:custGeom>
          <a:blipFill>
            <a:blip r:embed="rId4"/>
            <a:stretch>
              <a:fillRect l="0" t="0" r="0" b="0"/>
            </a:stretch>
          </a:blipFill>
        </p:spPr>
      </p:sp>
      <p:sp>
        <p:nvSpPr>
          <p:cNvPr name="TextBox 17" id="17"/>
          <p:cNvSpPr txBox="true"/>
          <p:nvPr/>
        </p:nvSpPr>
        <p:spPr>
          <a:xfrm rot="0">
            <a:off x="1028700" y="1095375"/>
            <a:ext cx="6120368" cy="1446943"/>
          </a:xfrm>
          <a:prstGeom prst="rect">
            <a:avLst/>
          </a:prstGeom>
        </p:spPr>
        <p:txBody>
          <a:bodyPr anchor="t" rtlCol="false" tIns="0" lIns="0" bIns="0" rIns="0">
            <a:spAutoFit/>
          </a:bodyPr>
          <a:lstStyle/>
          <a:p>
            <a:pPr algn="l" marL="0" indent="0" lvl="0">
              <a:lnSpc>
                <a:spcPts val="5348"/>
              </a:lnSpc>
            </a:pPr>
            <a:r>
              <a:rPr lang="en-US" sz="5514" spc="-104">
                <a:solidFill>
                  <a:srgbClr val="FFFFFF"/>
                </a:solidFill>
                <a:latin typeface="Poppins"/>
                <a:ea typeface="Poppins"/>
                <a:cs typeface="Poppins"/>
                <a:sym typeface="Poppins"/>
              </a:rPr>
              <a:t>Dimensiones Filosóficas de la IA</a:t>
            </a:r>
          </a:p>
        </p:txBody>
      </p:sp>
      <p:sp>
        <p:nvSpPr>
          <p:cNvPr name="TextBox 18" id="18"/>
          <p:cNvSpPr txBox="true"/>
          <p:nvPr/>
        </p:nvSpPr>
        <p:spPr>
          <a:xfrm rot="0">
            <a:off x="1617606" y="7016267"/>
            <a:ext cx="3790482" cy="1516089"/>
          </a:xfrm>
          <a:prstGeom prst="rect">
            <a:avLst/>
          </a:prstGeom>
        </p:spPr>
        <p:txBody>
          <a:bodyPr anchor="t" rtlCol="false" tIns="0" lIns="0" bIns="0" rIns="0">
            <a:spAutoFit/>
          </a:bodyPr>
          <a:lstStyle/>
          <a:p>
            <a:pPr algn="l" marL="0" indent="0" lvl="0">
              <a:lnSpc>
                <a:spcPts val="2433"/>
              </a:lnSpc>
            </a:pPr>
            <a:r>
              <a:rPr lang="en-US" sz="1600">
                <a:solidFill>
                  <a:srgbClr val="FFFFFF"/>
                </a:solidFill>
                <a:latin typeface="Inter"/>
                <a:ea typeface="Inter"/>
                <a:cs typeface="Inter"/>
                <a:sym typeface="Inter"/>
              </a:rPr>
              <a:t>Conocimiento y verdad en la era digital. ¿Cómo validamos la información generada por IA? La epistemología cuestiona los límites del saber algorítmico.</a:t>
            </a:r>
          </a:p>
        </p:txBody>
      </p:sp>
      <p:sp>
        <p:nvSpPr>
          <p:cNvPr name="TextBox 19" id="19"/>
          <p:cNvSpPr txBox="true"/>
          <p:nvPr/>
        </p:nvSpPr>
        <p:spPr>
          <a:xfrm rot="0">
            <a:off x="1617606" y="6496329"/>
            <a:ext cx="3790482"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Epistemológico</a:t>
            </a:r>
          </a:p>
        </p:txBody>
      </p:sp>
      <p:sp>
        <p:nvSpPr>
          <p:cNvPr name="TextBox 20" id="20"/>
          <p:cNvSpPr txBox="true"/>
          <p:nvPr/>
        </p:nvSpPr>
        <p:spPr>
          <a:xfrm rot="0">
            <a:off x="7482396" y="7016267"/>
            <a:ext cx="3322883" cy="1516089"/>
          </a:xfrm>
          <a:prstGeom prst="rect">
            <a:avLst/>
          </a:prstGeom>
        </p:spPr>
        <p:txBody>
          <a:bodyPr anchor="t" rtlCol="false" tIns="0" lIns="0" bIns="0" rIns="0">
            <a:spAutoFit/>
          </a:bodyPr>
          <a:lstStyle/>
          <a:p>
            <a:pPr algn="l" marL="0" indent="0" lvl="0">
              <a:lnSpc>
                <a:spcPts val="2433"/>
              </a:lnSpc>
            </a:pPr>
            <a:r>
              <a:rPr lang="en-US" sz="1600">
                <a:solidFill>
                  <a:srgbClr val="FFFFFF"/>
                </a:solidFill>
                <a:latin typeface="Inter"/>
                <a:ea typeface="Inter"/>
                <a:cs typeface="Inter"/>
                <a:sym typeface="Inter"/>
              </a:rPr>
              <a:t>Valores y ética incorporados en sistemas. Los algoritmos reflejan decisiones morales de sus creadores. La dimensión axiológica evalúa el bien y el mal digital.</a:t>
            </a:r>
          </a:p>
        </p:txBody>
      </p:sp>
      <p:sp>
        <p:nvSpPr>
          <p:cNvPr name="TextBox 21" id="21"/>
          <p:cNvSpPr txBox="true"/>
          <p:nvPr/>
        </p:nvSpPr>
        <p:spPr>
          <a:xfrm rot="0">
            <a:off x="7482396" y="6496329"/>
            <a:ext cx="3322883"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Axiológico</a:t>
            </a:r>
          </a:p>
        </p:txBody>
      </p:sp>
      <p:sp>
        <p:nvSpPr>
          <p:cNvPr name="TextBox 22" id="22"/>
          <p:cNvSpPr txBox="true"/>
          <p:nvPr/>
        </p:nvSpPr>
        <p:spPr>
          <a:xfrm rot="0">
            <a:off x="12925767" y="7016267"/>
            <a:ext cx="3698772" cy="1516089"/>
          </a:xfrm>
          <a:prstGeom prst="rect">
            <a:avLst/>
          </a:prstGeom>
        </p:spPr>
        <p:txBody>
          <a:bodyPr anchor="t" rtlCol="false" tIns="0" lIns="0" bIns="0" rIns="0">
            <a:spAutoFit/>
          </a:bodyPr>
          <a:lstStyle/>
          <a:p>
            <a:pPr algn="l" marL="0" indent="0" lvl="0">
              <a:lnSpc>
                <a:spcPts val="2433"/>
              </a:lnSpc>
            </a:pPr>
            <a:r>
              <a:rPr lang="en-US" sz="1600">
                <a:solidFill>
                  <a:srgbClr val="FFFFFF"/>
                </a:solidFill>
                <a:latin typeface="Inter"/>
                <a:ea typeface="Inter"/>
                <a:cs typeface="Inter"/>
                <a:sym typeface="Inter"/>
              </a:rPr>
              <a:t>Lo humano y la identidad frente a la IA. ¿Qué nos define como seres humanos? La tecnología desafía nuestra comprensión de la consciencia y la autonomía.</a:t>
            </a:r>
          </a:p>
        </p:txBody>
      </p:sp>
      <p:sp>
        <p:nvSpPr>
          <p:cNvPr name="TextBox 23" id="23"/>
          <p:cNvSpPr txBox="true"/>
          <p:nvPr/>
        </p:nvSpPr>
        <p:spPr>
          <a:xfrm rot="0">
            <a:off x="12925767" y="6496329"/>
            <a:ext cx="3698772"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Antropológico</a:t>
            </a:r>
          </a:p>
        </p:txBody>
      </p:sp>
      <p:sp>
        <p:nvSpPr>
          <p:cNvPr name="AutoShape 24" id="24"/>
          <p:cNvSpPr/>
          <p:nvPr/>
        </p:nvSpPr>
        <p:spPr>
          <a:xfrm>
            <a:off x="1028700" y="3124236"/>
            <a:ext cx="3709334" cy="0"/>
          </a:xfrm>
          <a:prstGeom prst="line">
            <a:avLst/>
          </a:prstGeom>
          <a:ln cap="flat" w="38100">
            <a:solidFill>
              <a:srgbClr val="FFFFFF"/>
            </a:solidFill>
            <a:prstDash val="solid"/>
            <a:headEnd type="none" len="sm" w="sm"/>
            <a:tailEnd type="none" len="sm" w="sm"/>
          </a:ln>
        </p:spPr>
      </p:sp>
      <p:grpSp>
        <p:nvGrpSpPr>
          <p:cNvPr name="Group 25" id="25"/>
          <p:cNvGrpSpPr/>
          <p:nvPr/>
        </p:nvGrpSpPr>
        <p:grpSpPr>
          <a:xfrm rot="0">
            <a:off x="16182554" y="1028700"/>
            <a:ext cx="1076746" cy="1076746"/>
            <a:chOff x="0" y="0"/>
            <a:chExt cx="673100" cy="673100"/>
          </a:xfrm>
        </p:grpSpPr>
        <p:sp>
          <p:nvSpPr>
            <p:cNvPr name="Freeform 26" id="26"/>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02C39A"/>
            </a:solidFill>
          </p:spPr>
        </p:sp>
        <p:sp>
          <p:nvSpPr>
            <p:cNvPr name="TextBox 27" id="27"/>
            <p:cNvSpPr txBox="true"/>
            <p:nvPr/>
          </p:nvSpPr>
          <p:spPr>
            <a:xfrm>
              <a:off x="165100" y="212725"/>
              <a:ext cx="342900" cy="295275"/>
            </a:xfrm>
            <a:prstGeom prst="rect">
              <a:avLst/>
            </a:prstGeom>
          </p:spPr>
          <p:txBody>
            <a:bodyPr anchor="ctr" rtlCol="false" tIns="50800" lIns="50800" bIns="50800" rIns="50800"/>
            <a:lstStyle/>
            <a:p>
              <a:pPr algn="ctr" marL="0" indent="0" lvl="0">
                <a:lnSpc>
                  <a:spcPts val="2160"/>
                </a:lnSpc>
              </a:pPr>
            </a:p>
          </p:txBody>
        </p:sp>
      </p:grpSp>
    </p:spTree>
  </p:cSld>
  <p:clrMapOvr>
    <a:masterClrMapping/>
  </p:clrMapOvr>
  <p:transition spd="slow">
    <p:push dir="r"/>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10800000">
            <a:off x="1028700" y="2241354"/>
            <a:ext cx="6269090" cy="8045646"/>
            <a:chOff x="0" y="0"/>
            <a:chExt cx="1651118" cy="2119018"/>
          </a:xfrm>
        </p:grpSpPr>
        <p:sp>
          <p:nvSpPr>
            <p:cNvPr name="Freeform 3" id="3"/>
            <p:cNvSpPr/>
            <p:nvPr/>
          </p:nvSpPr>
          <p:spPr>
            <a:xfrm flipH="false" flipV="false" rot="0">
              <a:off x="0" y="0"/>
              <a:ext cx="1651118" cy="2119018"/>
            </a:xfrm>
            <a:custGeom>
              <a:avLst/>
              <a:gdLst/>
              <a:ahLst/>
              <a:cxnLst/>
              <a:rect r="r" b="b" t="t" l="l"/>
              <a:pathLst>
                <a:path h="2119018" w="1651118">
                  <a:moveTo>
                    <a:pt x="0" y="0"/>
                  </a:moveTo>
                  <a:lnTo>
                    <a:pt x="1651118" y="0"/>
                  </a:lnTo>
                  <a:lnTo>
                    <a:pt x="1651118" y="2119018"/>
                  </a:lnTo>
                  <a:lnTo>
                    <a:pt x="0" y="2119018"/>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1651118" cy="2071393"/>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10800000">
            <a:off x="8381748" y="3958341"/>
            <a:ext cx="6269090" cy="6328659"/>
            <a:chOff x="0" y="0"/>
            <a:chExt cx="1651118" cy="1666807"/>
          </a:xfrm>
        </p:grpSpPr>
        <p:sp>
          <p:nvSpPr>
            <p:cNvPr name="Freeform 6" id="6"/>
            <p:cNvSpPr/>
            <p:nvPr/>
          </p:nvSpPr>
          <p:spPr>
            <a:xfrm flipH="false" flipV="false" rot="0">
              <a:off x="0" y="0"/>
              <a:ext cx="1651118" cy="1666807"/>
            </a:xfrm>
            <a:custGeom>
              <a:avLst/>
              <a:gdLst/>
              <a:ahLst/>
              <a:cxnLst/>
              <a:rect r="r" b="b" t="t" l="l"/>
              <a:pathLst>
                <a:path h="1666807" w="1651118">
                  <a:moveTo>
                    <a:pt x="0" y="0"/>
                  </a:moveTo>
                  <a:lnTo>
                    <a:pt x="1651118" y="0"/>
                  </a:lnTo>
                  <a:lnTo>
                    <a:pt x="1651118" y="1666807"/>
                  </a:lnTo>
                  <a:lnTo>
                    <a:pt x="0" y="1666807"/>
                  </a:lnTo>
                  <a:close/>
                </a:path>
              </a:pathLst>
            </a:custGeom>
            <a:gradFill rotWithShape="true">
              <a:gsLst>
                <a:gs pos="0">
                  <a:srgbClr val="028090">
                    <a:alpha val="100000"/>
                  </a:srgbClr>
                </a:gs>
                <a:gs pos="100000">
                  <a:srgbClr val="181717">
                    <a:alpha val="0"/>
                  </a:srgbClr>
                </a:gs>
              </a:gsLst>
              <a:lin ang="5400000"/>
            </a:gradFill>
          </p:spPr>
        </p:sp>
        <p:sp>
          <p:nvSpPr>
            <p:cNvPr name="TextBox 7" id="7"/>
            <p:cNvSpPr txBox="true"/>
            <p:nvPr/>
          </p:nvSpPr>
          <p:spPr>
            <a:xfrm>
              <a:off x="0" y="47625"/>
              <a:ext cx="1651118" cy="1619182"/>
            </a:xfrm>
            <a:prstGeom prst="rect">
              <a:avLst/>
            </a:prstGeom>
          </p:spPr>
          <p:txBody>
            <a:bodyPr anchor="ctr" rtlCol="false" tIns="50800" lIns="50800" bIns="50800" rIns="50800"/>
            <a:lstStyle/>
            <a:p>
              <a:pPr algn="ctr" marL="0" indent="0" lvl="0">
                <a:lnSpc>
                  <a:spcPts val="2160"/>
                </a:lnSpc>
              </a:pPr>
            </a:p>
          </p:txBody>
        </p:sp>
      </p:grpSp>
      <p:sp>
        <p:nvSpPr>
          <p:cNvPr name="Freeform 8" id="8"/>
          <p:cNvSpPr/>
          <p:nvPr/>
        </p:nvSpPr>
        <p:spPr>
          <a:xfrm flipH="false" flipV="false" rot="0">
            <a:off x="1092931" y="8663524"/>
            <a:ext cx="1037544" cy="591400"/>
          </a:xfrm>
          <a:custGeom>
            <a:avLst/>
            <a:gdLst/>
            <a:ahLst/>
            <a:cxnLst/>
            <a:rect r="r" b="b" t="t" l="l"/>
            <a:pathLst>
              <a:path h="591400" w="1037544">
                <a:moveTo>
                  <a:pt x="0" y="0"/>
                </a:moveTo>
                <a:lnTo>
                  <a:pt x="1037544" y="0"/>
                </a:lnTo>
                <a:lnTo>
                  <a:pt x="1037544" y="591400"/>
                </a:lnTo>
                <a:lnTo>
                  <a:pt x="0" y="591400"/>
                </a:lnTo>
                <a:lnTo>
                  <a:pt x="0" y="0"/>
                </a:lnTo>
                <a:close/>
              </a:path>
            </a:pathLst>
          </a:custGeom>
          <a:blipFill>
            <a:blip r:embed="rId2"/>
            <a:stretch>
              <a:fillRect l="0" t="0" r="0" b="0"/>
            </a:stretch>
          </a:blipFill>
        </p:spPr>
      </p:sp>
      <p:sp>
        <p:nvSpPr>
          <p:cNvPr name="TextBox 9" id="9"/>
          <p:cNvSpPr txBox="true"/>
          <p:nvPr/>
        </p:nvSpPr>
        <p:spPr>
          <a:xfrm rot="0">
            <a:off x="11761246" y="3407661"/>
            <a:ext cx="5498054" cy="1093250"/>
          </a:xfrm>
          <a:prstGeom prst="rect">
            <a:avLst/>
          </a:prstGeom>
        </p:spPr>
        <p:txBody>
          <a:bodyPr anchor="t" rtlCol="false" tIns="0" lIns="0" bIns="0" rIns="0">
            <a:spAutoFit/>
          </a:bodyPr>
          <a:lstStyle/>
          <a:p>
            <a:pPr algn="l" marL="0" indent="0" lvl="0">
              <a:lnSpc>
                <a:spcPts val="2216"/>
              </a:lnSpc>
            </a:pPr>
            <a:r>
              <a:rPr lang="en-US" sz="1458">
                <a:solidFill>
                  <a:srgbClr val="FFFFFF"/>
                </a:solidFill>
                <a:latin typeface="Inter"/>
                <a:ea typeface="Inter"/>
                <a:cs typeface="Inter"/>
                <a:sym typeface="Inter"/>
              </a:rPr>
              <a:t>Manuel Castells define la "Sociedad Red" como una nueva estructura social donde las redes digitales determinan el poder. Las asimetrías tecnológicas crean brechas entre quienes controlan la información y quienes la consumen.</a:t>
            </a:r>
          </a:p>
        </p:txBody>
      </p:sp>
      <p:sp>
        <p:nvSpPr>
          <p:cNvPr name="TextBox 10" id="10"/>
          <p:cNvSpPr txBox="true"/>
          <p:nvPr/>
        </p:nvSpPr>
        <p:spPr>
          <a:xfrm rot="0">
            <a:off x="11761246" y="4918584"/>
            <a:ext cx="5498054" cy="1369475"/>
          </a:xfrm>
          <a:prstGeom prst="rect">
            <a:avLst/>
          </a:prstGeom>
        </p:spPr>
        <p:txBody>
          <a:bodyPr anchor="t" rtlCol="false" tIns="0" lIns="0" bIns="0" rIns="0">
            <a:spAutoFit/>
          </a:bodyPr>
          <a:lstStyle/>
          <a:p>
            <a:pPr algn="l" marL="0" indent="0" lvl="0">
              <a:lnSpc>
                <a:spcPts val="2216"/>
              </a:lnSpc>
            </a:pPr>
            <a:r>
              <a:rPr lang="en-US" sz="1458">
                <a:solidFill>
                  <a:srgbClr val="FFFFFF"/>
                </a:solidFill>
                <a:latin typeface="Inter"/>
                <a:ea typeface="Inter"/>
                <a:cs typeface="Inter"/>
                <a:sym typeface="Inter"/>
              </a:rPr>
              <a:t>La participación ciudadana digital convive con la concentración del poder tecnológico en pocas corporaciones. Surgen nuevas formas de organización social, pero también nuevos mecanismos de vigilancia y control. El profesional informático debe comprender estas tensiones para actuar éticamente.</a:t>
            </a:r>
          </a:p>
        </p:txBody>
      </p:sp>
      <p:sp>
        <p:nvSpPr>
          <p:cNvPr name="TextBox 11" id="11"/>
          <p:cNvSpPr txBox="true"/>
          <p:nvPr/>
        </p:nvSpPr>
        <p:spPr>
          <a:xfrm rot="0">
            <a:off x="11761246" y="1104900"/>
            <a:ext cx="5498054" cy="773906"/>
          </a:xfrm>
          <a:prstGeom prst="rect">
            <a:avLst/>
          </a:prstGeom>
        </p:spPr>
        <p:txBody>
          <a:bodyPr anchor="t" rtlCol="false" tIns="0" lIns="0" bIns="0" rIns="0">
            <a:spAutoFit/>
          </a:bodyPr>
          <a:lstStyle/>
          <a:p>
            <a:pPr algn="l" marL="0" indent="0" lvl="0">
              <a:lnSpc>
                <a:spcPts val="5456"/>
              </a:lnSpc>
            </a:pPr>
            <a:r>
              <a:rPr lang="en-US" sz="5625" spc="-106">
                <a:solidFill>
                  <a:srgbClr val="FFFFFF"/>
                </a:solidFill>
                <a:latin typeface="Poppins"/>
                <a:ea typeface="Poppins"/>
                <a:cs typeface="Poppins"/>
                <a:sym typeface="Poppins"/>
              </a:rPr>
              <a:t>Transformación</a:t>
            </a:r>
          </a:p>
        </p:txBody>
      </p:sp>
      <p:sp>
        <p:nvSpPr>
          <p:cNvPr name="TextBox 12" id="12"/>
          <p:cNvSpPr txBox="true"/>
          <p:nvPr/>
        </p:nvSpPr>
        <p:spPr>
          <a:xfrm rot="0">
            <a:off x="11761246" y="1866900"/>
            <a:ext cx="5498054" cy="773906"/>
          </a:xfrm>
          <a:prstGeom prst="rect">
            <a:avLst/>
          </a:prstGeom>
        </p:spPr>
        <p:txBody>
          <a:bodyPr anchor="t" rtlCol="false" tIns="0" lIns="0" bIns="0" rIns="0">
            <a:spAutoFit/>
          </a:bodyPr>
          <a:lstStyle/>
          <a:p>
            <a:pPr algn="l" marL="0" indent="0" lvl="0">
              <a:lnSpc>
                <a:spcPts val="5456"/>
              </a:lnSpc>
            </a:pPr>
            <a:r>
              <a:rPr lang="en-US" sz="5625" spc="-106">
                <a:solidFill>
                  <a:srgbClr val="02C39A"/>
                </a:solidFill>
                <a:latin typeface="Poppins"/>
                <a:ea typeface="Poppins"/>
                <a:cs typeface="Poppins"/>
                <a:sym typeface="Poppins"/>
              </a:rPr>
              <a:t>Social</a:t>
            </a:r>
          </a:p>
        </p:txBody>
      </p:sp>
      <p:sp>
        <p:nvSpPr>
          <p:cNvPr name="Freeform 13" id="13"/>
          <p:cNvSpPr/>
          <p:nvPr/>
        </p:nvSpPr>
        <p:spPr>
          <a:xfrm flipH="false" flipV="false" rot="0">
            <a:off x="877687" y="922839"/>
            <a:ext cx="1194016" cy="1081417"/>
          </a:xfrm>
          <a:custGeom>
            <a:avLst/>
            <a:gdLst/>
            <a:ahLst/>
            <a:cxnLst/>
            <a:rect r="r" b="b" t="t" l="l"/>
            <a:pathLst>
              <a:path h="1081417" w="1194016">
                <a:moveTo>
                  <a:pt x="0" y="0"/>
                </a:moveTo>
                <a:lnTo>
                  <a:pt x="1194016" y="0"/>
                </a:lnTo>
                <a:lnTo>
                  <a:pt x="1194016" y="1081417"/>
                </a:lnTo>
                <a:lnTo>
                  <a:pt x="0" y="1081417"/>
                </a:lnTo>
                <a:lnTo>
                  <a:pt x="0" y="0"/>
                </a:lnTo>
                <a:close/>
              </a:path>
            </a:pathLst>
          </a:custGeom>
          <a:blipFill>
            <a:blip r:embed="rId3"/>
            <a:stretch>
              <a:fillRect l="0" t="0" r="0" b="0"/>
            </a:stretch>
          </a:blipFill>
        </p:spPr>
      </p:sp>
    </p:spTree>
  </p:cSld>
  <p:clrMapOvr>
    <a:masterClrMapping/>
  </p:clrMapOvr>
  <p:transition spd="slow">
    <p:push dir="r"/>
  </p:transition>
</p:sld>
</file>

<file path=ppt/slides/slide10.xml><?xml version="1.0" encoding="utf-8"?>
<p:sld xmlns:p="http://schemas.openxmlformats.org/presentationml/2006/main" xmlns:a="http://schemas.openxmlformats.org/drawingml/2006/main">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5400000">
            <a:off x="-1266311" y="436132"/>
            <a:ext cx="10287000" cy="9414736"/>
            <a:chOff x="0" y="0"/>
            <a:chExt cx="2709333" cy="2479601"/>
          </a:xfrm>
        </p:grpSpPr>
        <p:sp>
          <p:nvSpPr>
            <p:cNvPr name="Freeform 3" id="3"/>
            <p:cNvSpPr/>
            <p:nvPr/>
          </p:nvSpPr>
          <p:spPr>
            <a:xfrm flipH="false" flipV="false" rot="0">
              <a:off x="0" y="0"/>
              <a:ext cx="2709333" cy="2479601"/>
            </a:xfrm>
            <a:custGeom>
              <a:avLst/>
              <a:gdLst/>
              <a:ahLst/>
              <a:cxnLst/>
              <a:rect r="r" b="b" t="t" l="l"/>
              <a:pathLst>
                <a:path h="2479601" w="2709333">
                  <a:moveTo>
                    <a:pt x="0" y="0"/>
                  </a:moveTo>
                  <a:lnTo>
                    <a:pt x="2709333" y="0"/>
                  </a:lnTo>
                  <a:lnTo>
                    <a:pt x="2709333" y="2479601"/>
                  </a:lnTo>
                  <a:lnTo>
                    <a:pt x="0" y="2479601"/>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2709333" cy="2431976"/>
            </a:xfrm>
            <a:prstGeom prst="rect">
              <a:avLst/>
            </a:prstGeom>
          </p:spPr>
          <p:txBody>
            <a:bodyPr anchor="ctr" rtlCol="false" tIns="50800" lIns="50800" bIns="50800" rIns="50800"/>
            <a:lstStyle/>
            <a:p>
              <a:pPr algn="ctr" marL="0" indent="0" lvl="0">
                <a:lnSpc>
                  <a:spcPts val="2160"/>
                </a:lnSpc>
              </a:pPr>
            </a:p>
          </p:txBody>
        </p:sp>
      </p:grpSp>
      <p:sp>
        <p:nvSpPr>
          <p:cNvPr name="TextBox 5" id="5"/>
          <p:cNvSpPr txBox="true"/>
          <p:nvPr/>
        </p:nvSpPr>
        <p:spPr>
          <a:xfrm rot="0">
            <a:off x="1028700" y="4357624"/>
            <a:ext cx="6960793" cy="1531674"/>
          </a:xfrm>
          <a:prstGeom prst="rect">
            <a:avLst/>
          </a:prstGeom>
        </p:spPr>
        <p:txBody>
          <a:bodyPr anchor="t" rtlCol="false" tIns="0" lIns="0" bIns="0" rIns="0">
            <a:spAutoFit/>
          </a:bodyPr>
          <a:lstStyle/>
          <a:p>
            <a:pPr algn="l" marL="0" indent="0" lvl="0">
              <a:lnSpc>
                <a:spcPts val="5632"/>
              </a:lnSpc>
            </a:pPr>
            <a:r>
              <a:rPr lang="en-US" sz="5806" spc="-110">
                <a:solidFill>
                  <a:srgbClr val="FFFFFF"/>
                </a:solidFill>
                <a:latin typeface="Poppins"/>
                <a:ea typeface="Poppins"/>
                <a:cs typeface="Poppins"/>
                <a:sym typeface="Poppins"/>
              </a:rPr>
              <a:t>Emancipación vs. Colonialidad Digital</a:t>
            </a:r>
          </a:p>
        </p:txBody>
      </p:sp>
      <p:grpSp>
        <p:nvGrpSpPr>
          <p:cNvPr name="Group 6" id="6"/>
          <p:cNvGrpSpPr/>
          <p:nvPr/>
        </p:nvGrpSpPr>
        <p:grpSpPr>
          <a:xfrm rot="0">
            <a:off x="10021863" y="1028700"/>
            <a:ext cx="7237437" cy="2282997"/>
            <a:chOff x="0" y="0"/>
            <a:chExt cx="1906156" cy="601283"/>
          </a:xfrm>
        </p:grpSpPr>
        <p:sp>
          <p:nvSpPr>
            <p:cNvPr name="Freeform 7" id="7"/>
            <p:cNvSpPr/>
            <p:nvPr/>
          </p:nvSpPr>
          <p:spPr>
            <a:xfrm flipH="false" flipV="false" rot="0">
              <a:off x="0" y="0"/>
              <a:ext cx="1906156" cy="601283"/>
            </a:xfrm>
            <a:custGeom>
              <a:avLst/>
              <a:gdLst/>
              <a:ahLst/>
              <a:cxnLst/>
              <a:rect r="r" b="b" t="t" l="l"/>
              <a:pathLst>
                <a:path h="601283" w="1906156">
                  <a:moveTo>
                    <a:pt x="0" y="0"/>
                  </a:moveTo>
                  <a:lnTo>
                    <a:pt x="1906156" y="0"/>
                  </a:lnTo>
                  <a:lnTo>
                    <a:pt x="1906156" y="601283"/>
                  </a:lnTo>
                  <a:lnTo>
                    <a:pt x="0" y="601283"/>
                  </a:lnTo>
                  <a:close/>
                </a:path>
              </a:pathLst>
            </a:custGeom>
            <a:solidFill>
              <a:srgbClr val="028090"/>
            </a:solidFill>
          </p:spPr>
        </p:sp>
        <p:sp>
          <p:nvSpPr>
            <p:cNvPr name="TextBox 8" id="8"/>
            <p:cNvSpPr txBox="true"/>
            <p:nvPr/>
          </p:nvSpPr>
          <p:spPr>
            <a:xfrm>
              <a:off x="0" y="47625"/>
              <a:ext cx="1906156" cy="553658"/>
            </a:xfrm>
            <a:prstGeom prst="rect">
              <a:avLst/>
            </a:prstGeom>
          </p:spPr>
          <p:txBody>
            <a:bodyPr anchor="ctr" rtlCol="false" tIns="50800" lIns="50800" bIns="50800" rIns="50800"/>
            <a:lstStyle/>
            <a:p>
              <a:pPr algn="ctr" marL="0" indent="0" lvl="0">
                <a:lnSpc>
                  <a:spcPts val="2160"/>
                </a:lnSpc>
              </a:pPr>
            </a:p>
          </p:txBody>
        </p:sp>
      </p:grpSp>
      <p:grpSp>
        <p:nvGrpSpPr>
          <p:cNvPr name="Group 9" id="9"/>
          <p:cNvGrpSpPr/>
          <p:nvPr/>
        </p:nvGrpSpPr>
        <p:grpSpPr>
          <a:xfrm rot="0">
            <a:off x="9338271" y="1480768"/>
            <a:ext cx="1367184" cy="1378860"/>
            <a:chOff x="0" y="0"/>
            <a:chExt cx="360081" cy="363157"/>
          </a:xfrm>
        </p:grpSpPr>
        <p:sp>
          <p:nvSpPr>
            <p:cNvPr name="Freeform 10" id="10"/>
            <p:cNvSpPr/>
            <p:nvPr/>
          </p:nvSpPr>
          <p:spPr>
            <a:xfrm flipH="false" flipV="false" rot="0">
              <a:off x="0" y="0"/>
              <a:ext cx="360081" cy="363157"/>
            </a:xfrm>
            <a:custGeom>
              <a:avLst/>
              <a:gdLst/>
              <a:ahLst/>
              <a:cxnLst/>
              <a:rect r="r" b="b" t="t" l="l"/>
              <a:pathLst>
                <a:path h="363157" w="360081">
                  <a:moveTo>
                    <a:pt x="0" y="0"/>
                  </a:moveTo>
                  <a:lnTo>
                    <a:pt x="360081" y="0"/>
                  </a:lnTo>
                  <a:lnTo>
                    <a:pt x="360081" y="363157"/>
                  </a:lnTo>
                  <a:lnTo>
                    <a:pt x="0" y="363157"/>
                  </a:lnTo>
                  <a:close/>
                </a:path>
              </a:pathLst>
            </a:custGeom>
            <a:solidFill>
              <a:srgbClr val="02C39A"/>
            </a:solidFill>
          </p:spPr>
        </p:sp>
        <p:sp>
          <p:nvSpPr>
            <p:cNvPr name="TextBox 11" id="11"/>
            <p:cNvSpPr txBox="true"/>
            <p:nvPr/>
          </p:nvSpPr>
          <p:spPr>
            <a:xfrm>
              <a:off x="0" y="47625"/>
              <a:ext cx="360081" cy="315532"/>
            </a:xfrm>
            <a:prstGeom prst="rect">
              <a:avLst/>
            </a:prstGeom>
          </p:spPr>
          <p:txBody>
            <a:bodyPr anchor="ctr" rtlCol="false" tIns="50800" lIns="50800" bIns="50800" rIns="50800"/>
            <a:lstStyle/>
            <a:p>
              <a:pPr algn="ctr" marL="0" indent="0" lvl="0">
                <a:lnSpc>
                  <a:spcPts val="2160"/>
                </a:lnSpc>
              </a:pPr>
            </a:p>
          </p:txBody>
        </p:sp>
      </p:grpSp>
      <p:grpSp>
        <p:nvGrpSpPr>
          <p:cNvPr name="Group 12" id="12"/>
          <p:cNvGrpSpPr/>
          <p:nvPr/>
        </p:nvGrpSpPr>
        <p:grpSpPr>
          <a:xfrm rot="0">
            <a:off x="10021863" y="4002002"/>
            <a:ext cx="7237437" cy="2282997"/>
            <a:chOff x="0" y="0"/>
            <a:chExt cx="1906156" cy="601283"/>
          </a:xfrm>
        </p:grpSpPr>
        <p:sp>
          <p:nvSpPr>
            <p:cNvPr name="Freeform 13" id="13"/>
            <p:cNvSpPr/>
            <p:nvPr/>
          </p:nvSpPr>
          <p:spPr>
            <a:xfrm flipH="false" flipV="false" rot="0">
              <a:off x="0" y="0"/>
              <a:ext cx="1906156" cy="601283"/>
            </a:xfrm>
            <a:custGeom>
              <a:avLst/>
              <a:gdLst/>
              <a:ahLst/>
              <a:cxnLst/>
              <a:rect r="r" b="b" t="t" l="l"/>
              <a:pathLst>
                <a:path h="601283" w="1906156">
                  <a:moveTo>
                    <a:pt x="0" y="0"/>
                  </a:moveTo>
                  <a:lnTo>
                    <a:pt x="1906156" y="0"/>
                  </a:lnTo>
                  <a:lnTo>
                    <a:pt x="1906156" y="601283"/>
                  </a:lnTo>
                  <a:lnTo>
                    <a:pt x="0" y="601283"/>
                  </a:lnTo>
                  <a:close/>
                </a:path>
              </a:pathLst>
            </a:custGeom>
            <a:solidFill>
              <a:srgbClr val="028090"/>
            </a:solidFill>
          </p:spPr>
        </p:sp>
        <p:sp>
          <p:nvSpPr>
            <p:cNvPr name="TextBox 14" id="14"/>
            <p:cNvSpPr txBox="true"/>
            <p:nvPr/>
          </p:nvSpPr>
          <p:spPr>
            <a:xfrm>
              <a:off x="0" y="47625"/>
              <a:ext cx="1906156" cy="553658"/>
            </a:xfrm>
            <a:prstGeom prst="rect">
              <a:avLst/>
            </a:prstGeom>
          </p:spPr>
          <p:txBody>
            <a:bodyPr anchor="ctr" rtlCol="false" tIns="50800" lIns="50800" bIns="50800" rIns="50800"/>
            <a:lstStyle/>
            <a:p>
              <a:pPr algn="ctr" marL="0" indent="0" lvl="0">
                <a:lnSpc>
                  <a:spcPts val="2160"/>
                </a:lnSpc>
              </a:pPr>
            </a:p>
          </p:txBody>
        </p:sp>
      </p:grpSp>
      <p:grpSp>
        <p:nvGrpSpPr>
          <p:cNvPr name="Group 15" id="15"/>
          <p:cNvGrpSpPr/>
          <p:nvPr/>
        </p:nvGrpSpPr>
        <p:grpSpPr>
          <a:xfrm rot="0">
            <a:off x="9338271" y="4454070"/>
            <a:ext cx="1367184" cy="1378860"/>
            <a:chOff x="0" y="0"/>
            <a:chExt cx="360081" cy="363157"/>
          </a:xfrm>
        </p:grpSpPr>
        <p:sp>
          <p:nvSpPr>
            <p:cNvPr name="Freeform 16" id="16"/>
            <p:cNvSpPr/>
            <p:nvPr/>
          </p:nvSpPr>
          <p:spPr>
            <a:xfrm flipH="false" flipV="false" rot="0">
              <a:off x="0" y="0"/>
              <a:ext cx="360081" cy="363157"/>
            </a:xfrm>
            <a:custGeom>
              <a:avLst/>
              <a:gdLst/>
              <a:ahLst/>
              <a:cxnLst/>
              <a:rect r="r" b="b" t="t" l="l"/>
              <a:pathLst>
                <a:path h="363157" w="360081">
                  <a:moveTo>
                    <a:pt x="0" y="0"/>
                  </a:moveTo>
                  <a:lnTo>
                    <a:pt x="360081" y="0"/>
                  </a:lnTo>
                  <a:lnTo>
                    <a:pt x="360081" y="363157"/>
                  </a:lnTo>
                  <a:lnTo>
                    <a:pt x="0" y="363157"/>
                  </a:lnTo>
                  <a:close/>
                </a:path>
              </a:pathLst>
            </a:custGeom>
            <a:solidFill>
              <a:srgbClr val="02C39A"/>
            </a:solidFill>
          </p:spPr>
        </p:sp>
        <p:sp>
          <p:nvSpPr>
            <p:cNvPr name="TextBox 17" id="17"/>
            <p:cNvSpPr txBox="true"/>
            <p:nvPr/>
          </p:nvSpPr>
          <p:spPr>
            <a:xfrm>
              <a:off x="0" y="47625"/>
              <a:ext cx="360081" cy="315532"/>
            </a:xfrm>
            <a:prstGeom prst="rect">
              <a:avLst/>
            </a:prstGeom>
          </p:spPr>
          <p:txBody>
            <a:bodyPr anchor="ctr" rtlCol="false" tIns="50800" lIns="50800" bIns="50800" rIns="50800"/>
            <a:lstStyle/>
            <a:p>
              <a:pPr algn="ctr" marL="0" indent="0" lvl="0">
                <a:lnSpc>
                  <a:spcPts val="2160"/>
                </a:lnSpc>
              </a:pPr>
            </a:p>
          </p:txBody>
        </p:sp>
      </p:grpSp>
      <p:grpSp>
        <p:nvGrpSpPr>
          <p:cNvPr name="Group 18" id="18"/>
          <p:cNvGrpSpPr/>
          <p:nvPr/>
        </p:nvGrpSpPr>
        <p:grpSpPr>
          <a:xfrm rot="0">
            <a:off x="10021863" y="6970798"/>
            <a:ext cx="7237437" cy="2282997"/>
            <a:chOff x="0" y="0"/>
            <a:chExt cx="1906156" cy="601283"/>
          </a:xfrm>
        </p:grpSpPr>
        <p:sp>
          <p:nvSpPr>
            <p:cNvPr name="Freeform 19" id="19"/>
            <p:cNvSpPr/>
            <p:nvPr/>
          </p:nvSpPr>
          <p:spPr>
            <a:xfrm flipH="false" flipV="false" rot="0">
              <a:off x="0" y="0"/>
              <a:ext cx="1906156" cy="601283"/>
            </a:xfrm>
            <a:custGeom>
              <a:avLst/>
              <a:gdLst/>
              <a:ahLst/>
              <a:cxnLst/>
              <a:rect r="r" b="b" t="t" l="l"/>
              <a:pathLst>
                <a:path h="601283" w="1906156">
                  <a:moveTo>
                    <a:pt x="0" y="0"/>
                  </a:moveTo>
                  <a:lnTo>
                    <a:pt x="1906156" y="0"/>
                  </a:lnTo>
                  <a:lnTo>
                    <a:pt x="1906156" y="601283"/>
                  </a:lnTo>
                  <a:lnTo>
                    <a:pt x="0" y="601283"/>
                  </a:lnTo>
                  <a:close/>
                </a:path>
              </a:pathLst>
            </a:custGeom>
            <a:solidFill>
              <a:srgbClr val="028090"/>
            </a:solidFill>
          </p:spPr>
        </p:sp>
        <p:sp>
          <p:nvSpPr>
            <p:cNvPr name="TextBox 20" id="20"/>
            <p:cNvSpPr txBox="true"/>
            <p:nvPr/>
          </p:nvSpPr>
          <p:spPr>
            <a:xfrm>
              <a:off x="0" y="47625"/>
              <a:ext cx="1906156" cy="553658"/>
            </a:xfrm>
            <a:prstGeom prst="rect">
              <a:avLst/>
            </a:prstGeom>
          </p:spPr>
          <p:txBody>
            <a:bodyPr anchor="ctr" rtlCol="false" tIns="50800" lIns="50800" bIns="50800" rIns="50800"/>
            <a:lstStyle/>
            <a:p>
              <a:pPr algn="ctr" marL="0" indent="0" lvl="0">
                <a:lnSpc>
                  <a:spcPts val="2160"/>
                </a:lnSpc>
              </a:pPr>
            </a:p>
          </p:txBody>
        </p:sp>
      </p:grpSp>
      <p:grpSp>
        <p:nvGrpSpPr>
          <p:cNvPr name="Group 21" id="21"/>
          <p:cNvGrpSpPr/>
          <p:nvPr/>
        </p:nvGrpSpPr>
        <p:grpSpPr>
          <a:xfrm rot="0">
            <a:off x="9337651" y="7422867"/>
            <a:ext cx="1367184" cy="1378860"/>
            <a:chOff x="0" y="0"/>
            <a:chExt cx="360081" cy="363157"/>
          </a:xfrm>
        </p:grpSpPr>
        <p:sp>
          <p:nvSpPr>
            <p:cNvPr name="Freeform 22" id="22"/>
            <p:cNvSpPr/>
            <p:nvPr/>
          </p:nvSpPr>
          <p:spPr>
            <a:xfrm flipH="false" flipV="false" rot="0">
              <a:off x="0" y="0"/>
              <a:ext cx="360081" cy="363157"/>
            </a:xfrm>
            <a:custGeom>
              <a:avLst/>
              <a:gdLst/>
              <a:ahLst/>
              <a:cxnLst/>
              <a:rect r="r" b="b" t="t" l="l"/>
              <a:pathLst>
                <a:path h="363157" w="360081">
                  <a:moveTo>
                    <a:pt x="0" y="0"/>
                  </a:moveTo>
                  <a:lnTo>
                    <a:pt x="360081" y="0"/>
                  </a:lnTo>
                  <a:lnTo>
                    <a:pt x="360081" y="363157"/>
                  </a:lnTo>
                  <a:lnTo>
                    <a:pt x="0" y="363157"/>
                  </a:lnTo>
                  <a:close/>
                </a:path>
              </a:pathLst>
            </a:custGeom>
            <a:solidFill>
              <a:srgbClr val="02C39A"/>
            </a:solidFill>
          </p:spPr>
        </p:sp>
        <p:sp>
          <p:nvSpPr>
            <p:cNvPr name="TextBox 23" id="23"/>
            <p:cNvSpPr txBox="true"/>
            <p:nvPr/>
          </p:nvSpPr>
          <p:spPr>
            <a:xfrm>
              <a:off x="0" y="47625"/>
              <a:ext cx="360081" cy="315532"/>
            </a:xfrm>
            <a:prstGeom prst="rect">
              <a:avLst/>
            </a:prstGeom>
          </p:spPr>
          <p:txBody>
            <a:bodyPr anchor="ctr" rtlCol="false" tIns="50800" lIns="50800" bIns="50800" rIns="50800"/>
            <a:lstStyle/>
            <a:p>
              <a:pPr algn="ctr" marL="0" indent="0" lvl="0">
                <a:lnSpc>
                  <a:spcPts val="2160"/>
                </a:lnSpc>
              </a:pPr>
            </a:p>
          </p:txBody>
        </p:sp>
      </p:grpSp>
      <p:sp>
        <p:nvSpPr>
          <p:cNvPr name="TextBox 24" id="24"/>
          <p:cNvSpPr txBox="true"/>
          <p:nvPr/>
        </p:nvSpPr>
        <p:spPr>
          <a:xfrm rot="0">
            <a:off x="11237068" y="1924526"/>
            <a:ext cx="5722905" cy="764938"/>
          </a:xfrm>
          <a:prstGeom prst="rect">
            <a:avLst/>
          </a:prstGeom>
        </p:spPr>
        <p:txBody>
          <a:bodyPr anchor="t" rtlCol="false" tIns="0" lIns="0" bIns="0" rIns="0">
            <a:spAutoFit/>
          </a:bodyPr>
          <a:lstStyle/>
          <a:p>
            <a:pPr algn="l" marL="0" indent="0" lvl="0">
              <a:lnSpc>
                <a:spcPts val="2027"/>
              </a:lnSpc>
            </a:pPr>
            <a:r>
              <a:rPr lang="en-US" sz="1333">
                <a:solidFill>
                  <a:srgbClr val="FFFFFF"/>
                </a:solidFill>
                <a:latin typeface="Inter"/>
                <a:ea typeface="Inter"/>
                <a:cs typeface="Inter"/>
                <a:sym typeface="Inter"/>
              </a:rPr>
              <a:t>La tecnología puede ser un poderoso instrumento de emancipación social. Permite democratizar el acceso al conocimiento, fortalecer movimientos sociales y crear nuevas formas de participación ciudadana.</a:t>
            </a:r>
          </a:p>
        </p:txBody>
      </p:sp>
      <p:sp>
        <p:nvSpPr>
          <p:cNvPr name="TextBox 25" id="25"/>
          <p:cNvSpPr txBox="true"/>
          <p:nvPr/>
        </p:nvSpPr>
        <p:spPr>
          <a:xfrm rot="0">
            <a:off x="11237068" y="1513408"/>
            <a:ext cx="5569938"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Tecnología como Liberación</a:t>
            </a:r>
          </a:p>
        </p:txBody>
      </p:sp>
      <p:sp>
        <p:nvSpPr>
          <p:cNvPr name="TextBox 26" id="26"/>
          <p:cNvSpPr txBox="true"/>
          <p:nvPr/>
        </p:nvSpPr>
        <p:spPr>
          <a:xfrm rot="0">
            <a:off x="11237068" y="4893379"/>
            <a:ext cx="5722905" cy="764938"/>
          </a:xfrm>
          <a:prstGeom prst="rect">
            <a:avLst/>
          </a:prstGeom>
        </p:spPr>
        <p:txBody>
          <a:bodyPr anchor="t" rtlCol="false" tIns="0" lIns="0" bIns="0" rIns="0">
            <a:spAutoFit/>
          </a:bodyPr>
          <a:lstStyle/>
          <a:p>
            <a:pPr algn="l" marL="0" indent="0" lvl="0">
              <a:lnSpc>
                <a:spcPts val="2027"/>
              </a:lnSpc>
            </a:pPr>
            <a:r>
              <a:rPr lang="en-US" sz="1333">
                <a:solidFill>
                  <a:srgbClr val="FFFFFF"/>
                </a:solidFill>
                <a:latin typeface="Inter"/>
                <a:ea typeface="Inter"/>
                <a:cs typeface="Inter"/>
                <a:sym typeface="Inter"/>
              </a:rPr>
              <a:t>La dependencia de infraestructuras tecnológicas extranjeras genera nuevas formas de colonialismo digital. El control hegemónico de datos y plataformas perpetúa asimetrías de poder entre naciones.</a:t>
            </a:r>
          </a:p>
        </p:txBody>
      </p:sp>
      <p:sp>
        <p:nvSpPr>
          <p:cNvPr name="TextBox 27" id="27"/>
          <p:cNvSpPr txBox="true"/>
          <p:nvPr/>
        </p:nvSpPr>
        <p:spPr>
          <a:xfrm rot="0">
            <a:off x="11237068" y="4491159"/>
            <a:ext cx="5569938"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Riesgos del Neocolonialismo Digital</a:t>
            </a:r>
          </a:p>
        </p:txBody>
      </p:sp>
      <p:sp>
        <p:nvSpPr>
          <p:cNvPr name="TextBox 28" id="28"/>
          <p:cNvSpPr txBox="true"/>
          <p:nvPr/>
        </p:nvSpPr>
        <p:spPr>
          <a:xfrm rot="0">
            <a:off x="9645571" y="1767575"/>
            <a:ext cx="921581" cy="817299"/>
          </a:xfrm>
          <a:prstGeom prst="rect">
            <a:avLst/>
          </a:prstGeom>
        </p:spPr>
        <p:txBody>
          <a:bodyPr anchor="t" rtlCol="false" tIns="0" lIns="0" bIns="0" rIns="0">
            <a:spAutoFit/>
          </a:bodyPr>
          <a:lstStyle/>
          <a:p>
            <a:pPr algn="ctr" marL="0" indent="0" lvl="0">
              <a:lnSpc>
                <a:spcPts val="5632"/>
              </a:lnSpc>
            </a:pPr>
          </a:p>
        </p:txBody>
      </p:sp>
      <p:sp>
        <p:nvSpPr>
          <p:cNvPr name="TextBox 29" id="29"/>
          <p:cNvSpPr txBox="true"/>
          <p:nvPr/>
        </p:nvSpPr>
        <p:spPr>
          <a:xfrm rot="0">
            <a:off x="9486082" y="4740876"/>
            <a:ext cx="1081071" cy="817299"/>
          </a:xfrm>
          <a:prstGeom prst="rect">
            <a:avLst/>
          </a:prstGeom>
        </p:spPr>
        <p:txBody>
          <a:bodyPr anchor="t" rtlCol="false" tIns="0" lIns="0" bIns="0" rIns="0">
            <a:spAutoFit/>
          </a:bodyPr>
          <a:lstStyle/>
          <a:p>
            <a:pPr algn="ctr" marL="0" indent="0" lvl="0">
              <a:lnSpc>
                <a:spcPts val="5632"/>
              </a:lnSpc>
            </a:pPr>
          </a:p>
        </p:txBody>
      </p:sp>
      <p:sp>
        <p:nvSpPr>
          <p:cNvPr name="TextBox 30" id="30"/>
          <p:cNvSpPr txBox="true"/>
          <p:nvPr/>
        </p:nvSpPr>
        <p:spPr>
          <a:xfrm rot="0">
            <a:off x="9475334" y="7709673"/>
            <a:ext cx="1091819" cy="817299"/>
          </a:xfrm>
          <a:prstGeom prst="rect">
            <a:avLst/>
          </a:prstGeom>
        </p:spPr>
        <p:txBody>
          <a:bodyPr anchor="t" rtlCol="false" tIns="0" lIns="0" bIns="0" rIns="0">
            <a:spAutoFit/>
          </a:bodyPr>
          <a:lstStyle/>
          <a:p>
            <a:pPr algn="ctr" marL="0" indent="0" lvl="0">
              <a:lnSpc>
                <a:spcPts val="5632"/>
              </a:lnSpc>
            </a:pPr>
          </a:p>
        </p:txBody>
      </p:sp>
      <p:sp>
        <p:nvSpPr>
          <p:cNvPr name="TextBox 31" id="31"/>
          <p:cNvSpPr txBox="true"/>
          <p:nvPr/>
        </p:nvSpPr>
        <p:spPr>
          <a:xfrm rot="0">
            <a:off x="11237068" y="7868711"/>
            <a:ext cx="5722905" cy="764938"/>
          </a:xfrm>
          <a:prstGeom prst="rect">
            <a:avLst/>
          </a:prstGeom>
        </p:spPr>
        <p:txBody>
          <a:bodyPr anchor="t" rtlCol="false" tIns="0" lIns="0" bIns="0" rIns="0">
            <a:spAutoFit/>
          </a:bodyPr>
          <a:lstStyle/>
          <a:p>
            <a:pPr algn="l" marL="0" indent="0" lvl="0">
              <a:lnSpc>
                <a:spcPts val="2027"/>
              </a:lnSpc>
            </a:pPr>
            <a:r>
              <a:rPr lang="en-US" sz="1333">
                <a:solidFill>
                  <a:srgbClr val="FFFFFF"/>
                </a:solidFill>
                <a:latin typeface="Inter"/>
                <a:ea typeface="Inter"/>
                <a:cs typeface="Inter"/>
                <a:sym typeface="Inter"/>
              </a:rPr>
              <a:t>Romper la dependencia tecnológica requiere inversión en capacidades locales, formación de talento propio y políticas públicas que fomenten la innovación soberana y el desarrollo autónomo.</a:t>
            </a:r>
          </a:p>
        </p:txBody>
      </p:sp>
      <p:sp>
        <p:nvSpPr>
          <p:cNvPr name="TextBox 32" id="32"/>
          <p:cNvSpPr txBox="true"/>
          <p:nvPr/>
        </p:nvSpPr>
        <p:spPr>
          <a:xfrm rot="0">
            <a:off x="11237068" y="7453421"/>
            <a:ext cx="5569938" cy="310451"/>
          </a:xfrm>
          <a:prstGeom prst="rect">
            <a:avLst/>
          </a:prstGeom>
        </p:spPr>
        <p:txBody>
          <a:bodyPr anchor="t" rtlCol="false" tIns="0" lIns="0" bIns="0" rIns="0">
            <a:spAutoFit/>
          </a:bodyPr>
          <a:lstStyle/>
          <a:p>
            <a:pPr algn="l" marL="0" indent="0" lvl="0">
              <a:lnSpc>
                <a:spcPts val="2158"/>
              </a:lnSpc>
            </a:pPr>
            <a:r>
              <a:rPr lang="en-US" sz="2398" spc="-45">
                <a:solidFill>
                  <a:srgbClr val="FFFFFF"/>
                </a:solidFill>
                <a:latin typeface="Poppins"/>
                <a:ea typeface="Poppins"/>
                <a:cs typeface="Poppins"/>
                <a:sym typeface="Poppins"/>
              </a:rPr>
              <a:t>Desarrollo Tecnológico Autónomo</a:t>
            </a:r>
          </a:p>
        </p:txBody>
      </p:sp>
      <p:sp>
        <p:nvSpPr>
          <p:cNvPr name="AutoShape 33" id="33"/>
          <p:cNvSpPr/>
          <p:nvPr/>
        </p:nvSpPr>
        <p:spPr>
          <a:xfrm>
            <a:off x="1028700" y="6265948"/>
            <a:ext cx="4066657" cy="0"/>
          </a:xfrm>
          <a:prstGeom prst="line">
            <a:avLst/>
          </a:prstGeom>
          <a:ln cap="flat" w="38100">
            <a:solidFill>
              <a:srgbClr val="FFFFFF"/>
            </a:solidFill>
            <a:prstDash val="solid"/>
            <a:headEnd type="none" len="sm" w="sm"/>
            <a:tailEnd type="none" len="sm" w="sm"/>
          </a:ln>
        </p:spPr>
      </p:sp>
    </p:spTree>
  </p:cSld>
  <p:clrMapOvr>
    <a:masterClrMapping/>
  </p:clrMapOvr>
  <p:transition spd="slow">
    <p:push dir="r"/>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0">
            <a:off x="1028700" y="-300473"/>
            <a:ext cx="6269090" cy="8045646"/>
            <a:chOff x="0" y="0"/>
            <a:chExt cx="1651118" cy="2119018"/>
          </a:xfrm>
        </p:grpSpPr>
        <p:sp>
          <p:nvSpPr>
            <p:cNvPr name="Freeform 3" id="3"/>
            <p:cNvSpPr/>
            <p:nvPr/>
          </p:nvSpPr>
          <p:spPr>
            <a:xfrm flipH="false" flipV="false" rot="0">
              <a:off x="0" y="0"/>
              <a:ext cx="1651118" cy="2119018"/>
            </a:xfrm>
            <a:custGeom>
              <a:avLst/>
              <a:gdLst/>
              <a:ahLst/>
              <a:cxnLst/>
              <a:rect r="r" b="b" t="t" l="l"/>
              <a:pathLst>
                <a:path h="2119018" w="1651118">
                  <a:moveTo>
                    <a:pt x="0" y="0"/>
                  </a:moveTo>
                  <a:lnTo>
                    <a:pt x="1651118" y="0"/>
                  </a:lnTo>
                  <a:lnTo>
                    <a:pt x="1651118" y="2119018"/>
                  </a:lnTo>
                  <a:lnTo>
                    <a:pt x="0" y="2119018"/>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1651118" cy="2071393"/>
            </a:xfrm>
            <a:prstGeom prst="rect">
              <a:avLst/>
            </a:prstGeom>
          </p:spPr>
          <p:txBody>
            <a:bodyPr anchor="ctr" rtlCol="false" tIns="50800" lIns="50800" bIns="50800" rIns="50800"/>
            <a:lstStyle/>
            <a:p>
              <a:pPr algn="ctr" marL="0" indent="0" lvl="0">
                <a:lnSpc>
                  <a:spcPts val="2160"/>
                </a:lnSpc>
              </a:pPr>
            </a:p>
          </p:txBody>
        </p:sp>
      </p:grpSp>
      <p:grpSp>
        <p:nvGrpSpPr>
          <p:cNvPr name="Group 5" id="5"/>
          <p:cNvGrpSpPr/>
          <p:nvPr/>
        </p:nvGrpSpPr>
        <p:grpSpPr>
          <a:xfrm rot="0">
            <a:off x="8614911" y="-300473"/>
            <a:ext cx="6269090" cy="6328659"/>
            <a:chOff x="0" y="0"/>
            <a:chExt cx="1651118" cy="1666807"/>
          </a:xfrm>
        </p:grpSpPr>
        <p:sp>
          <p:nvSpPr>
            <p:cNvPr name="Freeform 6" id="6"/>
            <p:cNvSpPr/>
            <p:nvPr/>
          </p:nvSpPr>
          <p:spPr>
            <a:xfrm flipH="false" flipV="false" rot="0">
              <a:off x="0" y="0"/>
              <a:ext cx="1651118" cy="1666807"/>
            </a:xfrm>
            <a:custGeom>
              <a:avLst/>
              <a:gdLst/>
              <a:ahLst/>
              <a:cxnLst/>
              <a:rect r="r" b="b" t="t" l="l"/>
              <a:pathLst>
                <a:path h="1666807" w="1651118">
                  <a:moveTo>
                    <a:pt x="0" y="0"/>
                  </a:moveTo>
                  <a:lnTo>
                    <a:pt x="1651118" y="0"/>
                  </a:lnTo>
                  <a:lnTo>
                    <a:pt x="1651118" y="1666807"/>
                  </a:lnTo>
                  <a:lnTo>
                    <a:pt x="0" y="1666807"/>
                  </a:lnTo>
                  <a:close/>
                </a:path>
              </a:pathLst>
            </a:custGeom>
            <a:gradFill rotWithShape="true">
              <a:gsLst>
                <a:gs pos="0">
                  <a:srgbClr val="028090">
                    <a:alpha val="100000"/>
                  </a:srgbClr>
                </a:gs>
                <a:gs pos="100000">
                  <a:srgbClr val="181717">
                    <a:alpha val="0"/>
                  </a:srgbClr>
                </a:gs>
              </a:gsLst>
              <a:lin ang="5400000"/>
            </a:gradFill>
          </p:spPr>
        </p:sp>
        <p:sp>
          <p:nvSpPr>
            <p:cNvPr name="TextBox 7" id="7"/>
            <p:cNvSpPr txBox="true"/>
            <p:nvPr/>
          </p:nvSpPr>
          <p:spPr>
            <a:xfrm>
              <a:off x="0" y="47625"/>
              <a:ext cx="1651118" cy="1619182"/>
            </a:xfrm>
            <a:prstGeom prst="rect">
              <a:avLst/>
            </a:prstGeom>
          </p:spPr>
          <p:txBody>
            <a:bodyPr anchor="ctr" rtlCol="false" tIns="50800" lIns="50800" bIns="50800" rIns="50800"/>
            <a:lstStyle/>
            <a:p>
              <a:pPr algn="ctr" marL="0" indent="0" lvl="0">
                <a:lnSpc>
                  <a:spcPts val="2160"/>
                </a:lnSpc>
              </a:pPr>
            </a:p>
          </p:txBody>
        </p:sp>
      </p:grpSp>
      <p:sp>
        <p:nvSpPr>
          <p:cNvPr name="TextBox 8" id="8"/>
          <p:cNvSpPr txBox="true"/>
          <p:nvPr/>
        </p:nvSpPr>
        <p:spPr>
          <a:xfrm rot="0">
            <a:off x="10063720" y="5717029"/>
            <a:ext cx="7195580" cy="906489"/>
          </a:xfrm>
          <a:prstGeom prst="rect">
            <a:avLst/>
          </a:prstGeom>
        </p:spPr>
        <p:txBody>
          <a:bodyPr anchor="t" rtlCol="false" tIns="0" lIns="0" bIns="0" rIns="0">
            <a:spAutoFit/>
          </a:bodyPr>
          <a:lstStyle/>
          <a:p>
            <a:pPr algn="l" marL="0" indent="0" lvl="0">
              <a:lnSpc>
                <a:spcPts val="2433"/>
              </a:lnSpc>
            </a:pPr>
            <a:r>
              <a:rPr lang="en-US" sz="1600">
                <a:solidFill>
                  <a:srgbClr val="FFFFFF"/>
                </a:solidFill>
                <a:latin typeface="Inter"/>
                <a:ea typeface="Inter"/>
                <a:cs typeface="Inter"/>
                <a:sym typeface="Inter"/>
              </a:rPr>
              <a:t>La reivindicación tecnológica debe orientarse hacia el bienestar humano colectivo. La tecnología no es neutral: puede ser herramienta de liberación o de opresión según quién la controle y con qué propósito.</a:t>
            </a:r>
          </a:p>
        </p:txBody>
      </p:sp>
      <p:sp>
        <p:nvSpPr>
          <p:cNvPr name="TextBox 9" id="9"/>
          <p:cNvSpPr txBox="true"/>
          <p:nvPr/>
        </p:nvSpPr>
        <p:spPr>
          <a:xfrm rot="0">
            <a:off x="10063720" y="7007098"/>
            <a:ext cx="7195580" cy="906489"/>
          </a:xfrm>
          <a:prstGeom prst="rect">
            <a:avLst/>
          </a:prstGeom>
        </p:spPr>
        <p:txBody>
          <a:bodyPr anchor="t" rtlCol="false" tIns="0" lIns="0" bIns="0" rIns="0">
            <a:spAutoFit/>
          </a:bodyPr>
          <a:lstStyle/>
          <a:p>
            <a:pPr algn="l" marL="0" indent="0" lvl="0">
              <a:lnSpc>
                <a:spcPts val="2433"/>
              </a:lnSpc>
            </a:pPr>
            <a:r>
              <a:rPr lang="en-US" sz="1600">
                <a:solidFill>
                  <a:srgbClr val="FFFFFF"/>
                </a:solidFill>
                <a:latin typeface="Inter"/>
                <a:ea typeface="Inter"/>
                <a:cs typeface="Inter"/>
                <a:sym typeface="Inter"/>
              </a:rPr>
              <a:t>La comunicación libre y el acceso democrático a la tecnología son derechos fundamentales en la era digital. Debemos garantizar que las herramientas digitales estén al servicio de las mayorías, no de élites concentradas.</a:t>
            </a:r>
          </a:p>
        </p:txBody>
      </p:sp>
      <p:sp>
        <p:nvSpPr>
          <p:cNvPr name="TextBox 10" id="10"/>
          <p:cNvSpPr txBox="true"/>
          <p:nvPr/>
        </p:nvSpPr>
        <p:spPr>
          <a:xfrm rot="0">
            <a:off x="10063720" y="8298688"/>
            <a:ext cx="7195580" cy="906489"/>
          </a:xfrm>
          <a:prstGeom prst="rect">
            <a:avLst/>
          </a:prstGeom>
        </p:spPr>
        <p:txBody>
          <a:bodyPr anchor="t" rtlCol="false" tIns="0" lIns="0" bIns="0" rIns="0">
            <a:spAutoFit/>
          </a:bodyPr>
          <a:lstStyle/>
          <a:p>
            <a:pPr algn="l" marL="0" indent="0" lvl="0">
              <a:lnSpc>
                <a:spcPts val="2433"/>
              </a:lnSpc>
            </a:pPr>
            <a:r>
              <a:rPr lang="en-US" sz="1600">
                <a:solidFill>
                  <a:srgbClr val="FFFFFF"/>
                </a:solidFill>
                <a:latin typeface="Inter"/>
                <a:ea typeface="Inter"/>
                <a:cs typeface="Inter"/>
                <a:sym typeface="Inter"/>
              </a:rPr>
              <a:t>El uso crítico y consciente de la tecnología empodera a los ciudadanos. Como profesionales informáticos, tenemos el deber de promover la alfabetización digital y el pensamiento crítico.</a:t>
            </a:r>
          </a:p>
        </p:txBody>
      </p:sp>
      <p:sp>
        <p:nvSpPr>
          <p:cNvPr name="TextBox 11" id="11"/>
          <p:cNvSpPr txBox="true"/>
          <p:nvPr/>
        </p:nvSpPr>
        <p:spPr>
          <a:xfrm rot="0">
            <a:off x="10063720" y="3332551"/>
            <a:ext cx="7195580" cy="676456"/>
          </a:xfrm>
          <a:prstGeom prst="rect">
            <a:avLst/>
          </a:prstGeom>
        </p:spPr>
        <p:txBody>
          <a:bodyPr anchor="t" rtlCol="false" tIns="0" lIns="0" bIns="0" rIns="0">
            <a:spAutoFit/>
          </a:bodyPr>
          <a:lstStyle/>
          <a:p>
            <a:pPr algn="l" marL="0" indent="0" lvl="0">
              <a:lnSpc>
                <a:spcPts val="4750"/>
              </a:lnSpc>
            </a:pPr>
            <a:r>
              <a:rPr lang="en-US" sz="4897" spc="-93">
                <a:solidFill>
                  <a:srgbClr val="FFFFFF"/>
                </a:solidFill>
                <a:latin typeface="Poppins"/>
                <a:ea typeface="Poppins"/>
                <a:cs typeface="Poppins"/>
                <a:sym typeface="Poppins"/>
              </a:rPr>
              <a:t>Democracia Subalterna</a:t>
            </a:r>
          </a:p>
        </p:txBody>
      </p:sp>
      <p:sp>
        <p:nvSpPr>
          <p:cNvPr name="TextBox 12" id="12"/>
          <p:cNvSpPr txBox="true"/>
          <p:nvPr/>
        </p:nvSpPr>
        <p:spPr>
          <a:xfrm rot="0">
            <a:off x="10063720" y="4094551"/>
            <a:ext cx="7195580" cy="676456"/>
          </a:xfrm>
          <a:prstGeom prst="rect">
            <a:avLst/>
          </a:prstGeom>
        </p:spPr>
        <p:txBody>
          <a:bodyPr anchor="t" rtlCol="false" tIns="0" lIns="0" bIns="0" rIns="0">
            <a:spAutoFit/>
          </a:bodyPr>
          <a:lstStyle/>
          <a:p>
            <a:pPr algn="l" marL="0" indent="0" lvl="0">
              <a:lnSpc>
                <a:spcPts val="4750"/>
              </a:lnSpc>
            </a:pPr>
            <a:r>
              <a:rPr lang="en-US" sz="4897" spc="-93">
                <a:solidFill>
                  <a:srgbClr val="02C39A"/>
                </a:solidFill>
                <a:latin typeface="Poppins"/>
                <a:ea typeface="Poppins"/>
                <a:cs typeface="Poppins"/>
                <a:sym typeface="Poppins"/>
              </a:rPr>
              <a:t>y Uso Racional</a:t>
            </a:r>
          </a:p>
        </p:txBody>
      </p:sp>
      <p:sp>
        <p:nvSpPr>
          <p:cNvPr name="Freeform 13" id="13"/>
          <p:cNvSpPr/>
          <p:nvPr/>
        </p:nvSpPr>
        <p:spPr>
          <a:xfrm flipH="false" flipV="false" rot="0">
            <a:off x="1028700" y="1028700"/>
            <a:ext cx="1196920" cy="648825"/>
          </a:xfrm>
          <a:custGeom>
            <a:avLst/>
            <a:gdLst/>
            <a:ahLst/>
            <a:cxnLst/>
            <a:rect r="r" b="b" t="t" l="l"/>
            <a:pathLst>
              <a:path h="648825" w="1196920">
                <a:moveTo>
                  <a:pt x="0" y="0"/>
                </a:moveTo>
                <a:lnTo>
                  <a:pt x="1196920" y="0"/>
                </a:lnTo>
                <a:lnTo>
                  <a:pt x="1196920" y="648825"/>
                </a:lnTo>
                <a:lnTo>
                  <a:pt x="0" y="648825"/>
                </a:lnTo>
                <a:lnTo>
                  <a:pt x="0" y="0"/>
                </a:lnTo>
                <a:close/>
              </a:path>
            </a:pathLst>
          </a:custGeom>
          <a:blipFill>
            <a:blip r:embed="rId2">
              <a:extLst>
                <a:ext uri="{96DAC541-7B7A-43D3-8B79-37D633B846F1}">
                  <asvg:svgBlip xmlns:asvg="http://schemas.microsoft.com/office/drawing/2016/SVG/main" r:embed="rId3"/>
                </a:ext>
              </a:extLst>
            </a:blip>
            <a:stretch>
              <a:fillRect l="0" t="-116048" r="-113998" b="0"/>
            </a:stretch>
          </a:blipFill>
        </p:spPr>
      </p:sp>
      <p:grpSp>
        <p:nvGrpSpPr>
          <p:cNvPr name="Group 14" id="14"/>
          <p:cNvGrpSpPr/>
          <p:nvPr/>
        </p:nvGrpSpPr>
        <p:grpSpPr>
          <a:xfrm rot="0">
            <a:off x="1057118" y="8164389"/>
            <a:ext cx="1140084" cy="1076746"/>
            <a:chOff x="0" y="0"/>
            <a:chExt cx="685800" cy="647700"/>
          </a:xfrm>
        </p:grpSpPr>
        <p:sp>
          <p:nvSpPr>
            <p:cNvPr name="Freeform 15" id="15"/>
            <p:cNvSpPr/>
            <p:nvPr/>
          </p:nvSpPr>
          <p:spPr>
            <a:xfrm flipH="false" flipV="false" rot="0">
              <a:off x="0" y="0"/>
              <a:ext cx="685800" cy="647700"/>
            </a:xfrm>
            <a:custGeom>
              <a:avLst/>
              <a:gdLst/>
              <a:ahLst/>
              <a:cxnLst/>
              <a:rect r="r" b="b" t="t" l="l"/>
              <a:pathLst>
                <a:path h="647700" w="6858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02C39A"/>
            </a:solidFill>
          </p:spPr>
        </p:sp>
        <p:sp>
          <p:nvSpPr>
            <p:cNvPr name="TextBox 16" id="16"/>
            <p:cNvSpPr txBox="true"/>
            <p:nvPr/>
          </p:nvSpPr>
          <p:spPr>
            <a:xfrm>
              <a:off x="171450" y="200025"/>
              <a:ext cx="342900" cy="295275"/>
            </a:xfrm>
            <a:prstGeom prst="rect">
              <a:avLst/>
            </a:prstGeom>
          </p:spPr>
          <p:txBody>
            <a:bodyPr anchor="ctr" rtlCol="false" tIns="50800" lIns="50800" bIns="50800" rIns="50800"/>
            <a:lstStyle/>
            <a:p>
              <a:pPr algn="ctr" marL="0" indent="0" lvl="0">
                <a:lnSpc>
                  <a:spcPts val="2160"/>
                </a:lnSpc>
              </a:pPr>
            </a:p>
          </p:txBody>
        </p:sp>
      </p:grpSp>
    </p:spTree>
  </p:cSld>
  <p:clrMapOvr>
    <a:masterClrMapping/>
  </p:clrMapOvr>
  <p:transition spd="slow">
    <p:push dir="r"/>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81717"/>
        </a:solidFill>
      </p:bgPr>
    </p:bg>
    <p:spTree>
      <p:nvGrpSpPr>
        <p:cNvPr id="1" name=""/>
        <p:cNvGrpSpPr/>
        <p:nvPr/>
      </p:nvGrpSpPr>
      <p:grpSpPr>
        <a:xfrm>
          <a:off x="0" y="0"/>
          <a:ext cx="0" cy="0"/>
          <a:chOff x="0" y="0"/>
          <a:chExt cx="0" cy="0"/>
        </a:xfrm>
      </p:grpSpPr>
      <p:grpSp>
        <p:nvGrpSpPr>
          <p:cNvPr name="Group 2" id="2"/>
          <p:cNvGrpSpPr/>
          <p:nvPr/>
        </p:nvGrpSpPr>
        <p:grpSpPr>
          <a:xfrm rot="-5400000">
            <a:off x="-3876178" y="658853"/>
            <a:ext cx="10287000" cy="8969294"/>
            <a:chOff x="0" y="0"/>
            <a:chExt cx="2709333" cy="2362283"/>
          </a:xfrm>
        </p:grpSpPr>
        <p:sp>
          <p:nvSpPr>
            <p:cNvPr name="Freeform 3" id="3"/>
            <p:cNvSpPr/>
            <p:nvPr/>
          </p:nvSpPr>
          <p:spPr>
            <a:xfrm flipH="false" flipV="false" rot="0">
              <a:off x="0" y="0"/>
              <a:ext cx="2709333" cy="2362283"/>
            </a:xfrm>
            <a:custGeom>
              <a:avLst/>
              <a:gdLst/>
              <a:ahLst/>
              <a:cxnLst/>
              <a:rect r="r" b="b" t="t" l="l"/>
              <a:pathLst>
                <a:path h="2362283" w="2709333">
                  <a:moveTo>
                    <a:pt x="0" y="0"/>
                  </a:moveTo>
                  <a:lnTo>
                    <a:pt x="2709333" y="0"/>
                  </a:lnTo>
                  <a:lnTo>
                    <a:pt x="2709333" y="2362283"/>
                  </a:lnTo>
                  <a:lnTo>
                    <a:pt x="0" y="2362283"/>
                  </a:lnTo>
                  <a:close/>
                </a:path>
              </a:pathLst>
            </a:custGeom>
            <a:gradFill rotWithShape="true">
              <a:gsLst>
                <a:gs pos="0">
                  <a:srgbClr val="028090">
                    <a:alpha val="100000"/>
                  </a:srgbClr>
                </a:gs>
                <a:gs pos="100000">
                  <a:srgbClr val="181717">
                    <a:alpha val="0"/>
                  </a:srgbClr>
                </a:gs>
              </a:gsLst>
              <a:lin ang="5400000"/>
            </a:gradFill>
          </p:spPr>
        </p:sp>
        <p:sp>
          <p:nvSpPr>
            <p:cNvPr name="TextBox 4" id="4"/>
            <p:cNvSpPr txBox="true"/>
            <p:nvPr/>
          </p:nvSpPr>
          <p:spPr>
            <a:xfrm>
              <a:off x="0" y="47625"/>
              <a:ext cx="2709333" cy="2314658"/>
            </a:xfrm>
            <a:prstGeom prst="rect">
              <a:avLst/>
            </a:prstGeom>
          </p:spPr>
          <p:txBody>
            <a:bodyPr anchor="ctr" rtlCol="false" tIns="50800" lIns="50800" bIns="50800" rIns="50800"/>
            <a:lstStyle/>
            <a:p>
              <a:pPr algn="ctr" marL="0" indent="0" lvl="0">
                <a:lnSpc>
                  <a:spcPts val="2160"/>
                </a:lnSpc>
              </a:pPr>
            </a:p>
          </p:txBody>
        </p:sp>
      </p:grpSp>
      <p:sp>
        <p:nvSpPr>
          <p:cNvPr name="TextBox 5" id="5"/>
          <p:cNvSpPr txBox="true"/>
          <p:nvPr/>
        </p:nvSpPr>
        <p:spPr>
          <a:xfrm rot="0">
            <a:off x="4297132" y="3806129"/>
            <a:ext cx="9693736" cy="1493422"/>
          </a:xfrm>
          <a:prstGeom prst="rect">
            <a:avLst/>
          </a:prstGeom>
        </p:spPr>
        <p:txBody>
          <a:bodyPr anchor="t" rtlCol="false" tIns="0" lIns="0" bIns="0" rIns="0">
            <a:spAutoFit/>
          </a:bodyPr>
          <a:lstStyle/>
          <a:p>
            <a:pPr algn="ctr" marL="0" indent="0" lvl="0">
              <a:lnSpc>
                <a:spcPts val="10371"/>
              </a:lnSpc>
            </a:pPr>
            <a:r>
              <a:rPr lang="en-US" sz="10692" spc="-203">
                <a:solidFill>
                  <a:srgbClr val="FFFFFF"/>
                </a:solidFill>
                <a:latin typeface="Poppins"/>
                <a:ea typeface="Poppins"/>
                <a:cs typeface="Poppins"/>
                <a:sym typeface="Poppins"/>
              </a:rPr>
              <a:t>Gracias por</a:t>
            </a:r>
          </a:p>
        </p:txBody>
      </p:sp>
      <p:sp>
        <p:nvSpPr>
          <p:cNvPr name="TextBox 6" id="6"/>
          <p:cNvSpPr txBox="true"/>
          <p:nvPr/>
        </p:nvSpPr>
        <p:spPr>
          <a:xfrm rot="0">
            <a:off x="3614507" y="5120579"/>
            <a:ext cx="11058986" cy="1493422"/>
          </a:xfrm>
          <a:prstGeom prst="rect">
            <a:avLst/>
          </a:prstGeom>
        </p:spPr>
        <p:txBody>
          <a:bodyPr anchor="t" rtlCol="false" tIns="0" lIns="0" bIns="0" rIns="0">
            <a:spAutoFit/>
          </a:bodyPr>
          <a:lstStyle/>
          <a:p>
            <a:pPr algn="ctr" marL="0" indent="0" lvl="0">
              <a:lnSpc>
                <a:spcPts val="10371"/>
              </a:lnSpc>
            </a:pPr>
            <a:r>
              <a:rPr lang="en-US" sz="10692" spc="-203">
                <a:solidFill>
                  <a:srgbClr val="02C39A"/>
                </a:solidFill>
                <a:latin typeface="Poppins"/>
                <a:ea typeface="Poppins"/>
                <a:cs typeface="Poppins"/>
                <a:sym typeface="Poppins"/>
              </a:rPr>
              <a:t>Su Atención</a:t>
            </a:r>
          </a:p>
        </p:txBody>
      </p:sp>
      <p:sp>
        <p:nvSpPr>
          <p:cNvPr name="Freeform 7" id="7"/>
          <p:cNvSpPr/>
          <p:nvPr/>
        </p:nvSpPr>
        <p:spPr>
          <a:xfrm flipH="false" flipV="false" rot="0">
            <a:off x="1028700" y="1028700"/>
            <a:ext cx="394157" cy="391550"/>
          </a:xfrm>
          <a:custGeom>
            <a:avLst/>
            <a:gdLst/>
            <a:ahLst/>
            <a:cxnLst/>
            <a:rect r="r" b="b" t="t" l="l"/>
            <a:pathLst>
              <a:path h="391550" w="394157">
                <a:moveTo>
                  <a:pt x="0" y="0"/>
                </a:moveTo>
                <a:lnTo>
                  <a:pt x="394157" y="0"/>
                </a:lnTo>
                <a:lnTo>
                  <a:pt x="394157" y="391550"/>
                </a:lnTo>
                <a:lnTo>
                  <a:pt x="0" y="391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582283" y="1064455"/>
            <a:ext cx="2075906" cy="272458"/>
          </a:xfrm>
          <a:prstGeom prst="rect">
            <a:avLst/>
          </a:prstGeom>
        </p:spPr>
        <p:txBody>
          <a:bodyPr anchor="t" rtlCol="false" tIns="0" lIns="0" bIns="0" rIns="0">
            <a:spAutoFit/>
          </a:bodyPr>
          <a:lstStyle/>
          <a:p>
            <a:pPr algn="l" marL="0" indent="0" lvl="0">
              <a:lnSpc>
                <a:spcPts val="2278"/>
              </a:lnSpc>
            </a:pPr>
            <a:r>
              <a:rPr lang="en-US" sz="1498">
                <a:solidFill>
                  <a:srgbClr val="FFFFFF"/>
                </a:solidFill>
                <a:latin typeface="Inter"/>
                <a:ea typeface="Inter"/>
                <a:cs typeface="Inter"/>
                <a:sym typeface="Inter"/>
              </a:rPr>
              <a:t>Gravity Tech</a:t>
            </a:r>
          </a:p>
        </p:txBody>
      </p:sp>
      <p:grpSp>
        <p:nvGrpSpPr>
          <p:cNvPr name="Group 9" id="9"/>
          <p:cNvGrpSpPr/>
          <p:nvPr/>
        </p:nvGrpSpPr>
        <p:grpSpPr>
          <a:xfrm rot="5400000">
            <a:off x="12195876" y="340155"/>
            <a:ext cx="10287000" cy="9606689"/>
            <a:chOff x="0" y="0"/>
            <a:chExt cx="2709333" cy="2530157"/>
          </a:xfrm>
        </p:grpSpPr>
        <p:sp>
          <p:nvSpPr>
            <p:cNvPr name="Freeform 10" id="10"/>
            <p:cNvSpPr/>
            <p:nvPr/>
          </p:nvSpPr>
          <p:spPr>
            <a:xfrm flipH="false" flipV="false" rot="0">
              <a:off x="0" y="0"/>
              <a:ext cx="2709333" cy="2530157"/>
            </a:xfrm>
            <a:custGeom>
              <a:avLst/>
              <a:gdLst/>
              <a:ahLst/>
              <a:cxnLst/>
              <a:rect r="r" b="b" t="t" l="l"/>
              <a:pathLst>
                <a:path h="2530157" w="2709333">
                  <a:moveTo>
                    <a:pt x="0" y="0"/>
                  </a:moveTo>
                  <a:lnTo>
                    <a:pt x="2709333" y="0"/>
                  </a:lnTo>
                  <a:lnTo>
                    <a:pt x="2709333" y="2530157"/>
                  </a:lnTo>
                  <a:lnTo>
                    <a:pt x="0" y="2530157"/>
                  </a:lnTo>
                  <a:close/>
                </a:path>
              </a:pathLst>
            </a:custGeom>
            <a:gradFill rotWithShape="true">
              <a:gsLst>
                <a:gs pos="0">
                  <a:srgbClr val="028090">
                    <a:alpha val="100000"/>
                  </a:srgbClr>
                </a:gs>
                <a:gs pos="100000">
                  <a:srgbClr val="181717">
                    <a:alpha val="0"/>
                  </a:srgbClr>
                </a:gs>
              </a:gsLst>
              <a:lin ang="5400000"/>
            </a:gradFill>
          </p:spPr>
        </p:sp>
        <p:sp>
          <p:nvSpPr>
            <p:cNvPr name="TextBox 11" id="11"/>
            <p:cNvSpPr txBox="true"/>
            <p:nvPr/>
          </p:nvSpPr>
          <p:spPr>
            <a:xfrm>
              <a:off x="0" y="47625"/>
              <a:ext cx="2709333" cy="2482532"/>
            </a:xfrm>
            <a:prstGeom prst="rect">
              <a:avLst/>
            </a:prstGeom>
          </p:spPr>
          <p:txBody>
            <a:bodyPr anchor="ctr" rtlCol="false" tIns="50800" lIns="50800" bIns="50800" rIns="50800"/>
            <a:lstStyle/>
            <a:p>
              <a:pPr algn="ctr" marL="0" indent="0" lvl="0">
                <a:lnSpc>
                  <a:spcPts val="2160"/>
                </a:lnSpc>
              </a:pPr>
            </a:p>
          </p:txBody>
        </p:sp>
      </p:grpSp>
      <p:sp>
        <p:nvSpPr>
          <p:cNvPr name="AutoShape 12" id="12"/>
          <p:cNvSpPr/>
          <p:nvPr/>
        </p:nvSpPr>
        <p:spPr>
          <a:xfrm>
            <a:off x="6659939" y="6941525"/>
            <a:ext cx="4968121" cy="0"/>
          </a:xfrm>
          <a:prstGeom prst="line">
            <a:avLst/>
          </a:prstGeom>
          <a:ln cap="flat" w="38100">
            <a:solidFill>
              <a:srgbClr val="FFFFFF"/>
            </a:solidFill>
            <a:prstDash val="solid"/>
            <a:headEnd type="none" len="sm" w="sm"/>
            <a:tailEnd type="none" len="sm" w="sm"/>
          </a:ln>
        </p:spPr>
      </p:sp>
      <p:sp>
        <p:nvSpPr>
          <p:cNvPr name="Freeform 13" id="13"/>
          <p:cNvSpPr/>
          <p:nvPr/>
        </p:nvSpPr>
        <p:spPr>
          <a:xfrm flipH="false" flipV="true" rot="0">
            <a:off x="16182554" y="8181554"/>
            <a:ext cx="1076746" cy="1076746"/>
          </a:xfrm>
          <a:custGeom>
            <a:avLst/>
            <a:gdLst/>
            <a:ahLst/>
            <a:cxnLst/>
            <a:rect r="r" b="b" t="t" l="l"/>
            <a:pathLst>
              <a:path h="1076746" w="1076746">
                <a:moveTo>
                  <a:pt x="0" y="1076746"/>
                </a:moveTo>
                <a:lnTo>
                  <a:pt x="1076746" y="1076746"/>
                </a:lnTo>
                <a:lnTo>
                  <a:pt x="1076746" y="0"/>
                </a:lnTo>
                <a:lnTo>
                  <a:pt x="0" y="0"/>
                </a:lnTo>
                <a:lnTo>
                  <a:pt x="0" y="1076746"/>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DAHJmRRxF7A</dc:identifier>
  <dcterms:modified xsi:type="dcterms:W3CDTF">2011-08-01T06:04:30Z</dcterms:modified>
  <cp:revision>1</cp:revision>
  <dc:title>El Profesional de la Informática ante Desafíos de la Soberanía y la IA</dc:title>
</cp:coreProperties>
</file>