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7" r:id="rId10"/>
    <p:sldId id="29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99" r:id="rId36"/>
    <p:sldId id="288" r:id="rId37"/>
    <p:sldId id="289" r:id="rId38"/>
    <p:sldId id="290" r:id="rId39"/>
    <p:sldId id="291" r:id="rId40"/>
    <p:sldId id="292" r:id="rId41"/>
    <p:sldId id="293" r:id="rId42"/>
    <p:sldId id="296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8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893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082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86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319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5.png"/><Relationship Id="rId5" Type="http://schemas.openxmlformats.org/officeDocument/2006/relationships/image" Target="../media/image13.png"/><Relationship Id="rId10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572000" cy="45720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459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República Bolivariana de Venezuela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38404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Ministerio del Poder Popular para la Educación Universitaria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0350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Territorial del Estado Mérida "Kléber Ramírez"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0" y="914400"/>
            <a:ext cx="6400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05156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" y="18288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para la Gestión Académica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57200" y="2212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Universidad Politécnica Territorial del Estado Mérida "Kléber Ramírez"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371600" y="2633472"/>
            <a:ext cx="64008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788920"/>
            <a:ext cx="7132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Autores: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Peña – C.I. 24.349.651   |   Rubén Ramírez – C.I. 16.020.185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3106824"/>
            <a:ext cx="7132320" cy="3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</a:t>
            </a:r>
            <a:r>
              <a:rPr lang="en-US" sz="1100" b="1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Prof. Rafael Pérez 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</a:t>
            </a:r>
            <a:r>
              <a:rPr lang="en-US" sz="1100" b="1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Comunitario</a:t>
            </a: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Yermain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Rojas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543685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Trayecto III – Ingeniería en Sistemas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3799717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Ejido, Estado Mérida  |  Mayo 2026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91032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 Técnica – Proyecto Sociotecnológico  |  UPTMKR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85800"/>
            <a:ext cx="41148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583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583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59536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731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UPTM Digital?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51560" y="10058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móvil multiplataforma desarrollada en Flutter, orientada a digitalizar y optimizar los procesos académicos del DARE de la UPTMKR.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0040" y="15727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15727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73936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16459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General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51560" y="19202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académico institucional (DARE) opera restringido a la red local, limitando el acceso de estudiantes y docentes desde el exterior, agravado por un ciberataque que afectó la infraestructura.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24871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20040" y="24871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88336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51560" y="2560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Sociotecnológico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051560" y="28346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que integra la participación comunitaria universitaria con el desarrollo tecnológico, respondiendo a necesidades reales diagnosticadas mediante técnicas participativas.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20040" y="3401568"/>
            <a:ext cx="8503920" cy="8412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20040" y="3401568"/>
            <a:ext cx="54864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02736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34747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51560" y="3749040"/>
            <a:ext cx="7589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imperativo institucional y nacional de modernizar los servicios universitarios, garantizando acceso seguro, continuo e inclusivo a la información académica.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Participativo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la Comunidad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583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640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Territorial del Estado Mérida "Kléber Ramírez" – UPTMKR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1207008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207008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16736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86968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86968" y="159105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Avenida Centenario, sector La Victoria, Ejido, Municipio Campo Elías, Estado Mérida, Venezuela.</a:t>
            </a:r>
          </a:p>
          <a:p>
            <a:pPr marL="0" indent="0">
              <a:buNone/>
            </a:pPr>
            <a:r>
              <a:rPr lang="es-E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Referencia: Campus principal de la UPTMKR, ubicado en la zona sur del estado Mérida.</a:t>
            </a:r>
          </a:p>
        </p:txBody>
      </p:sp>
      <p:sp>
        <p:nvSpPr>
          <p:cNvPr id="14" name="Shape 10"/>
          <p:cNvSpPr/>
          <p:nvPr/>
        </p:nvSpPr>
        <p:spPr>
          <a:xfrm>
            <a:off x="4663440" y="1207008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1207008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316736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30368" y="1298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230368" y="159105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profesionales integrales con visión humanista y tecnológica, comprometidos con el desarrollo sostenible del país y la transformación social.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20040" y="2743200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274320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85292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968" y="2834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886968" y="312724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una institución de referencia en educación politécnica territorial, reconocida por la calidad académica, la innovación y la vinculación comunitaria.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663440" y="2743200"/>
            <a:ext cx="425196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63440" y="2743200"/>
            <a:ext cx="54864" cy="14173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2852928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2834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 Contacto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230368" y="312724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Yermain Rojas – Jefe del Departamento de Admisión, Registro y Evaluación (DARE)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Detectada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6217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crítica en la gestión académica digital de la UPTMKR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0040" y="105156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1051560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106424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 red local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138074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DARE únicamente opera dentro de la red interna universitaria.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051560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051560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106424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Ciberataque institucional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00600" y="1380744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ataque informático comprometió la infraestructura, agravando la inaccesibilidad.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191109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" y="1911096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19659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limitado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57200" y="224028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docentes no pueden consultar información académica de forma remota.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663440" y="1911096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63440" y="1911096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1965960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800600" y="2240280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Trámites como constancias y horarios siguen gestionándose en papel, generando demoras.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0040" y="27706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0040" y="2770632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282549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remoto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57200" y="3099816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total de canal digital externo seguro para acceder a datos académicos.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2770632"/>
            <a:ext cx="42519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63440" y="2770632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00600" y="2825496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modernización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00600" y="3099816"/>
            <a:ext cx="4050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comunidad universitaria demanda soluciones digitales ágiles, seguras y accesibles.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del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en trámites académicos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80160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Desinformación estudiantil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administrativa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institucional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08976" y="1371600"/>
            <a:ext cx="0" cy="384048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CENTRAL: Limitado acceso remoto y seguro al sistema académico DARE de la UPTMKR para estudiantes y docentes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DARE restringido a red local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56432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Ciberataque que comprometió la infraestructura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32704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API o canal externo seguro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08976" y="2414016"/>
            <a:ext cx="0" cy="384048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académicos manuales y presenciales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Objetivos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 ágil y transparente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280160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universitaria informada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56432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administrativa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32704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8686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institucional fortalecida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08976" y="1371600"/>
            <a:ext cx="0" cy="384048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1755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CENTRAL: Desarrollar UPTM Digital para garantizar acceso seguro y accesible al sistema académico DARE de la UPTMKR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280160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API REST con autenticación JWT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56432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app Flutter multiplataforma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32704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base de datos PostgreSQL/Supabase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808976" y="2414016"/>
            <a:ext cx="0" cy="384048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solidFill>
            <a:srgbClr val="E0F7FA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2798064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 procesos y trámites académicos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4320" y="340156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FODA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2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13DD0AF0-1009-CFA8-0832-2CE03BCBF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548640"/>
            <a:ext cx="8641080" cy="43381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Marco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2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D88917A-3EAA-D8C7-99FC-FA60DC33E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7979"/>
            <a:ext cx="9144000" cy="30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96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Marco </a:t>
            </a:r>
            <a:r>
              <a:rPr lang="en-US" sz="2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59436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DEBILIDADES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8346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AMENAZAS</a:t>
            </a:r>
            <a:endParaRPr lang="en-US" sz="12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AE72318-A975-9BAC-7143-9C8E744E4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18" y="629094"/>
            <a:ext cx="8661862" cy="42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859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Sociotecnológico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Técnica de la Situación Problemática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75488" cy="6217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960120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9966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del sistema actual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71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DARE opera exclusivamente en la red LAN universitaria, sin ningún mecanismo de acceso externo.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728216"/>
            <a:ext cx="475488" cy="62179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72821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1728216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17647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informática comprometida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391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ciberataque afectó la infraestructura institucional, evidenciando la necesidad de arquitecturas más robustas.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496312"/>
            <a:ext cx="475488" cy="621792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9631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22960" y="2496312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532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limitado para la comunidad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807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docentes se ven imposibilitados de consultar notas, horarios y tramitar constancias fuera del campus.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264408"/>
            <a:ext cx="475488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26440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960" y="3264408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330098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una app móvil segura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5753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demanda una aplicación que implemente autenticación JWT, HTTPS y comunicación cifrada con el backend.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4032504"/>
            <a:ext cx="475488" cy="6217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03250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22960" y="4032504"/>
            <a:ext cx="8001000" cy="62179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 con operatividad offline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012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debe funcionar con datos en caché cuando no exista conectividad, garantizando disponibilidad continua.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8580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85800"/>
            <a:ext cx="8503920" cy="320040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685800"/>
            <a:ext cx="8503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" y="3831336"/>
            <a:ext cx="85039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7498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11887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móvil denominada UPTM Digital, orientada a optimizar los procesos académicos y administrativos del Departamento de Admisión, Registro y Evaluación (DARE) de la Universidad Politécnica Territorial del Estado Mérida "Kleber Ramírez", garantizando una salida segura y accesible del sistema institucional para estudiantes y docentes.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58952" y="594360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649224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la situación actual del sistema de gestión académica del DARE, identificando las limitaciones de acceso, seguridad y funcionalidad que afectan a estudiantes y docentes de la UPTMKR.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44752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" y="1444752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1499616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del sistema de la aplicación móvil UPTM Digital, definiendo los módulos funcionales, la estructura de base de datos, los flujos de usuario y los mecanismos de seguridad requeridos.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295144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" y="2295144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350008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los módulos funcionales de la aplicación móvil UPTM Digital utilizando Flutter como framework de desarrollo, integrando una API REST en ASP.NET Core con autenticación mediante JWT y base de datos PostgreSQL.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45536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145536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8952" y="3145536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200400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módulo de seguridad y control de acceso mediante generación y validación de códigos QR dinámicos, garantizando la autenticidad de los usuarios dentro del campus universitario.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995928"/>
            <a:ext cx="411480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95928"/>
            <a:ext cx="411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58952" y="3995928"/>
            <a:ext cx="8065008" cy="713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050792"/>
            <a:ext cx="7818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funcionamiento de la aplicación móvil UPTM Digital mediante pruebas funcionales, de rendimiento y de seguridad, verificando el cumplimiento de los requisitos establecidos y la satisfacción de los usuarios.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e Importancia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922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6583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106984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Moderniza los procesos universitarios, eliminando brechas tecnológicas entre la institución y su comunidad.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5943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59436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6492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6583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Tecnológica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10128" y="106984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acceso igualitario a servicios académicos para toda la comunidad, independientemente de su ubicación.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59436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594360"/>
            <a:ext cx="2743200" cy="4114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64922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37960" y="65836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Procesos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190488" y="106984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tiempos y errores en la gestión de constancias, horarios, notas y control de asistencia.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26974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697480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752344"/>
            <a:ext cx="301752" cy="301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77240" y="276148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Institucional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29768" y="317296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 autenticación JWT, cifrado BCrypt y HTTPS para proteger la información académica sensible.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26974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697480"/>
            <a:ext cx="2743200" cy="4114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752344"/>
            <a:ext cx="301752" cy="3017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276148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Universitaria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10128" y="317296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la información y mejora la comunicación entre administración, docentes y estudiantes.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2697480"/>
            <a:ext cx="2743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2697480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752344"/>
            <a:ext cx="301752" cy="30175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37960" y="2761488"/>
            <a:ext cx="22128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Patria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190488" y="3172968"/>
            <a:ext cx="2542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alinea con los objetivos nacionales de soberanía tecnológica, transformación digital y desarrollo científico.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 y Alcances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Ámbito geográfico: UPTMKR, Ejido, Estado Mérida.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4813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beneficiaria: estudiantes, docentes y personal del DARE.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desarrollo: Trayecto III – 2025/2026.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objetivo: DARE (Admisión, Registro y Evaluación).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Plataforma: dispositivos móviles Android (con compatibilidad iOS mediante Flutter).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10058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autenticación segura con JWT y BCrypt.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48132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notas, horarios e información académica.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9568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y validación de constancias digitales.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243230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mediante códigos QR dinámicos.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290779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y comunicación institucional en tiempo real.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33832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 con caché local para acceso sin red.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594360"/>
            <a:ext cx="0" cy="4160520"/>
          </a:xfrm>
          <a:prstGeom prst="line">
            <a:avLst/>
          </a:prstGeom>
          <a:noFill/>
          <a:ln w="12700">
            <a:solidFill>
              <a:srgbClr val="ECEFF1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de Factibilidad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02996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disponible (smartphones Android)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y ASP.NET Core: frameworks estables y documentados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y Supabase: soluciones probadas en producción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 competencias en Kotlin, Flutter y API 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6312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594360"/>
            <a:ext cx="202996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87752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desarrollo open-source sin costo de licencia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y Render ofrecen planes gratuitos para desarrollo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operativo mínimo en fase inicial del proyecto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concentrada en recurso humano (horas de desarrollo)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2584" y="594360"/>
            <a:ext cx="2029968" cy="45720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64024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 de la comunidad universitaria por soluciones digitales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directa en la calidad del servicio académico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filas y trámites presenciales innecesarios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tecnológica para toda la comunidad UPTMKR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48856" y="594360"/>
            <a:ext cx="202996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48856" y="594360"/>
            <a:ext cx="2029968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48856" y="5943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40296" y="1106424"/>
            <a:ext cx="184708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que reduce la curva de aprendizaje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y manual de usuario incluidos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capacitación para administradores del DARE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planificado para la fase de implantación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Referencial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Antecedentes de Investigación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886968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418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University (Reino Unido): Implementación de apps móviles para la gestión académica con arquitectura API REST, sentando precedente en educación a distancia digital.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545336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002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Autónoma de México (UNAM) : La UNAM ha implementado plataformas móviles con acceso a matrícula, control de notas y comunicación académica, integradas con sus sistemas institucionales mediante autenticación segura. 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85039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951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87752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42616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académicas institucionales en universidades venezolanas: En el país se han desarrollado sistemas de gestión estudiantil, mayormente web, que facilitan el control académico interno, aunque sin soluciones móviles robustas. </a:t>
            </a: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00984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soberanía tecnológica y uso de software libre: En concordancia con los lineamientos del Estado venezolano, se promueve el uso de tecnologías abiertas para fortalecer la independencia tecnológica y la seguridad institucional.</a:t>
            </a:r>
          </a:p>
        </p:txBody>
      </p:sp>
      <p:sp>
        <p:nvSpPr>
          <p:cNvPr id="18" name="Shape 16"/>
          <p:cNvSpPr/>
          <p:nvPr/>
        </p:nvSpPr>
        <p:spPr>
          <a:xfrm>
            <a:off x="320040" y="3995928"/>
            <a:ext cx="8503920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9959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88536"/>
            <a:ext cx="8503920" cy="640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34340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s-E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interno del DARE y su actual restricción de uso: El sistema interno de la universidad, que sufrió un ataque cibernético, continúa operativo de manera limitada y solo accesible en red local.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Teóricas y Tecnológicas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59436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4904" y="594360"/>
            <a:ext cx="2103120" cy="749808"/>
          </a:xfrm>
          <a:prstGeom prst="rect">
            <a:avLst/>
          </a:prstGeom>
          <a:solidFill>
            <a:srgbClr val="1565C0">
              <a:alpha val="12000"/>
            </a:srgbClr>
          </a:solidFill>
          <a:ln w="12700">
            <a:solidFill>
              <a:srgbClr val="1565C0">
                <a:alpha val="1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667512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Sociotecnológico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685800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el componente social y el tecnológico como </a:t>
            </a:r>
            <a:r>
              <a:rPr lang="en-US" sz="1050" dirty="0" err="1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interdependientes. El desarrollo tecnológico debe responder a las necesidades reales de la comunidad.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3560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435608"/>
            <a:ext cx="54864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" y="1435608"/>
            <a:ext cx="2103120" cy="749808"/>
          </a:xfrm>
          <a:prstGeom prst="rect">
            <a:avLst/>
          </a:prstGeom>
          <a:solidFill>
            <a:srgbClr val="0097A7">
              <a:alpha val="12000"/>
            </a:srgbClr>
          </a:solidFill>
          <a:ln w="12700">
            <a:solidFill>
              <a:srgbClr val="0097A7">
                <a:alpha val="1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087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 General de Sistemas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1527048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 la aplicación como un sistema compuesto por subsistemas interrelacionados: autenticación, gestión académica, control de acceso y comunicación.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27685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276856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" y="2276856"/>
            <a:ext cx="2103120" cy="749808"/>
          </a:xfrm>
          <a:prstGeom prst="rect">
            <a:avLst/>
          </a:prstGeom>
          <a:solidFill>
            <a:srgbClr val="2E7D32">
              <a:alpha val="12000"/>
            </a:srgbClr>
          </a:solidFill>
          <a:ln w="12700">
            <a:solidFill>
              <a:srgbClr val="2E7D32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50008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Prototipos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2368296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iterativa que permite construir versiones funcionales del sistema para obtener retroalimentación continua del usuario final.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11810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18104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3118104"/>
            <a:ext cx="2103120" cy="749808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>
                <a:alpha val="1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91256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Informática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06040" y="3209544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CIA (Confidencialidad, Integridad, Disponibilidad) aplicados mediante JWT, BCrypt, HTTPS y validación de entradas.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95935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959352"/>
            <a:ext cx="54864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" y="3959352"/>
            <a:ext cx="2103120" cy="749808"/>
          </a:xfrm>
          <a:prstGeom prst="rect">
            <a:avLst/>
          </a:prstGeom>
          <a:solidFill>
            <a:srgbClr val="6A1B9A">
              <a:alpha val="12000"/>
            </a:srgbClr>
          </a:solidFill>
          <a:ln w="12700">
            <a:solidFill>
              <a:srgbClr val="6A1B9A">
                <a:alpha val="1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032504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Transformación Digital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06040" y="4050792"/>
            <a:ext cx="6080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conceptual que orienta la adopción de tecnologías digitales para mejorar la eficiencia institucional y la experiencia del usuario.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594360"/>
            <a:ext cx="202996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UI multiplataforma (Android/iOS)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95728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95728" y="594360"/>
            <a:ext cx="2029968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87168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nativo Android de alta seguridad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26280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594360"/>
            <a:ext cx="2029968" cy="5486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17720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 API REST robusta en C#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56832" y="594360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56832" y="594360"/>
            <a:ext cx="2029968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704088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48272" y="1051560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de alto rendimiento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1581912"/>
            <a:ext cx="2029968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Backend-as-a-Service sobre PostgreSQL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95728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395728" y="1581912"/>
            <a:ext cx="2029968" cy="5486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87168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487168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seguros para autenticación stateless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26280" y="1581912"/>
            <a:ext cx="2029968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17720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seguro de contraseñas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56832" y="1581912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56832" y="1581912"/>
            <a:ext cx="2029968" cy="54864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8272" y="1691640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3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48272" y="2039112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cloud para despliegue del backend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569464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2569464"/>
            <a:ext cx="2029968" cy="54864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679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30266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 y colaboración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395728" y="2569464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395728" y="2569464"/>
            <a:ext cx="2029968" cy="54864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87168" y="2679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487168" y="30266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UI/UX y prototipado visual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26280" y="2569464"/>
            <a:ext cx="202996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26280" y="2569464"/>
            <a:ext cx="2029968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17720" y="2679192"/>
            <a:ext cx="1865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617720" y="3026664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comunicación HTTP/JSON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Legales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73152" cy="9601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50392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7552" y="66751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Constitución de la RBV (1999)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87552" y="97840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102 y 110 – Derecho a la educación y reconocimiento de la ciencia y tecnología como herramientas del desarrollo nacional.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164592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1645920"/>
            <a:ext cx="73152" cy="9601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901952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171907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LOCTI – Ley Orgánica de Ciencia, Tecnología e Innovación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987552" y="202996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Impulsa la investigación aplicada y el desarrollo tecnológico en instituciones de educación superior del país.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69748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697480"/>
            <a:ext cx="73152" cy="9601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535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552" y="277063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Infogobierno (2013)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987552" y="308152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 al uso de tecnologías libres y estándares abiertos en el sector público. Regula el manejo de datos electrónicos del Estado.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74904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3749040"/>
            <a:ext cx="73152" cy="9601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0507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7552" y="3822192"/>
            <a:ext cx="7699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Ley de Universidades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87552" y="4133088"/>
            <a:ext cx="7699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el marco regulatorio de las instituciones de educación universitaria, sus competencias y obligaciones con la sociedad.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Metodológico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del Proyecto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38404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Sociotecnológico y Participativo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13258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Participativo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0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64792" y="1078992"/>
            <a:ext cx="1325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90672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9544" y="1078992"/>
            <a:ext cx="13258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9544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35424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54296" y="1078992"/>
            <a:ext cx="1325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54296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80176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9048" y="1078992"/>
            <a:ext cx="132588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9048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24928" y="1325880"/>
            <a:ext cx="118872" cy="0"/>
          </a:xfrm>
          <a:prstGeom prst="line">
            <a:avLst/>
          </a:prstGeom>
          <a:noFill/>
          <a:ln w="25400">
            <a:solidFill>
              <a:srgbClr val="0A1E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1078992"/>
            <a:ext cx="1325880" cy="5029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107899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Implantación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73736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173736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212848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012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Comunitario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60120" y="215798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directa, entrevistas con actores clave del DARE e inventario de procesos para identificar la problemática.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663440" y="173736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663440" y="173736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212848"/>
            <a:ext cx="365760" cy="36576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5303520" y="18288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Comunitaria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5303520" y="215798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Involucramiento continuo de estudiantes, docentes y personal administrativo en la validación de requerimientos y prototipo.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320040" y="315468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20040" y="315468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" y="3630168"/>
            <a:ext cx="365760" cy="36576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96012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Recolección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960120" y="35753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 participante, entrevistas semiestructuradas, análisis documental y diagnóstico participativo.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663440" y="3154680"/>
            <a:ext cx="4160520" cy="129844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663440" y="3154680"/>
            <a:ext cx="54864" cy="12984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30168"/>
            <a:ext cx="365760" cy="36576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5303520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Iterativa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5303520" y="3575304"/>
            <a:ext cx="3383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incluye ciclos de revisión con la comunidad, asegurando que el sistema responda a las necesidades reales.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Desarrollo – Modelo de Prototipos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desarrollo de UPTM Digital sigue el Modelo de Prototipos, metodología iterativa e incremental que permite construir versiones funcionales del sistema con retroalimentación continua del usuario.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502920" cy="1481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984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408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7373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requisitos con el DARE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98448"/>
            <a:ext cx="502920" cy="14813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2984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840480" y="1408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Rápido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7373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preliminar de módulos y arquitectura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29844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298448"/>
            <a:ext cx="502920" cy="14813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29844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140817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173736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en Figma, wireframes y flujos 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94436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944368"/>
            <a:ext cx="502920" cy="148132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94436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" y="30540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33832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en Flutter + API REST + PostgreSQL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294436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2944368"/>
            <a:ext cx="502920" cy="148132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94436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840480" y="30540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33832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del prototipo funcional al usuario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944368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2944368"/>
            <a:ext cx="502920" cy="14813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72200" y="2944368"/>
            <a:ext cx="502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66560" y="3054096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3383280"/>
            <a:ext cx="2057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ajustes según feedback recibido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Tecnológicos y Técnicas e Instrumentos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portátiles para desarrollo (Windows/Linux)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Android para pruebas funcionales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institucional o VPS en la nube (Render)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red universitaria (LAN / Internet)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005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 / VS Code – IDEs de desarrollo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SDK + Dart – Framework móvil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– Backend API REST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514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Supabase – Base de datos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0060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– Control de versiones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520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– Prototipado UI/UX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8503920" cy="3474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8221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E INSTRUMENTOS: Observación participante  •  Entrevistas semiestructuradas  •  Diagnóstico comunitario  •  Análisis documental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V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del Software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y Acrónimos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94360"/>
          <a:ext cx="8503920" cy="26060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Acrónimo / Término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Programming Interface – Interfaz de programación para comunicación entre </a:t>
                      </a:r>
                      <a:r>
                        <a:rPr lang="en-US" sz="1050" dirty="0" err="1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</a:t>
                      </a: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Web Token – Estándar para transmisión segura de información entre partes mediante tokens firmados.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Flutter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de Google para desarrollo de apps multiplataforma con una sola base de código.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de gestión de bases de datos relacional de código abierto y alta confiabilidad.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Response – Código de respuesta rápida utilizado para acceso y control en el campus.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Read, Update, Delete – Operaciones fundamentales sobre datos en un sistema.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del servidor que gestiona la lógica de negocio, base de datos y API REST.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de presentación con la que interactúa el usuario final (interfaz de la app).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Departamento de Admisión, Registro y Evaluación – Unidad académico-administrativa de la UPTMKR.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del Negocio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67512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658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106984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y comprender los procesos de negocio de la UPTMKR relacionados con la gestión académica, para garantizar que la solución tecnológica responda fielmente a la realidad institucional.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59436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594360"/>
            <a:ext cx="41605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66751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6583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Modelado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106984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actores, procesos, reglas y flujos de información que intervienen en la gestión del DARE, formalizando el comportamiento del sistema antes de codificar.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69748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040" y="2697480"/>
            <a:ext cx="416052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706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58952" y="27614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317296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ambigüedades en los requisitos, facilita la comunicación entre el equipo de desarrollo y los usuarios finales, y sirve como base para los diagramas UML del sistema.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697480"/>
            <a:ext cx="416052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2697480"/>
            <a:ext cx="416052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27706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02352" y="276148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Utilizadas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172968"/>
            <a:ext cx="388620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(Casos de Uso, Clases, Actividades, Secuencia, Estado), Modelo Entidad-Relación y especificación de reglas de negocio documentadas.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Actores y Modelo de Objetos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ACTORES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042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3167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notas, horarios, descarga constancias y usa QR.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700784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700784"/>
            <a:ext cx="54864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737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notas, consulta horarios y lista de estudiantes.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95728"/>
            <a:ext cx="54864" cy="60350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323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DARE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270662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completa del sistema, usuarios y reportes.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090672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090672"/>
            <a:ext cx="54864" cy="603504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272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015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códigos QR para control de acceso al campus.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85616"/>
            <a:ext cx="4160520" cy="603504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85616"/>
            <a:ext cx="54864" cy="60350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0965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operatividad del sistema y la base de datos.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OBJETOS (Entidades)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042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124358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de autenticación y perfil base del sistema.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1517904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1554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175564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Usuario con datos académicos e inscripciones.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029968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0665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226771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Extiende Usuario con asignaciones de asignaturas.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2542032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25786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00600" y="2779776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nombre, unidades de crédito y trayecto.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054096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3090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00600" y="32918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Docente–Asignatura–Aula–Día–Hora.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3566160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0600" y="36027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00600" y="380390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Evaluaciones por lapso asociadas a Estudiante y Asignatura.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4078224"/>
            <a:ext cx="4160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431596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digitales generados y firmados digitalmente.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590288"/>
            <a:ext cx="41605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462686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ControlAcceso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00600" y="482803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entradas/salidas validadas por QR.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Procesos y Reglas de Negocio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PROCESOS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74320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137160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 institucional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acceso y seguridad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trayectos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137160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control de acceso QR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y registro de notas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horarios y constancias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1783080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1371600"/>
            <a:ext cx="256032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usuarios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de la base de datos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técnico y actualización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871216"/>
            <a:ext cx="850392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871216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CLAVE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 Token de acceso con expiración configurable; renovable mediante refresh token.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3575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BCrypt: Contraseñas almacenadas con hash irreversible; nunca en texto plano.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8770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Cada actor solo accede a las funciones correspondientes a su perfil.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7880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Dinámico: Código válido por sesión/día; no reutilizable para prevenir fraudes.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Validaciones: Todos los campos son validados en frontend y backend (doble capa).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94360"/>
          <a:ext cx="8503920" cy="3968496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Requisito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Usuarios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completo de cuentas de usuario con roles diferenciados (estudiante, docente, administrador, seguridad).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Estudiantes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Registro, consulta y actualización de datos académicos e historial de inscripciones de estudiantes.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Docentes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Administración de asignaciones, horarios y carga académica del personal docente.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Horarios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Creación, visualización y modificación de horarios académicos por trayecto, sección y período.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Gestionar Constancias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y descarga de constancias digitales de estudio, notas y cursante con firma electrónica.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 QR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Generación de códigos QR dinámicos y validación para control de acceso al campus universitario.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594360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5836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" y="6583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 + BCrypt. Comunicación HTTPS cifrada. Control de roles y permisos.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59436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6583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9312" y="6583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012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&lt; 2s por petición. Manejo eficiente de concurrencia.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594360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594360"/>
            <a:ext cx="274320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6583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19672" y="658368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90488" y="1069848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modular que permite agregar nuevos módulos sin refactorización mayor.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715768"/>
            <a:ext cx="274320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277977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8952" y="27797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2976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disponible 99% del tiempo. Modo offline con caché local para datos críticos.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00400" y="2715768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77977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39312" y="27797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1012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 (API 26). Diseñado con Flutter para futura extensión a iOS.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80760" y="2715768"/>
            <a:ext cx="2743200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080760" y="2715768"/>
            <a:ext cx="2743200" cy="4114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277977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19672" y="27797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190488" y="3191256"/>
            <a:ext cx="2542032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intuitiva con diseño Material 3. Accesible para usuarios con poca experiencia.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594360"/>
            <a:ext cx="182880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955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7955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67712" y="685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Actores: Estudiante, Docente, Admin, Seguridad. Casos: Login, Consultar Notas, Generar Constancia, Validar QR, Gestionar Usuarios.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0040" y="146304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" y="1463040"/>
            <a:ext cx="1828800" cy="7772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642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1664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267712" y="15544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Entidades: Usuario, Estudiante, Docente, Asignatura, Horario, Nota, Constancia, ControlAcceso. Relaciones: herencia, composición, asociación.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20040" y="233172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0040" y="2331720"/>
            <a:ext cx="1828800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5328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2532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Actividades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267712" y="24231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de: autenticación, generación de constancia, registro de notas y validación QR. Incluye decisiones y flujos alternativos.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20040" y="320040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20040" y="3200400"/>
            <a:ext cx="1828800" cy="7772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0156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34015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Secuencia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2267712" y="3291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entre: App Flutter → API REST → BD PostgreSQL. Muestra request/response para cada caso de uso principal.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20040" y="4069080"/>
            <a:ext cx="1828800" cy="77724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7024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42702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Estado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2267712" y="4160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de: Sesión de usuario (activo/inactivo/expirado), Constancia (borrador/generada/descargada) y QR (generado/validado/expirado).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UML del Sistema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955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79552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642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1248" y="1664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5328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248" y="25328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Actividades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40156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1248" y="340156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Secuencia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270248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42702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de Estado</a:t>
            </a:r>
            <a:endParaRPr lang="en-US" sz="11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B8EC9FAD-7BEA-5EDB-8744-11020BCE98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6" y="793632"/>
            <a:ext cx="3029975" cy="3816427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D81EC62A-1307-8C1A-CC16-259686F853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65640" y="865302"/>
            <a:ext cx="2962913" cy="369449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B95D59A-3AF1-4F90-650E-8175D334592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8991" y="899852"/>
            <a:ext cx="3279783" cy="357120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681B677-AED3-76C0-125C-BFBC90A921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1" y="2398649"/>
            <a:ext cx="404812" cy="44001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3C264A-898B-A234-21DD-67CAF643D1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73967" y="2434822"/>
            <a:ext cx="369217" cy="44001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7B4E866-853B-FDA5-F61C-FA88FE82444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06974" y="2398649"/>
            <a:ext cx="355739" cy="38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338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743200" cy="2743200"/>
          </a:xfrm>
          <a:prstGeom prst="ellipse">
            <a:avLst/>
          </a:prstGeom>
          <a:solidFill>
            <a:srgbClr val="00BCD4">
              <a:alpha val="20000"/>
            </a:srgbClr>
          </a:solidFill>
          <a:ln w="12700">
            <a:solidFill>
              <a:srgbClr val="00BCD4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Sistema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Base de Datos e Interfaz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3152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 – Vista General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implementa una arquitectura cliente-servidor de tres capas con comunicación segura mediante HTTPS y autenticación stateless por JWT.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170432"/>
            <a:ext cx="283464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(Android/iOS)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Material 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local (Hive)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offline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QR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154680" y="2953512"/>
            <a:ext cx="13716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170432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91840" y="1170432"/>
            <a:ext cx="283464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61872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88620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(C#)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342900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RESTful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JWT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datos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126480" y="2953512"/>
            <a:ext cx="137160" cy="0"/>
          </a:xfrm>
          <a:prstGeom prst="line">
            <a:avLst/>
          </a:prstGeom>
          <a:noFill/>
          <a:ln w="31750">
            <a:solidFill>
              <a:srgbClr val="00BCD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63640" y="1170432"/>
            <a:ext cx="2834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1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63640" y="1170432"/>
            <a:ext cx="2834640" cy="65836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61872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58000" y="1207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858000" y="14813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Supabase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400800" y="1901952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relacionales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y académico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segura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automáticos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Lógica y Física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LÓGICA (Capas)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6052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60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 – Pantallas, widgets, navegación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1755648"/>
            <a:ext cx="0" cy="164592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20240"/>
            <a:ext cx="4160520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9751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22677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 – Repositorios – DTOs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40280" y="2670048"/>
            <a:ext cx="0" cy="164592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834640"/>
            <a:ext cx="4160520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895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– Controladores – Servicios – JWT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3584448"/>
            <a:ext cx="0" cy="164592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749040"/>
            <a:ext cx="4160520" cy="74980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803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09651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– ORM Entity Framework – Supabase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FÍSICA (Nodos)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10058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170432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303520" y="10607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Móvil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303520" y="1371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Android con Flutter app instalada.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663440" y="19202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084832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03520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(HTTPS)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303520" y="22860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comunicación cifrado TLS/SSL.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663440" y="28346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999232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303520" y="28895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Cloud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5303520" y="3200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en Render con ASP.NET Core desplegado.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4663440" y="37490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3913632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303520" y="38039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303520" y="4114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 en infraestructura cloud.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Base de Datos e Interfaz Gráfica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– Modelo Entidad-Relación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24128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987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principales: Usuarios, Estudiantes, Docentes, Asignaturas, Horarios, Notas, Constancias, ControlAcceso.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153619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1:N (Docente–Asignatura), N:M (Estudiante–Asignatura), 1:1 (Usuario–Perfil).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0848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referencial garantizada mediante claves foráneas y constraints.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6334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como clave primaria para mayor seguridad y escalabilidad distribuida.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318211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en PostgreSQL (Supabase) con respaldo automático y cifrado en reposo.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– UI/UX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24128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73168" y="9875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Material 3 – Guía oficial de Flutter para interfaces modernas y consistentes.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773168" y="153619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institucional UPTMKR: azul institucional, blanco y acentos celestes.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73168" y="20848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Navegación: Bottom Navigation Bar con acceso rápido a módulos principales.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73168" y="26334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Prototipado inicial en Figma con validación participativa de la comunidad.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73168" y="318211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Accesibilidad: contraste AA, etiquetas semánticas y soporte para lectores de pantalla.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Navegación de la Aplicación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474720" y="594360"/>
            <a:ext cx="219456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594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AUTENTICACIÓN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0" cy="365760"/>
          </a:xfrm>
          <a:prstGeom prst="line">
            <a:avLst/>
          </a:prstGeom>
          <a:noFill/>
          <a:ln w="25400">
            <a:solidFill>
              <a:srgbClr val="00B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PRINCIPAL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78992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23160"/>
            <a:ext cx="16002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78992" y="3017520"/>
            <a:ext cx="0" cy="320040"/>
          </a:xfrm>
          <a:prstGeom prst="line">
            <a:avLst/>
          </a:prstGeom>
          <a:noFill/>
          <a:ln w="1905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0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38528" y="2423160"/>
            <a:ext cx="1600200" cy="5943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3017520"/>
            <a:ext cx="0" cy="320040"/>
          </a:xfrm>
          <a:prstGeom prst="line">
            <a:avLst/>
          </a:prstGeom>
          <a:noFill/>
          <a:ln w="19050">
            <a:solidFill>
              <a:srgbClr val="0097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38528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38528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407408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02736" y="2423160"/>
            <a:ext cx="1600200" cy="5943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07408" y="3017520"/>
            <a:ext cx="0" cy="320040"/>
          </a:xfrm>
          <a:prstGeom prst="line">
            <a:avLst/>
          </a:prstGeom>
          <a:noFill/>
          <a:ln w="19050">
            <a:solidFill>
              <a:srgbClr val="6A1B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02736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71616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66944" y="2423160"/>
            <a:ext cx="1600200" cy="59436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66944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QR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3017520"/>
            <a:ext cx="0" cy="320040"/>
          </a:xfrm>
          <a:prstGeom prst="line">
            <a:avLst/>
          </a:prstGeom>
          <a:noFill/>
          <a:ln w="19050">
            <a:solidFill>
              <a:srgbClr val="F57F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66944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6944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735824" y="1965960"/>
            <a:ext cx="0" cy="45720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31152" y="2423160"/>
            <a:ext cx="16002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4231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735824" y="3017520"/>
            <a:ext cx="0" cy="320040"/>
          </a:xfrm>
          <a:prstGeom prst="line">
            <a:avLst/>
          </a:prstGeom>
          <a:noFill/>
          <a:ln w="19050">
            <a:solidFill>
              <a:srgbClr val="C628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1152" y="3337560"/>
            <a:ext cx="1600200" cy="502920"/>
          </a:xfrm>
          <a:prstGeom prst="rect">
            <a:avLst/>
          </a:prstGeom>
          <a:solidFill>
            <a:srgbClr val="F0F4F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3337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Sub-pantalla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módulo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20040" y="391363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Navegación con Bottom Navigation Bar  |  ← → Transiciones con animaciones suaves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e Implantación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496519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 |  Trayecto III – Ingeniería en Sistemas  |  UPTMKR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005840"/>
            <a:ext cx="54864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0607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13533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cada RF documentado mediante casos de prueba específicos.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9202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20240"/>
            <a:ext cx="54864" cy="7498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22677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Intentos de acceso no autorizado, inyección SQL, tokens expirados.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834640"/>
            <a:ext cx="54864" cy="749808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89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" y="31821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simultánea, tiempo de respuesta de la API, estrés del servidor.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7490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49040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Compatibilidad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4096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Android 8.0+ de diferentes fabricantes y resoluciones.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594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IMPLANTACIÓN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0058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005840"/>
            <a:ext cx="54864" cy="7498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10607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del Backend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28032" y="13533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de la API REST en Render con dominio seguro HTTPS.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9202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920240"/>
            <a:ext cx="54864" cy="749808"/>
          </a:xfrm>
          <a:prstGeom prst="rect">
            <a:avLst/>
          </a:prstGeom>
          <a:solidFill>
            <a:srgbClr val="0A1E3D"/>
          </a:solidFill>
          <a:ln w="12700">
            <a:solidFill>
              <a:srgbClr val="0A1E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19751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BD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28032" y="22677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y configuración de Supabase/PostgreSQL en producción.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834640"/>
            <a:ext cx="54864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8895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la App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28032" y="31821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firmado distribuido vía enlace institucional o Google Play.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41605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ECEFF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749040"/>
            <a:ext cx="54864" cy="7498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80390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4828032" y="4096512"/>
            <a:ext cx="3858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para administradores del DARE, docentes y personal de seguridad.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5486400" cy="5486400"/>
          </a:xfrm>
          <a:prstGeom prst="ellipse">
            <a:avLst/>
          </a:prstGeom>
          <a:solidFill>
            <a:srgbClr val="1565C0">
              <a:alpha val="28000"/>
            </a:srgbClr>
          </a:solidFill>
          <a:ln w="12700">
            <a:solidFill>
              <a:srgbClr val="1565C0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926080"/>
            <a:ext cx="2560320" cy="2560320"/>
          </a:xfrm>
          <a:prstGeom prst="ellipse">
            <a:avLst/>
          </a:prstGeom>
          <a:solidFill>
            <a:srgbClr val="00BCD4">
              <a:alpha val="22000"/>
            </a:srgbClr>
          </a:solidFill>
          <a:ln w="12700">
            <a:solidFill>
              <a:srgbClr val="00BCD4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47472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0" y="960120"/>
            <a:ext cx="64008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155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su atención!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UPTM Digital – Gestión Académica Móvil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2487168"/>
            <a:ext cx="6400800" cy="4572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606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Ángel Peña</a:t>
            </a: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C.I. 24.349.651   |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Rubén Ramírez</a:t>
            </a: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C.I. 16.020.185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9718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Académico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 Prof. Rafael Pérez | Tutor </a:t>
            </a:r>
            <a:r>
              <a:rPr lang="en-US" sz="1100" dirty="0" err="1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Comunitario</a:t>
            </a: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Prof. Yermain Rojas  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553712"/>
            <a:ext cx="9144000" cy="57607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553712"/>
            <a:ext cx="9144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Politécnica Territorial del Estado Mérida "Kléber Ramírez"  |  UPTMKR  |  Ejido, Estado Mérida  |  Mayo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3998</Words>
  <Application>Microsoft Office PowerPoint</Application>
  <PresentationFormat>Presentación en pantalla (16:9)</PresentationFormat>
  <Paragraphs>588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UPTM Digital – Gestión Académica Móvil</dc:title>
  <dc:subject>PptxGenJS Presentation</dc:subject>
  <dc:creator>Ángel Peña / Rubén Ramírez</dc:creator>
  <cp:lastModifiedBy>Angel Peña</cp:lastModifiedBy>
  <cp:revision>4</cp:revision>
  <dcterms:created xsi:type="dcterms:W3CDTF">2026-05-07T05:51:31Z</dcterms:created>
  <dcterms:modified xsi:type="dcterms:W3CDTF">2026-05-12T00:17:50Z</dcterms:modified>
</cp:coreProperties>
</file>